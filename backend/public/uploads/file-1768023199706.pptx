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2" r:id="rId4"/>
    <p:sldId id="273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69" r:id="rId15"/>
    <p:sldId id="270" r:id="rId16"/>
    <p:sldId id="271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A02C80-2211-4D09-BBB6-4E5B7FD03337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5A9E6D5-5A34-4EF6-B9C1-F6730C4C3C59}">
      <dgm:prSet/>
      <dgm:spPr/>
      <dgm:t>
        <a:bodyPr/>
        <a:lstStyle/>
        <a:p>
          <a:r>
            <a:rPr lang="en-US"/>
            <a:t>Course teacher:</a:t>
          </a:r>
        </a:p>
        <a:p>
          <a:r>
            <a:rPr lang="en-US"/>
            <a:t>Mubasshar-Ul-Ishraq Tamim</a:t>
          </a:r>
        </a:p>
        <a:p>
          <a:r>
            <a:rPr lang="en-US"/>
            <a:t>Lecturer, Department of CSE.</a:t>
          </a:r>
        </a:p>
      </dgm:t>
    </dgm:pt>
    <dgm:pt modelId="{1F1A5671-7E72-4CCE-A03E-5A2C2487E018}" type="parTrans" cxnId="{295A1917-8E5A-43DD-8520-CF01B94425B5}">
      <dgm:prSet/>
      <dgm:spPr/>
      <dgm:t>
        <a:bodyPr/>
        <a:lstStyle/>
        <a:p>
          <a:endParaRPr lang="en-US"/>
        </a:p>
      </dgm:t>
    </dgm:pt>
    <dgm:pt modelId="{785AE8EF-E2D1-47E7-B318-A7B688A44D07}" type="sibTrans" cxnId="{295A1917-8E5A-43DD-8520-CF01B94425B5}">
      <dgm:prSet phldrT="01"/>
      <dgm:spPr/>
      <dgm:t>
        <a:bodyPr/>
        <a:lstStyle/>
        <a:p>
          <a:r>
            <a:rPr lang="en-US" dirty="0"/>
            <a:t>Mid-Term</a:t>
          </a:r>
        </a:p>
      </dgm:t>
    </dgm:pt>
    <dgm:pt modelId="{A935443F-4371-402C-9046-695D9F4F8CD2}" type="pres">
      <dgm:prSet presAssocID="{DEA02C80-2211-4D09-BBB6-4E5B7FD03337}" presName="Name0" presStyleCnt="0">
        <dgm:presLayoutVars>
          <dgm:animLvl val="lvl"/>
          <dgm:resizeHandles val="exact"/>
        </dgm:presLayoutVars>
      </dgm:prSet>
      <dgm:spPr/>
    </dgm:pt>
    <dgm:pt modelId="{E614438C-9DA7-44BD-972A-8E00F13D0BB1}" type="pres">
      <dgm:prSet presAssocID="{25A9E6D5-5A34-4EF6-B9C1-F6730C4C3C59}" presName="compositeNode" presStyleCnt="0">
        <dgm:presLayoutVars>
          <dgm:bulletEnabled val="1"/>
        </dgm:presLayoutVars>
      </dgm:prSet>
      <dgm:spPr/>
    </dgm:pt>
    <dgm:pt modelId="{CC5025B0-4CEC-4C41-9AD3-6F93C62F119D}" type="pres">
      <dgm:prSet presAssocID="{25A9E6D5-5A34-4EF6-B9C1-F6730C4C3C59}" presName="bgRect" presStyleLbl="alignNode1" presStyleIdx="0" presStyleCnt="1"/>
      <dgm:spPr/>
    </dgm:pt>
    <dgm:pt modelId="{FC9E7094-76E2-4658-B7A8-17635EB07056}" type="pres">
      <dgm:prSet presAssocID="{785AE8EF-E2D1-47E7-B318-A7B688A44D07}" presName="sibTransNodeRect" presStyleLbl="alignNode1" presStyleIdx="0" presStyleCnt="1">
        <dgm:presLayoutVars>
          <dgm:chMax val="0"/>
          <dgm:bulletEnabled val="1"/>
        </dgm:presLayoutVars>
      </dgm:prSet>
      <dgm:spPr/>
    </dgm:pt>
    <dgm:pt modelId="{86FDD128-31B2-4D1A-9122-DED6D678C9E6}" type="pres">
      <dgm:prSet presAssocID="{25A9E6D5-5A34-4EF6-B9C1-F6730C4C3C59}" presName="nodeRect" presStyleLbl="alignNode1" presStyleIdx="0" presStyleCnt="1">
        <dgm:presLayoutVars>
          <dgm:bulletEnabled val="1"/>
        </dgm:presLayoutVars>
      </dgm:prSet>
      <dgm:spPr/>
    </dgm:pt>
  </dgm:ptLst>
  <dgm:cxnLst>
    <dgm:cxn modelId="{295A1917-8E5A-43DD-8520-CF01B94425B5}" srcId="{DEA02C80-2211-4D09-BBB6-4E5B7FD03337}" destId="{25A9E6D5-5A34-4EF6-B9C1-F6730C4C3C59}" srcOrd="0" destOrd="0" parTransId="{1F1A5671-7E72-4CCE-A03E-5A2C2487E018}" sibTransId="{785AE8EF-E2D1-47E7-B318-A7B688A44D07}"/>
    <dgm:cxn modelId="{8A3AD747-EDBC-448C-9DF9-30BB92635A95}" type="presOf" srcId="{DEA02C80-2211-4D09-BBB6-4E5B7FD03337}" destId="{A935443F-4371-402C-9046-695D9F4F8CD2}" srcOrd="0" destOrd="0" presId="urn:microsoft.com/office/officeart/2016/7/layout/LinearBlockProcessNumbered"/>
    <dgm:cxn modelId="{99E8AD71-5DCB-464F-B256-2D85B9DC4EF3}" type="presOf" srcId="{25A9E6D5-5A34-4EF6-B9C1-F6730C4C3C59}" destId="{CC5025B0-4CEC-4C41-9AD3-6F93C62F119D}" srcOrd="0" destOrd="0" presId="urn:microsoft.com/office/officeart/2016/7/layout/LinearBlockProcessNumbered"/>
    <dgm:cxn modelId="{EBDA5680-87DC-4E48-BD4F-0B45B5ADDDBB}" type="presOf" srcId="{785AE8EF-E2D1-47E7-B318-A7B688A44D07}" destId="{FC9E7094-76E2-4658-B7A8-17635EB07056}" srcOrd="0" destOrd="0" presId="urn:microsoft.com/office/officeart/2016/7/layout/LinearBlockProcessNumbered"/>
    <dgm:cxn modelId="{6D2372B1-32E4-4202-97DC-F27BB35DD818}" type="presOf" srcId="{25A9E6D5-5A34-4EF6-B9C1-F6730C4C3C59}" destId="{86FDD128-31B2-4D1A-9122-DED6D678C9E6}" srcOrd="1" destOrd="0" presId="urn:microsoft.com/office/officeart/2016/7/layout/LinearBlockProcessNumbered"/>
    <dgm:cxn modelId="{0B44FF2C-C7D8-4C1A-B776-032BFFC3FBE5}" type="presParOf" srcId="{A935443F-4371-402C-9046-695D9F4F8CD2}" destId="{E614438C-9DA7-44BD-972A-8E00F13D0BB1}" srcOrd="0" destOrd="0" presId="urn:microsoft.com/office/officeart/2016/7/layout/LinearBlockProcessNumbered"/>
    <dgm:cxn modelId="{352F200A-F4EE-43D5-B3F3-206791DDDE96}" type="presParOf" srcId="{E614438C-9DA7-44BD-972A-8E00F13D0BB1}" destId="{CC5025B0-4CEC-4C41-9AD3-6F93C62F119D}" srcOrd="0" destOrd="0" presId="urn:microsoft.com/office/officeart/2016/7/layout/LinearBlockProcessNumbered"/>
    <dgm:cxn modelId="{0C9B4768-A559-45DE-B66D-A84BF4835072}" type="presParOf" srcId="{E614438C-9DA7-44BD-972A-8E00F13D0BB1}" destId="{FC9E7094-76E2-4658-B7A8-17635EB07056}" srcOrd="1" destOrd="0" presId="urn:microsoft.com/office/officeart/2016/7/layout/LinearBlockProcessNumbered"/>
    <dgm:cxn modelId="{89BD91C1-2D60-4D42-A8EB-0CCD516D3DAB}" type="presParOf" srcId="{E614438C-9DA7-44BD-972A-8E00F13D0BB1}" destId="{86FDD128-31B2-4D1A-9122-DED6D678C9E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126AB2-6C10-4F31-9FB6-2CA534FC79A8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45320A-6258-4B53-8B0B-FF73191DD9DE}">
      <dgm:prSet/>
      <dgm:spPr/>
      <dgm:t>
        <a:bodyPr/>
        <a:lstStyle/>
        <a:p>
          <a:r>
            <a:rPr lang="en-US"/>
            <a:t>Mobility = how easily electrons/holes move through the channel.</a:t>
          </a:r>
          <a:br>
            <a:rPr lang="en-US"/>
          </a:br>
          <a:r>
            <a:rPr lang="en-US"/>
            <a:t>In short-channel MOSFETs, strong electric fields are present in the channel near the gate.</a:t>
          </a:r>
          <a:br>
            <a:rPr lang="en-US"/>
          </a:br>
          <a:r>
            <a:rPr lang="en-US"/>
            <a:t>These high fields scatter carriers (electrons/holes), making them move slower.</a:t>
          </a:r>
        </a:p>
      </dgm:t>
    </dgm:pt>
    <dgm:pt modelId="{0ABFD1DA-E9C3-4E78-B91F-70EF8FF20C12}" type="parTrans" cxnId="{E1A2745B-2A21-40BF-98B4-C46C00E6B991}">
      <dgm:prSet/>
      <dgm:spPr/>
      <dgm:t>
        <a:bodyPr/>
        <a:lstStyle/>
        <a:p>
          <a:endParaRPr lang="en-US"/>
        </a:p>
      </dgm:t>
    </dgm:pt>
    <dgm:pt modelId="{7EFB7655-C366-4AE1-937D-52FC43959476}" type="sibTrans" cxnId="{E1A2745B-2A21-40BF-98B4-C46C00E6B991}">
      <dgm:prSet/>
      <dgm:spPr/>
      <dgm:t>
        <a:bodyPr/>
        <a:lstStyle/>
        <a:p>
          <a:endParaRPr lang="en-US"/>
        </a:p>
      </dgm:t>
    </dgm:pt>
    <dgm:pt modelId="{5A1D62F2-1402-4ADF-9F25-AF7B89F4EAC5}">
      <dgm:prSet/>
      <dgm:spPr/>
      <dgm:t>
        <a:bodyPr/>
        <a:lstStyle/>
        <a:p>
          <a:r>
            <a:rPr lang="en-US" b="1"/>
            <a:t>Effect:</a:t>
          </a:r>
          <a:endParaRPr lang="en-US"/>
        </a:p>
      </dgm:t>
    </dgm:pt>
    <dgm:pt modelId="{6166F824-57DC-46B9-81A1-8935F88117D4}" type="parTrans" cxnId="{2A59B5EE-C0D1-48EF-8D29-07E697C8FA3E}">
      <dgm:prSet/>
      <dgm:spPr/>
      <dgm:t>
        <a:bodyPr/>
        <a:lstStyle/>
        <a:p>
          <a:endParaRPr lang="en-US"/>
        </a:p>
      </dgm:t>
    </dgm:pt>
    <dgm:pt modelId="{B557E61F-1AEC-4AC0-A504-05E6E2090225}" type="sibTrans" cxnId="{2A59B5EE-C0D1-48EF-8D29-07E697C8FA3E}">
      <dgm:prSet/>
      <dgm:spPr/>
      <dgm:t>
        <a:bodyPr/>
        <a:lstStyle/>
        <a:p>
          <a:endParaRPr lang="en-US"/>
        </a:p>
      </dgm:t>
    </dgm:pt>
    <dgm:pt modelId="{49108047-4DCB-4C5A-A36D-405C3A6EC99C}">
      <dgm:prSet/>
      <dgm:spPr/>
      <dgm:t>
        <a:bodyPr/>
        <a:lstStyle/>
        <a:p>
          <a:r>
            <a:rPr lang="en-US"/>
            <a:t>Reduces drain current.</a:t>
          </a:r>
        </a:p>
      </dgm:t>
    </dgm:pt>
    <dgm:pt modelId="{6B8247DD-3D4A-4C2B-97A0-FD71DE9A9C8F}" type="parTrans" cxnId="{701AA7BF-3F22-4D1D-BBA5-7483D0F153EA}">
      <dgm:prSet/>
      <dgm:spPr/>
      <dgm:t>
        <a:bodyPr/>
        <a:lstStyle/>
        <a:p>
          <a:endParaRPr lang="en-US"/>
        </a:p>
      </dgm:t>
    </dgm:pt>
    <dgm:pt modelId="{F692919D-FA3B-4EDB-9168-EC6248B75E0D}" type="sibTrans" cxnId="{701AA7BF-3F22-4D1D-BBA5-7483D0F153EA}">
      <dgm:prSet/>
      <dgm:spPr/>
      <dgm:t>
        <a:bodyPr/>
        <a:lstStyle/>
        <a:p>
          <a:endParaRPr lang="en-US"/>
        </a:p>
      </dgm:t>
    </dgm:pt>
    <dgm:pt modelId="{041554A9-91E5-4E53-8DDC-771D069C2201}">
      <dgm:prSet/>
      <dgm:spPr/>
      <dgm:t>
        <a:bodyPr/>
        <a:lstStyle/>
        <a:p>
          <a:r>
            <a:rPr lang="en-US"/>
            <a:t>Lowers the speed of the transistor.</a:t>
          </a:r>
        </a:p>
      </dgm:t>
    </dgm:pt>
    <dgm:pt modelId="{B0444248-0224-4046-99C6-E6812C47F0F5}" type="parTrans" cxnId="{AB26C1FA-72F4-44B2-ADAD-35FB5172B583}">
      <dgm:prSet/>
      <dgm:spPr/>
      <dgm:t>
        <a:bodyPr/>
        <a:lstStyle/>
        <a:p>
          <a:endParaRPr lang="en-US"/>
        </a:p>
      </dgm:t>
    </dgm:pt>
    <dgm:pt modelId="{D9CEF83D-A851-43B6-A01A-4E6C34DD1763}" type="sibTrans" cxnId="{AB26C1FA-72F4-44B2-ADAD-35FB5172B583}">
      <dgm:prSet/>
      <dgm:spPr/>
      <dgm:t>
        <a:bodyPr/>
        <a:lstStyle/>
        <a:p>
          <a:endParaRPr lang="en-US"/>
        </a:p>
      </dgm:t>
    </dgm:pt>
    <dgm:pt modelId="{F96E5871-EC46-49C0-A7C4-779F6A9D46C4}">
      <dgm:prSet/>
      <dgm:spPr/>
      <dgm:t>
        <a:bodyPr/>
        <a:lstStyle/>
        <a:p>
          <a:r>
            <a:rPr lang="en-US" b="1"/>
            <a:t>Analogy:</a:t>
          </a:r>
          <a:br>
            <a:rPr lang="en-US"/>
          </a:br>
          <a:r>
            <a:rPr lang="en-US"/>
            <a:t>Imagine trying to run through a crowded street → you move slower because of frequent collisions.</a:t>
          </a:r>
        </a:p>
      </dgm:t>
    </dgm:pt>
    <dgm:pt modelId="{AECC3521-AB32-4F25-94B3-1B786AF0AC6E}" type="parTrans" cxnId="{614CA8F5-3190-408D-BAD3-90C91961419A}">
      <dgm:prSet/>
      <dgm:spPr/>
      <dgm:t>
        <a:bodyPr/>
        <a:lstStyle/>
        <a:p>
          <a:endParaRPr lang="en-US"/>
        </a:p>
      </dgm:t>
    </dgm:pt>
    <dgm:pt modelId="{B3266ECB-24DD-4EF3-8784-8B96E8DBE8BA}" type="sibTrans" cxnId="{614CA8F5-3190-408D-BAD3-90C91961419A}">
      <dgm:prSet/>
      <dgm:spPr/>
      <dgm:t>
        <a:bodyPr/>
        <a:lstStyle/>
        <a:p>
          <a:endParaRPr lang="en-US"/>
        </a:p>
      </dgm:t>
    </dgm:pt>
    <dgm:pt modelId="{064E57BF-0093-4384-A924-C87CC955BA58}" type="pres">
      <dgm:prSet presAssocID="{91126AB2-6C10-4F31-9FB6-2CA534FC79A8}" presName="Name0" presStyleCnt="0">
        <dgm:presLayoutVars>
          <dgm:dir/>
          <dgm:animLvl val="lvl"/>
          <dgm:resizeHandles val="exact"/>
        </dgm:presLayoutVars>
      </dgm:prSet>
      <dgm:spPr/>
    </dgm:pt>
    <dgm:pt modelId="{5D0824D0-E03C-4A87-8B80-7C8503FEA779}" type="pres">
      <dgm:prSet presAssocID="{F96E5871-EC46-49C0-A7C4-779F6A9D46C4}" presName="boxAndChildren" presStyleCnt="0"/>
      <dgm:spPr/>
    </dgm:pt>
    <dgm:pt modelId="{CA6C75A8-02E9-4A53-A0B1-1F6CE779FAF9}" type="pres">
      <dgm:prSet presAssocID="{F96E5871-EC46-49C0-A7C4-779F6A9D46C4}" presName="parentTextBox" presStyleLbl="node1" presStyleIdx="0" presStyleCnt="3"/>
      <dgm:spPr/>
    </dgm:pt>
    <dgm:pt modelId="{B8AE1B6B-5CF1-49DF-8E73-705680B48690}" type="pres">
      <dgm:prSet presAssocID="{B557E61F-1AEC-4AC0-A504-05E6E2090225}" presName="sp" presStyleCnt="0"/>
      <dgm:spPr/>
    </dgm:pt>
    <dgm:pt modelId="{CBAF2214-8487-4BE6-BA05-B1331A1D2BC2}" type="pres">
      <dgm:prSet presAssocID="{5A1D62F2-1402-4ADF-9F25-AF7B89F4EAC5}" presName="arrowAndChildren" presStyleCnt="0"/>
      <dgm:spPr/>
    </dgm:pt>
    <dgm:pt modelId="{703A8A1D-B8BB-473A-8ACB-C93F77AE5A12}" type="pres">
      <dgm:prSet presAssocID="{5A1D62F2-1402-4ADF-9F25-AF7B89F4EAC5}" presName="parentTextArrow" presStyleLbl="node1" presStyleIdx="0" presStyleCnt="3"/>
      <dgm:spPr/>
    </dgm:pt>
    <dgm:pt modelId="{5CE909D4-FAA0-4AFA-AD15-1705952CACB5}" type="pres">
      <dgm:prSet presAssocID="{5A1D62F2-1402-4ADF-9F25-AF7B89F4EAC5}" presName="arrow" presStyleLbl="node1" presStyleIdx="1" presStyleCnt="3"/>
      <dgm:spPr/>
    </dgm:pt>
    <dgm:pt modelId="{59762398-E76B-43D0-ABFD-7F3F147AE1B9}" type="pres">
      <dgm:prSet presAssocID="{5A1D62F2-1402-4ADF-9F25-AF7B89F4EAC5}" presName="descendantArrow" presStyleCnt="0"/>
      <dgm:spPr/>
    </dgm:pt>
    <dgm:pt modelId="{9BF8CCBE-19E5-42A2-84B7-38092DFCD63A}" type="pres">
      <dgm:prSet presAssocID="{49108047-4DCB-4C5A-A36D-405C3A6EC99C}" presName="childTextArrow" presStyleLbl="fgAccFollowNode1" presStyleIdx="0" presStyleCnt="2">
        <dgm:presLayoutVars>
          <dgm:bulletEnabled val="1"/>
        </dgm:presLayoutVars>
      </dgm:prSet>
      <dgm:spPr/>
    </dgm:pt>
    <dgm:pt modelId="{14A17201-2D4A-4904-9A88-F2F93C711EF3}" type="pres">
      <dgm:prSet presAssocID="{041554A9-91E5-4E53-8DDC-771D069C2201}" presName="childTextArrow" presStyleLbl="fgAccFollowNode1" presStyleIdx="1" presStyleCnt="2">
        <dgm:presLayoutVars>
          <dgm:bulletEnabled val="1"/>
        </dgm:presLayoutVars>
      </dgm:prSet>
      <dgm:spPr/>
    </dgm:pt>
    <dgm:pt modelId="{8FEB26FA-8DA1-4542-A9FA-05B40D82C9E5}" type="pres">
      <dgm:prSet presAssocID="{7EFB7655-C366-4AE1-937D-52FC43959476}" presName="sp" presStyleCnt="0"/>
      <dgm:spPr/>
    </dgm:pt>
    <dgm:pt modelId="{65DE7507-1B7A-42FC-9305-C2C535283580}" type="pres">
      <dgm:prSet presAssocID="{6745320A-6258-4B53-8B0B-FF73191DD9DE}" presName="arrowAndChildren" presStyleCnt="0"/>
      <dgm:spPr/>
    </dgm:pt>
    <dgm:pt modelId="{1A0E763B-8760-4905-9CF9-977F03F4528A}" type="pres">
      <dgm:prSet presAssocID="{6745320A-6258-4B53-8B0B-FF73191DD9DE}" presName="parentTextArrow" presStyleLbl="node1" presStyleIdx="2" presStyleCnt="3"/>
      <dgm:spPr/>
    </dgm:pt>
  </dgm:ptLst>
  <dgm:cxnLst>
    <dgm:cxn modelId="{D29ACE0A-1880-49BD-AC93-8DEE70DEECA4}" type="presOf" srcId="{91126AB2-6C10-4F31-9FB6-2CA534FC79A8}" destId="{064E57BF-0093-4384-A924-C87CC955BA58}" srcOrd="0" destOrd="0" presId="urn:microsoft.com/office/officeart/2005/8/layout/process4"/>
    <dgm:cxn modelId="{E43AE130-B971-4D54-B4D7-4EA1F335D118}" type="presOf" srcId="{5A1D62F2-1402-4ADF-9F25-AF7B89F4EAC5}" destId="{5CE909D4-FAA0-4AFA-AD15-1705952CACB5}" srcOrd="1" destOrd="0" presId="urn:microsoft.com/office/officeart/2005/8/layout/process4"/>
    <dgm:cxn modelId="{677E943B-3E76-4D7A-AD8D-5E1FBEE44D0D}" type="presOf" srcId="{49108047-4DCB-4C5A-A36D-405C3A6EC99C}" destId="{9BF8CCBE-19E5-42A2-84B7-38092DFCD63A}" srcOrd="0" destOrd="0" presId="urn:microsoft.com/office/officeart/2005/8/layout/process4"/>
    <dgm:cxn modelId="{E1A2745B-2A21-40BF-98B4-C46C00E6B991}" srcId="{91126AB2-6C10-4F31-9FB6-2CA534FC79A8}" destId="{6745320A-6258-4B53-8B0B-FF73191DD9DE}" srcOrd="0" destOrd="0" parTransId="{0ABFD1DA-E9C3-4E78-B91F-70EF8FF20C12}" sibTransId="{7EFB7655-C366-4AE1-937D-52FC43959476}"/>
    <dgm:cxn modelId="{17406056-51BC-4E8B-822E-3C01A8278291}" type="presOf" srcId="{6745320A-6258-4B53-8B0B-FF73191DD9DE}" destId="{1A0E763B-8760-4905-9CF9-977F03F4528A}" srcOrd="0" destOrd="0" presId="urn:microsoft.com/office/officeart/2005/8/layout/process4"/>
    <dgm:cxn modelId="{0A78A97C-0C7C-4362-963A-7F7C5096A6BC}" type="presOf" srcId="{F96E5871-EC46-49C0-A7C4-779F6A9D46C4}" destId="{CA6C75A8-02E9-4A53-A0B1-1F6CE779FAF9}" srcOrd="0" destOrd="0" presId="urn:microsoft.com/office/officeart/2005/8/layout/process4"/>
    <dgm:cxn modelId="{3E7F86AE-5CF0-4240-A253-8C776B0985DE}" type="presOf" srcId="{041554A9-91E5-4E53-8DDC-771D069C2201}" destId="{14A17201-2D4A-4904-9A88-F2F93C711EF3}" srcOrd="0" destOrd="0" presId="urn:microsoft.com/office/officeart/2005/8/layout/process4"/>
    <dgm:cxn modelId="{701AA7BF-3F22-4D1D-BBA5-7483D0F153EA}" srcId="{5A1D62F2-1402-4ADF-9F25-AF7B89F4EAC5}" destId="{49108047-4DCB-4C5A-A36D-405C3A6EC99C}" srcOrd="0" destOrd="0" parTransId="{6B8247DD-3D4A-4C2B-97A0-FD71DE9A9C8F}" sibTransId="{F692919D-FA3B-4EDB-9168-EC6248B75E0D}"/>
    <dgm:cxn modelId="{7FFBC3E8-4F52-458E-8E6E-041F667B68FE}" type="presOf" srcId="{5A1D62F2-1402-4ADF-9F25-AF7B89F4EAC5}" destId="{703A8A1D-B8BB-473A-8ACB-C93F77AE5A12}" srcOrd="0" destOrd="0" presId="urn:microsoft.com/office/officeart/2005/8/layout/process4"/>
    <dgm:cxn modelId="{2A59B5EE-C0D1-48EF-8D29-07E697C8FA3E}" srcId="{91126AB2-6C10-4F31-9FB6-2CA534FC79A8}" destId="{5A1D62F2-1402-4ADF-9F25-AF7B89F4EAC5}" srcOrd="1" destOrd="0" parTransId="{6166F824-57DC-46B9-81A1-8935F88117D4}" sibTransId="{B557E61F-1AEC-4AC0-A504-05E6E2090225}"/>
    <dgm:cxn modelId="{614CA8F5-3190-408D-BAD3-90C91961419A}" srcId="{91126AB2-6C10-4F31-9FB6-2CA534FC79A8}" destId="{F96E5871-EC46-49C0-A7C4-779F6A9D46C4}" srcOrd="2" destOrd="0" parTransId="{AECC3521-AB32-4F25-94B3-1B786AF0AC6E}" sibTransId="{B3266ECB-24DD-4EF3-8784-8B96E8DBE8BA}"/>
    <dgm:cxn modelId="{AB26C1FA-72F4-44B2-ADAD-35FB5172B583}" srcId="{5A1D62F2-1402-4ADF-9F25-AF7B89F4EAC5}" destId="{041554A9-91E5-4E53-8DDC-771D069C2201}" srcOrd="1" destOrd="0" parTransId="{B0444248-0224-4046-99C6-E6812C47F0F5}" sibTransId="{D9CEF83D-A851-43B6-A01A-4E6C34DD1763}"/>
    <dgm:cxn modelId="{3448AD7A-2076-45FF-96D7-E49598B1D4B5}" type="presParOf" srcId="{064E57BF-0093-4384-A924-C87CC955BA58}" destId="{5D0824D0-E03C-4A87-8B80-7C8503FEA779}" srcOrd="0" destOrd="0" presId="urn:microsoft.com/office/officeart/2005/8/layout/process4"/>
    <dgm:cxn modelId="{464B27D2-AF7A-4C77-AA33-9B08D0333A56}" type="presParOf" srcId="{5D0824D0-E03C-4A87-8B80-7C8503FEA779}" destId="{CA6C75A8-02E9-4A53-A0B1-1F6CE779FAF9}" srcOrd="0" destOrd="0" presId="urn:microsoft.com/office/officeart/2005/8/layout/process4"/>
    <dgm:cxn modelId="{8424A668-0EC7-4544-94A8-A01CF637DF06}" type="presParOf" srcId="{064E57BF-0093-4384-A924-C87CC955BA58}" destId="{B8AE1B6B-5CF1-49DF-8E73-705680B48690}" srcOrd="1" destOrd="0" presId="urn:microsoft.com/office/officeart/2005/8/layout/process4"/>
    <dgm:cxn modelId="{9EC2D326-CE25-4270-82A1-69D657690190}" type="presParOf" srcId="{064E57BF-0093-4384-A924-C87CC955BA58}" destId="{CBAF2214-8487-4BE6-BA05-B1331A1D2BC2}" srcOrd="2" destOrd="0" presId="urn:microsoft.com/office/officeart/2005/8/layout/process4"/>
    <dgm:cxn modelId="{43678769-8911-4EEB-8E8A-4FB9AF594DDC}" type="presParOf" srcId="{CBAF2214-8487-4BE6-BA05-B1331A1D2BC2}" destId="{703A8A1D-B8BB-473A-8ACB-C93F77AE5A12}" srcOrd="0" destOrd="0" presId="urn:microsoft.com/office/officeart/2005/8/layout/process4"/>
    <dgm:cxn modelId="{1509C7BC-291A-4D82-AF5F-E3B838EC6705}" type="presParOf" srcId="{CBAF2214-8487-4BE6-BA05-B1331A1D2BC2}" destId="{5CE909D4-FAA0-4AFA-AD15-1705952CACB5}" srcOrd="1" destOrd="0" presId="urn:microsoft.com/office/officeart/2005/8/layout/process4"/>
    <dgm:cxn modelId="{A9D4A28A-A17E-4686-87C1-CB2A819769D5}" type="presParOf" srcId="{CBAF2214-8487-4BE6-BA05-B1331A1D2BC2}" destId="{59762398-E76B-43D0-ABFD-7F3F147AE1B9}" srcOrd="2" destOrd="0" presId="urn:microsoft.com/office/officeart/2005/8/layout/process4"/>
    <dgm:cxn modelId="{626B4FDC-4AAC-4FB1-80F3-013335EF07C2}" type="presParOf" srcId="{59762398-E76B-43D0-ABFD-7F3F147AE1B9}" destId="{9BF8CCBE-19E5-42A2-84B7-38092DFCD63A}" srcOrd="0" destOrd="0" presId="urn:microsoft.com/office/officeart/2005/8/layout/process4"/>
    <dgm:cxn modelId="{E6003735-CF57-4AFA-B880-903176932550}" type="presParOf" srcId="{59762398-E76B-43D0-ABFD-7F3F147AE1B9}" destId="{14A17201-2D4A-4904-9A88-F2F93C711EF3}" srcOrd="1" destOrd="0" presId="urn:microsoft.com/office/officeart/2005/8/layout/process4"/>
    <dgm:cxn modelId="{2FE5E3C8-752F-4DFD-B626-93C6E7F87FC2}" type="presParOf" srcId="{064E57BF-0093-4384-A924-C87CC955BA58}" destId="{8FEB26FA-8DA1-4542-A9FA-05B40D82C9E5}" srcOrd="3" destOrd="0" presId="urn:microsoft.com/office/officeart/2005/8/layout/process4"/>
    <dgm:cxn modelId="{3AE16321-1808-4CB9-938A-1FB63FF2CDF1}" type="presParOf" srcId="{064E57BF-0093-4384-A924-C87CC955BA58}" destId="{65DE7507-1B7A-42FC-9305-C2C535283580}" srcOrd="4" destOrd="0" presId="urn:microsoft.com/office/officeart/2005/8/layout/process4"/>
    <dgm:cxn modelId="{B0F3C20F-DAD1-42F6-B535-CA5BE0AEC62D}" type="presParOf" srcId="{65DE7507-1B7A-42FC-9305-C2C535283580}" destId="{1A0E763B-8760-4905-9CF9-977F03F4528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92282A-F500-4CBA-B3DC-54AD94D958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715EDE7-6B01-41CE-8745-B2636770B682}">
      <dgm:prSet/>
      <dgm:spPr/>
      <dgm:t>
        <a:bodyPr/>
        <a:lstStyle/>
        <a:p>
          <a:r>
            <a:rPr lang="en-US"/>
            <a:t>Even when </a:t>
          </a:r>
          <a:r>
            <a:rPr lang="en-US" b="1"/>
            <a:t>Vgs &lt; Vth</a:t>
          </a:r>
          <a:r>
            <a:rPr lang="en-US"/>
            <a:t> (transistor should be OFF), some small current still flows from drain to source.</a:t>
          </a:r>
          <a:br>
            <a:rPr lang="en-US"/>
          </a:br>
          <a:r>
            <a:rPr lang="en-US"/>
            <a:t>This is called </a:t>
          </a:r>
          <a:r>
            <a:rPr lang="en-US" b="1"/>
            <a:t>subthreshold leakage</a:t>
          </a:r>
          <a:r>
            <a:rPr lang="en-US"/>
            <a:t>.</a:t>
          </a:r>
        </a:p>
      </dgm:t>
    </dgm:pt>
    <dgm:pt modelId="{D6865CFC-0AB1-425E-83FE-000DFAC05B5B}" type="parTrans" cxnId="{3EB3A784-CC49-4C44-A71D-9BBE859054E7}">
      <dgm:prSet/>
      <dgm:spPr/>
      <dgm:t>
        <a:bodyPr/>
        <a:lstStyle/>
        <a:p>
          <a:endParaRPr lang="en-US"/>
        </a:p>
      </dgm:t>
    </dgm:pt>
    <dgm:pt modelId="{9ABBCA8E-4A3F-41BE-B1BD-0FAB6AB2C436}" type="sibTrans" cxnId="{3EB3A784-CC49-4C44-A71D-9BBE859054E7}">
      <dgm:prSet/>
      <dgm:spPr/>
      <dgm:t>
        <a:bodyPr/>
        <a:lstStyle/>
        <a:p>
          <a:endParaRPr lang="en-US"/>
        </a:p>
      </dgm:t>
    </dgm:pt>
    <dgm:pt modelId="{EEC2D4E7-8682-4470-A164-02951D24B3C6}">
      <dgm:prSet/>
      <dgm:spPr/>
      <dgm:t>
        <a:bodyPr/>
        <a:lstStyle/>
        <a:p>
          <a:r>
            <a:rPr lang="en-US" b="1"/>
            <a:t>Why it happens:</a:t>
          </a:r>
          <a:br>
            <a:rPr lang="en-US"/>
          </a:br>
          <a:r>
            <a:rPr lang="en-US"/>
            <a:t>Short channel → weaker gate control → carriers sneak through.</a:t>
          </a:r>
        </a:p>
      </dgm:t>
    </dgm:pt>
    <dgm:pt modelId="{878966FB-BDCA-4AED-BF75-238F05B7B013}" type="parTrans" cxnId="{9C7A709A-2A84-495F-8CFD-30E6414A355F}">
      <dgm:prSet/>
      <dgm:spPr/>
      <dgm:t>
        <a:bodyPr/>
        <a:lstStyle/>
        <a:p>
          <a:endParaRPr lang="en-US"/>
        </a:p>
      </dgm:t>
    </dgm:pt>
    <dgm:pt modelId="{0F0763B2-D81C-4208-A086-54242B55C686}" type="sibTrans" cxnId="{9C7A709A-2A84-495F-8CFD-30E6414A355F}">
      <dgm:prSet/>
      <dgm:spPr/>
      <dgm:t>
        <a:bodyPr/>
        <a:lstStyle/>
        <a:p>
          <a:endParaRPr lang="en-US"/>
        </a:p>
      </dgm:t>
    </dgm:pt>
    <dgm:pt modelId="{BD895BE9-371A-4259-87F0-E0C2BB2AA8AF}">
      <dgm:prSet/>
      <dgm:spPr/>
      <dgm:t>
        <a:bodyPr/>
        <a:lstStyle/>
        <a:p>
          <a:r>
            <a:rPr lang="en-US" b="1"/>
            <a:t>Effect:</a:t>
          </a:r>
          <a:endParaRPr lang="en-US"/>
        </a:p>
      </dgm:t>
    </dgm:pt>
    <dgm:pt modelId="{2584453F-5071-4A62-8C06-CC6801D78D28}" type="parTrans" cxnId="{125938B2-341D-4EEE-A012-261AA8176CDF}">
      <dgm:prSet/>
      <dgm:spPr/>
      <dgm:t>
        <a:bodyPr/>
        <a:lstStyle/>
        <a:p>
          <a:endParaRPr lang="en-US"/>
        </a:p>
      </dgm:t>
    </dgm:pt>
    <dgm:pt modelId="{352324F2-9320-4FEB-AA07-F0ED12FF5AEA}" type="sibTrans" cxnId="{125938B2-341D-4EEE-A012-261AA8176CDF}">
      <dgm:prSet/>
      <dgm:spPr/>
      <dgm:t>
        <a:bodyPr/>
        <a:lstStyle/>
        <a:p>
          <a:endParaRPr lang="en-US"/>
        </a:p>
      </dgm:t>
    </dgm:pt>
    <dgm:pt modelId="{08F2518A-157B-4103-9250-500B0663CE7E}">
      <dgm:prSet/>
      <dgm:spPr/>
      <dgm:t>
        <a:bodyPr/>
        <a:lstStyle/>
        <a:p>
          <a:r>
            <a:rPr lang="en-US"/>
            <a:t>Wasted power in OFF state.</a:t>
          </a:r>
        </a:p>
      </dgm:t>
    </dgm:pt>
    <dgm:pt modelId="{B58A5638-E949-4AA5-9450-34BEF4CD23AC}" type="parTrans" cxnId="{5A811345-1961-4895-820A-3CDC520194A6}">
      <dgm:prSet/>
      <dgm:spPr/>
      <dgm:t>
        <a:bodyPr/>
        <a:lstStyle/>
        <a:p>
          <a:endParaRPr lang="en-US"/>
        </a:p>
      </dgm:t>
    </dgm:pt>
    <dgm:pt modelId="{2543E77D-0C86-4E96-B7C4-828BF29778F5}" type="sibTrans" cxnId="{5A811345-1961-4895-820A-3CDC520194A6}">
      <dgm:prSet/>
      <dgm:spPr/>
      <dgm:t>
        <a:bodyPr/>
        <a:lstStyle/>
        <a:p>
          <a:endParaRPr lang="en-US"/>
        </a:p>
      </dgm:t>
    </dgm:pt>
    <dgm:pt modelId="{188AECFB-F790-4D9B-B7EA-F050C12BB29A}">
      <dgm:prSet/>
      <dgm:spPr/>
      <dgm:t>
        <a:bodyPr/>
        <a:lstStyle/>
        <a:p>
          <a:r>
            <a:rPr lang="en-US" dirty="0"/>
            <a:t>Increases standby power consumption in chips.</a:t>
          </a:r>
        </a:p>
      </dgm:t>
    </dgm:pt>
    <dgm:pt modelId="{7FF083DC-3EA9-4751-BEE3-A06EFB97F71E}" type="parTrans" cxnId="{94919264-A694-47C1-91A1-7AC5FCB91106}">
      <dgm:prSet/>
      <dgm:spPr/>
      <dgm:t>
        <a:bodyPr/>
        <a:lstStyle/>
        <a:p>
          <a:endParaRPr lang="en-US"/>
        </a:p>
      </dgm:t>
    </dgm:pt>
    <dgm:pt modelId="{4383C2DA-EC14-449B-B5A0-6D505827C79D}" type="sibTrans" cxnId="{94919264-A694-47C1-91A1-7AC5FCB91106}">
      <dgm:prSet/>
      <dgm:spPr/>
      <dgm:t>
        <a:bodyPr/>
        <a:lstStyle/>
        <a:p>
          <a:endParaRPr lang="en-US"/>
        </a:p>
      </dgm:t>
    </dgm:pt>
    <dgm:pt modelId="{8BBB7975-69F8-413C-85E0-769CD5F4FAA0}" type="pres">
      <dgm:prSet presAssocID="{8292282A-F500-4CBA-B3DC-54AD94D95829}" presName="root" presStyleCnt="0">
        <dgm:presLayoutVars>
          <dgm:dir/>
          <dgm:resizeHandles val="exact"/>
        </dgm:presLayoutVars>
      </dgm:prSet>
      <dgm:spPr/>
    </dgm:pt>
    <dgm:pt modelId="{CF99070F-56F2-459D-9276-C94A0C1667DD}" type="pres">
      <dgm:prSet presAssocID="{A715EDE7-6B01-41CE-8745-B2636770B682}" presName="compNode" presStyleCnt="0"/>
      <dgm:spPr/>
    </dgm:pt>
    <dgm:pt modelId="{39BFEBD9-6F19-443C-BEA1-1947264FE278}" type="pres">
      <dgm:prSet presAssocID="{A715EDE7-6B01-41CE-8745-B2636770B682}" presName="bgRect" presStyleLbl="bgShp" presStyleIdx="0" presStyleCnt="3"/>
      <dgm:spPr/>
    </dgm:pt>
    <dgm:pt modelId="{E87C51BA-F2EE-40D1-8E91-235C578BEAF7}" type="pres">
      <dgm:prSet presAssocID="{A715EDE7-6B01-41CE-8745-B2636770B68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2CDC5C5-8DFB-47B6-B3B8-42E45AE460B8}" type="pres">
      <dgm:prSet presAssocID="{A715EDE7-6B01-41CE-8745-B2636770B682}" presName="spaceRect" presStyleCnt="0"/>
      <dgm:spPr/>
    </dgm:pt>
    <dgm:pt modelId="{9309C92B-3FB4-4D97-BC9F-86EC7AEC836C}" type="pres">
      <dgm:prSet presAssocID="{A715EDE7-6B01-41CE-8745-B2636770B682}" presName="parTx" presStyleLbl="revTx" presStyleIdx="0" presStyleCnt="4">
        <dgm:presLayoutVars>
          <dgm:chMax val="0"/>
          <dgm:chPref val="0"/>
        </dgm:presLayoutVars>
      </dgm:prSet>
      <dgm:spPr/>
    </dgm:pt>
    <dgm:pt modelId="{2338245E-87D2-461B-BBA7-30B0496EA077}" type="pres">
      <dgm:prSet presAssocID="{9ABBCA8E-4A3F-41BE-B1BD-0FAB6AB2C436}" presName="sibTrans" presStyleCnt="0"/>
      <dgm:spPr/>
    </dgm:pt>
    <dgm:pt modelId="{4B54450A-8838-46ED-A2C1-15EF75597797}" type="pres">
      <dgm:prSet presAssocID="{EEC2D4E7-8682-4470-A164-02951D24B3C6}" presName="compNode" presStyleCnt="0"/>
      <dgm:spPr/>
    </dgm:pt>
    <dgm:pt modelId="{66571115-69AB-4438-AC3A-6F8757DFBF63}" type="pres">
      <dgm:prSet presAssocID="{EEC2D4E7-8682-4470-A164-02951D24B3C6}" presName="bgRect" presStyleLbl="bgShp" presStyleIdx="1" presStyleCnt="3"/>
      <dgm:spPr/>
    </dgm:pt>
    <dgm:pt modelId="{23DE6B74-6860-4F7E-8B6B-C6BC2DF9A049}" type="pres">
      <dgm:prSet presAssocID="{EEC2D4E7-8682-4470-A164-02951D24B3C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C58B2679-0770-469F-8C85-A5060B0A1117}" type="pres">
      <dgm:prSet presAssocID="{EEC2D4E7-8682-4470-A164-02951D24B3C6}" presName="spaceRect" presStyleCnt="0"/>
      <dgm:spPr/>
    </dgm:pt>
    <dgm:pt modelId="{18164854-E5A3-4191-8372-4DB02B17E1B5}" type="pres">
      <dgm:prSet presAssocID="{EEC2D4E7-8682-4470-A164-02951D24B3C6}" presName="parTx" presStyleLbl="revTx" presStyleIdx="1" presStyleCnt="4">
        <dgm:presLayoutVars>
          <dgm:chMax val="0"/>
          <dgm:chPref val="0"/>
        </dgm:presLayoutVars>
      </dgm:prSet>
      <dgm:spPr/>
    </dgm:pt>
    <dgm:pt modelId="{56B01111-D704-4278-99C5-72FEF053EED0}" type="pres">
      <dgm:prSet presAssocID="{0F0763B2-D81C-4208-A086-54242B55C686}" presName="sibTrans" presStyleCnt="0"/>
      <dgm:spPr/>
    </dgm:pt>
    <dgm:pt modelId="{D67E5533-B292-4ED0-BFB4-6C438886D76C}" type="pres">
      <dgm:prSet presAssocID="{BD895BE9-371A-4259-87F0-E0C2BB2AA8AF}" presName="compNode" presStyleCnt="0"/>
      <dgm:spPr/>
    </dgm:pt>
    <dgm:pt modelId="{9F084BF5-BCEC-4B99-9B73-090221E5F567}" type="pres">
      <dgm:prSet presAssocID="{BD895BE9-371A-4259-87F0-E0C2BB2AA8AF}" presName="bgRect" presStyleLbl="bgShp" presStyleIdx="2" presStyleCnt="3"/>
      <dgm:spPr/>
    </dgm:pt>
    <dgm:pt modelId="{0C702286-8E7B-439B-9BD6-7FC7C2877EBB}" type="pres">
      <dgm:prSet presAssocID="{BD895BE9-371A-4259-87F0-E0C2BB2AA8A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A66A7D54-0CB5-44C4-9162-A950D705DDA4}" type="pres">
      <dgm:prSet presAssocID="{BD895BE9-371A-4259-87F0-E0C2BB2AA8AF}" presName="spaceRect" presStyleCnt="0"/>
      <dgm:spPr/>
    </dgm:pt>
    <dgm:pt modelId="{51738853-05BF-4C80-A0CC-5824E0F15D2C}" type="pres">
      <dgm:prSet presAssocID="{BD895BE9-371A-4259-87F0-E0C2BB2AA8AF}" presName="parTx" presStyleLbl="revTx" presStyleIdx="2" presStyleCnt="4">
        <dgm:presLayoutVars>
          <dgm:chMax val="0"/>
          <dgm:chPref val="0"/>
        </dgm:presLayoutVars>
      </dgm:prSet>
      <dgm:spPr/>
    </dgm:pt>
    <dgm:pt modelId="{2AC238F0-5D33-4C38-AB3B-3C3E26F6A932}" type="pres">
      <dgm:prSet presAssocID="{BD895BE9-371A-4259-87F0-E0C2BB2AA8AF}" presName="desTx" presStyleLbl="revTx" presStyleIdx="3" presStyleCnt="4" custScaleX="150294">
        <dgm:presLayoutVars/>
      </dgm:prSet>
      <dgm:spPr/>
    </dgm:pt>
  </dgm:ptLst>
  <dgm:cxnLst>
    <dgm:cxn modelId="{FD3F4807-5270-4187-B609-C18DEAF71C72}" type="presOf" srcId="{A715EDE7-6B01-41CE-8745-B2636770B682}" destId="{9309C92B-3FB4-4D97-BC9F-86EC7AEC836C}" srcOrd="0" destOrd="0" presId="urn:microsoft.com/office/officeart/2018/2/layout/IconVerticalSolidList"/>
    <dgm:cxn modelId="{D8960C1A-6FCF-4062-BB2A-A3CD4A2CD786}" type="presOf" srcId="{EEC2D4E7-8682-4470-A164-02951D24B3C6}" destId="{18164854-E5A3-4191-8372-4DB02B17E1B5}" srcOrd="0" destOrd="0" presId="urn:microsoft.com/office/officeart/2018/2/layout/IconVerticalSolidList"/>
    <dgm:cxn modelId="{7B7B021B-F9C1-4912-B060-0C91E55977E5}" type="presOf" srcId="{BD895BE9-371A-4259-87F0-E0C2BB2AA8AF}" destId="{51738853-05BF-4C80-A0CC-5824E0F15D2C}" srcOrd="0" destOrd="0" presId="urn:microsoft.com/office/officeart/2018/2/layout/IconVerticalSolidList"/>
    <dgm:cxn modelId="{94919264-A694-47C1-91A1-7AC5FCB91106}" srcId="{BD895BE9-371A-4259-87F0-E0C2BB2AA8AF}" destId="{188AECFB-F790-4D9B-B7EA-F050C12BB29A}" srcOrd="1" destOrd="0" parTransId="{7FF083DC-3EA9-4751-BEE3-A06EFB97F71E}" sibTransId="{4383C2DA-EC14-449B-B5A0-6D505827C79D}"/>
    <dgm:cxn modelId="{5A811345-1961-4895-820A-3CDC520194A6}" srcId="{BD895BE9-371A-4259-87F0-E0C2BB2AA8AF}" destId="{08F2518A-157B-4103-9250-500B0663CE7E}" srcOrd="0" destOrd="0" parTransId="{B58A5638-E949-4AA5-9450-34BEF4CD23AC}" sibTransId="{2543E77D-0C86-4E96-B7C4-828BF29778F5}"/>
    <dgm:cxn modelId="{3EB3A784-CC49-4C44-A71D-9BBE859054E7}" srcId="{8292282A-F500-4CBA-B3DC-54AD94D95829}" destId="{A715EDE7-6B01-41CE-8745-B2636770B682}" srcOrd="0" destOrd="0" parTransId="{D6865CFC-0AB1-425E-83FE-000DFAC05B5B}" sibTransId="{9ABBCA8E-4A3F-41BE-B1BD-0FAB6AB2C436}"/>
    <dgm:cxn modelId="{9C7A709A-2A84-495F-8CFD-30E6414A355F}" srcId="{8292282A-F500-4CBA-B3DC-54AD94D95829}" destId="{EEC2D4E7-8682-4470-A164-02951D24B3C6}" srcOrd="1" destOrd="0" parTransId="{878966FB-BDCA-4AED-BF75-238F05B7B013}" sibTransId="{0F0763B2-D81C-4208-A086-54242B55C686}"/>
    <dgm:cxn modelId="{125938B2-341D-4EEE-A012-261AA8176CDF}" srcId="{8292282A-F500-4CBA-B3DC-54AD94D95829}" destId="{BD895BE9-371A-4259-87F0-E0C2BB2AA8AF}" srcOrd="2" destOrd="0" parTransId="{2584453F-5071-4A62-8C06-CC6801D78D28}" sibTransId="{352324F2-9320-4FEB-AA07-F0ED12FF5AEA}"/>
    <dgm:cxn modelId="{E360FEB3-D816-49F1-BBE5-B7066338537B}" type="presOf" srcId="{8292282A-F500-4CBA-B3DC-54AD94D95829}" destId="{8BBB7975-69F8-413C-85E0-769CD5F4FAA0}" srcOrd="0" destOrd="0" presId="urn:microsoft.com/office/officeart/2018/2/layout/IconVerticalSolidList"/>
    <dgm:cxn modelId="{7A82F9F0-0374-4DBB-B1FF-1433BE21AB50}" type="presOf" srcId="{08F2518A-157B-4103-9250-500B0663CE7E}" destId="{2AC238F0-5D33-4C38-AB3B-3C3E26F6A932}" srcOrd="0" destOrd="0" presId="urn:microsoft.com/office/officeart/2018/2/layout/IconVerticalSolidList"/>
    <dgm:cxn modelId="{838C4FFA-D3E6-492F-BA17-864EA58AA9B3}" type="presOf" srcId="{188AECFB-F790-4D9B-B7EA-F050C12BB29A}" destId="{2AC238F0-5D33-4C38-AB3B-3C3E26F6A932}" srcOrd="0" destOrd="1" presId="urn:microsoft.com/office/officeart/2018/2/layout/IconVerticalSolidList"/>
    <dgm:cxn modelId="{A1D952B4-7A20-464D-8CD8-01BFA2F2CCC6}" type="presParOf" srcId="{8BBB7975-69F8-413C-85E0-769CD5F4FAA0}" destId="{CF99070F-56F2-459D-9276-C94A0C1667DD}" srcOrd="0" destOrd="0" presId="urn:microsoft.com/office/officeart/2018/2/layout/IconVerticalSolidList"/>
    <dgm:cxn modelId="{8AAF749D-3044-4DB2-B30C-FE0644C88030}" type="presParOf" srcId="{CF99070F-56F2-459D-9276-C94A0C1667DD}" destId="{39BFEBD9-6F19-443C-BEA1-1947264FE278}" srcOrd="0" destOrd="0" presId="urn:microsoft.com/office/officeart/2018/2/layout/IconVerticalSolidList"/>
    <dgm:cxn modelId="{62CFB929-9E1F-48A1-8E44-2E3B15A70CED}" type="presParOf" srcId="{CF99070F-56F2-459D-9276-C94A0C1667DD}" destId="{E87C51BA-F2EE-40D1-8E91-235C578BEAF7}" srcOrd="1" destOrd="0" presId="urn:microsoft.com/office/officeart/2018/2/layout/IconVerticalSolidList"/>
    <dgm:cxn modelId="{5A788A96-E71F-4888-B995-43BB690A01CC}" type="presParOf" srcId="{CF99070F-56F2-459D-9276-C94A0C1667DD}" destId="{62CDC5C5-8DFB-47B6-B3B8-42E45AE460B8}" srcOrd="2" destOrd="0" presId="urn:microsoft.com/office/officeart/2018/2/layout/IconVerticalSolidList"/>
    <dgm:cxn modelId="{BC799F9A-2D2A-419E-9C55-3D31E72D0A99}" type="presParOf" srcId="{CF99070F-56F2-459D-9276-C94A0C1667DD}" destId="{9309C92B-3FB4-4D97-BC9F-86EC7AEC836C}" srcOrd="3" destOrd="0" presId="urn:microsoft.com/office/officeart/2018/2/layout/IconVerticalSolidList"/>
    <dgm:cxn modelId="{7C4B5001-37BB-4DB5-9CED-DF1E81F47DA7}" type="presParOf" srcId="{8BBB7975-69F8-413C-85E0-769CD5F4FAA0}" destId="{2338245E-87D2-461B-BBA7-30B0496EA077}" srcOrd="1" destOrd="0" presId="urn:microsoft.com/office/officeart/2018/2/layout/IconVerticalSolidList"/>
    <dgm:cxn modelId="{EF0EC6AE-C8E0-4640-9A4E-DD0E268E1712}" type="presParOf" srcId="{8BBB7975-69F8-413C-85E0-769CD5F4FAA0}" destId="{4B54450A-8838-46ED-A2C1-15EF75597797}" srcOrd="2" destOrd="0" presId="urn:microsoft.com/office/officeart/2018/2/layout/IconVerticalSolidList"/>
    <dgm:cxn modelId="{6E802808-52C2-4B2A-9F6C-69952FD6DF48}" type="presParOf" srcId="{4B54450A-8838-46ED-A2C1-15EF75597797}" destId="{66571115-69AB-4438-AC3A-6F8757DFBF63}" srcOrd="0" destOrd="0" presId="urn:microsoft.com/office/officeart/2018/2/layout/IconVerticalSolidList"/>
    <dgm:cxn modelId="{E2411EE4-D02C-43A8-8EDB-8CE1F7DA3E5B}" type="presParOf" srcId="{4B54450A-8838-46ED-A2C1-15EF75597797}" destId="{23DE6B74-6860-4F7E-8B6B-C6BC2DF9A049}" srcOrd="1" destOrd="0" presId="urn:microsoft.com/office/officeart/2018/2/layout/IconVerticalSolidList"/>
    <dgm:cxn modelId="{063D21B8-6560-4DAC-A0BD-82CC2366051B}" type="presParOf" srcId="{4B54450A-8838-46ED-A2C1-15EF75597797}" destId="{C58B2679-0770-469F-8C85-A5060B0A1117}" srcOrd="2" destOrd="0" presId="urn:microsoft.com/office/officeart/2018/2/layout/IconVerticalSolidList"/>
    <dgm:cxn modelId="{A6E57D78-4906-4CD3-B776-2EFFFEB3AD64}" type="presParOf" srcId="{4B54450A-8838-46ED-A2C1-15EF75597797}" destId="{18164854-E5A3-4191-8372-4DB02B17E1B5}" srcOrd="3" destOrd="0" presId="urn:microsoft.com/office/officeart/2018/2/layout/IconVerticalSolidList"/>
    <dgm:cxn modelId="{0A2E1147-1390-4E73-8E1F-3F2ACF5C024E}" type="presParOf" srcId="{8BBB7975-69F8-413C-85E0-769CD5F4FAA0}" destId="{56B01111-D704-4278-99C5-72FEF053EED0}" srcOrd="3" destOrd="0" presId="urn:microsoft.com/office/officeart/2018/2/layout/IconVerticalSolidList"/>
    <dgm:cxn modelId="{8F1D8C37-754D-4257-99E8-82B989F5BCC6}" type="presParOf" srcId="{8BBB7975-69F8-413C-85E0-769CD5F4FAA0}" destId="{D67E5533-B292-4ED0-BFB4-6C438886D76C}" srcOrd="4" destOrd="0" presId="urn:microsoft.com/office/officeart/2018/2/layout/IconVerticalSolidList"/>
    <dgm:cxn modelId="{01A2166E-AC26-4B97-BFD3-7B4EB381A8E3}" type="presParOf" srcId="{D67E5533-B292-4ED0-BFB4-6C438886D76C}" destId="{9F084BF5-BCEC-4B99-9B73-090221E5F567}" srcOrd="0" destOrd="0" presId="urn:microsoft.com/office/officeart/2018/2/layout/IconVerticalSolidList"/>
    <dgm:cxn modelId="{5E58EB54-0A2B-4A29-B775-E6062C6FF859}" type="presParOf" srcId="{D67E5533-B292-4ED0-BFB4-6C438886D76C}" destId="{0C702286-8E7B-439B-9BD6-7FC7C2877EBB}" srcOrd="1" destOrd="0" presId="urn:microsoft.com/office/officeart/2018/2/layout/IconVerticalSolidList"/>
    <dgm:cxn modelId="{09F58535-A98F-4698-8583-64D8D2EE268A}" type="presParOf" srcId="{D67E5533-B292-4ED0-BFB4-6C438886D76C}" destId="{A66A7D54-0CB5-44C4-9162-A950D705DDA4}" srcOrd="2" destOrd="0" presId="urn:microsoft.com/office/officeart/2018/2/layout/IconVerticalSolidList"/>
    <dgm:cxn modelId="{EC3B6EAD-FABD-4570-B1E5-0F58E1E96CA9}" type="presParOf" srcId="{D67E5533-B292-4ED0-BFB4-6C438886D76C}" destId="{51738853-05BF-4C80-A0CC-5824E0F15D2C}" srcOrd="3" destOrd="0" presId="urn:microsoft.com/office/officeart/2018/2/layout/IconVerticalSolidList"/>
    <dgm:cxn modelId="{4B9BF9BE-8719-4046-BFAD-6F915E1078D2}" type="presParOf" srcId="{D67E5533-B292-4ED0-BFB4-6C438886D76C}" destId="{2AC238F0-5D33-4C38-AB3B-3C3E26F6A93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ACB6D0-47EF-4E73-8936-BB80D8B10B29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8D36D1-817A-4AAF-A359-6267D7435241}">
      <dgm:prSet/>
      <dgm:spPr/>
      <dgm:t>
        <a:bodyPr/>
        <a:lstStyle/>
        <a:p>
          <a:pPr algn="l"/>
          <a:r>
            <a:rPr lang="en-US" dirty="0"/>
            <a:t>Threshold Voltage (Vth) is the minimum voltage required at the gate to form a conducting channel.</a:t>
          </a:r>
          <a:br>
            <a:rPr lang="en-US" dirty="0"/>
          </a:br>
          <a:r>
            <a:rPr lang="en-US" dirty="0"/>
            <a:t>In short-channel MOSFETs, Vth does not stay constant → it changes with channel length and drain voltage.</a:t>
          </a:r>
        </a:p>
      </dgm:t>
    </dgm:pt>
    <dgm:pt modelId="{7C9205C0-3152-4305-BEAA-7C4B62FE68DC}" type="parTrans" cxnId="{7630FBDD-FE10-49B0-89D1-CACC02F88163}">
      <dgm:prSet/>
      <dgm:spPr/>
      <dgm:t>
        <a:bodyPr/>
        <a:lstStyle/>
        <a:p>
          <a:endParaRPr lang="en-US"/>
        </a:p>
      </dgm:t>
    </dgm:pt>
    <dgm:pt modelId="{8671FC4F-2FB8-49F7-B941-3554721BE1D7}" type="sibTrans" cxnId="{7630FBDD-FE10-49B0-89D1-CACC02F88163}">
      <dgm:prSet/>
      <dgm:spPr/>
      <dgm:t>
        <a:bodyPr/>
        <a:lstStyle/>
        <a:p>
          <a:endParaRPr lang="en-US"/>
        </a:p>
      </dgm:t>
    </dgm:pt>
    <dgm:pt modelId="{4F5D4A34-BA48-49DA-B367-9FC19EA2587C}">
      <dgm:prSet/>
      <dgm:spPr/>
      <dgm:t>
        <a:bodyPr/>
        <a:lstStyle/>
        <a:p>
          <a:r>
            <a:rPr lang="en-US" b="1"/>
            <a:t>Effect:</a:t>
          </a:r>
          <a:endParaRPr lang="en-US"/>
        </a:p>
      </dgm:t>
    </dgm:pt>
    <dgm:pt modelId="{CF27341B-6C83-4D87-B38B-59EFB5BD8C3C}" type="parTrans" cxnId="{8304F015-1954-4C41-A744-EBC99C4121A4}">
      <dgm:prSet/>
      <dgm:spPr/>
      <dgm:t>
        <a:bodyPr/>
        <a:lstStyle/>
        <a:p>
          <a:endParaRPr lang="en-US"/>
        </a:p>
      </dgm:t>
    </dgm:pt>
    <dgm:pt modelId="{F1A4661A-E94D-47EF-B7BF-C89EA539D536}" type="sibTrans" cxnId="{8304F015-1954-4C41-A744-EBC99C4121A4}">
      <dgm:prSet/>
      <dgm:spPr/>
      <dgm:t>
        <a:bodyPr/>
        <a:lstStyle/>
        <a:p>
          <a:endParaRPr lang="en-US"/>
        </a:p>
      </dgm:t>
    </dgm:pt>
    <dgm:pt modelId="{1E02EE7E-4F3C-452D-B5C1-30611B115E7D}">
      <dgm:prSet/>
      <dgm:spPr/>
      <dgm:t>
        <a:bodyPr/>
        <a:lstStyle/>
        <a:p>
          <a:r>
            <a:rPr lang="en-US"/>
            <a:t>Harder to design stable circuits.</a:t>
          </a:r>
        </a:p>
      </dgm:t>
    </dgm:pt>
    <dgm:pt modelId="{DC93E506-98A7-4BB5-B72C-2CA08A57D6A2}" type="parTrans" cxnId="{ACF2F795-2E42-459A-AADE-64C00EB61C08}">
      <dgm:prSet/>
      <dgm:spPr/>
      <dgm:t>
        <a:bodyPr/>
        <a:lstStyle/>
        <a:p>
          <a:endParaRPr lang="en-US"/>
        </a:p>
      </dgm:t>
    </dgm:pt>
    <dgm:pt modelId="{399AE0A8-D60A-4C75-B443-297BA8B92F6A}" type="sibTrans" cxnId="{ACF2F795-2E42-459A-AADE-64C00EB61C08}">
      <dgm:prSet/>
      <dgm:spPr/>
      <dgm:t>
        <a:bodyPr/>
        <a:lstStyle/>
        <a:p>
          <a:endParaRPr lang="en-US"/>
        </a:p>
      </dgm:t>
    </dgm:pt>
    <dgm:pt modelId="{A36B5291-0FCC-4F69-A6E2-70D742756852}">
      <dgm:prSet/>
      <dgm:spPr/>
      <dgm:t>
        <a:bodyPr/>
        <a:lstStyle/>
        <a:p>
          <a:r>
            <a:rPr lang="en-US"/>
            <a:t>Vth may reduce (device turns ON too easily) or increase (hard to switch ON).</a:t>
          </a:r>
        </a:p>
      </dgm:t>
    </dgm:pt>
    <dgm:pt modelId="{489A5B3B-2A90-442C-9D8B-21D71DACA1F3}" type="parTrans" cxnId="{520477DD-69AA-4375-88B9-7AFCB0B9DB9D}">
      <dgm:prSet/>
      <dgm:spPr/>
      <dgm:t>
        <a:bodyPr/>
        <a:lstStyle/>
        <a:p>
          <a:endParaRPr lang="en-US"/>
        </a:p>
      </dgm:t>
    </dgm:pt>
    <dgm:pt modelId="{349FAC7A-2EF6-44BD-8B6C-8981FD63F24E}" type="sibTrans" cxnId="{520477DD-69AA-4375-88B9-7AFCB0B9DB9D}">
      <dgm:prSet/>
      <dgm:spPr/>
      <dgm:t>
        <a:bodyPr/>
        <a:lstStyle/>
        <a:p>
          <a:endParaRPr lang="en-US"/>
        </a:p>
      </dgm:t>
    </dgm:pt>
    <dgm:pt modelId="{5EA68ADB-82EE-4E36-8466-07E438717861}" type="pres">
      <dgm:prSet presAssocID="{F3ACB6D0-47EF-4E73-8936-BB80D8B10B29}" presName="Name0" presStyleCnt="0">
        <dgm:presLayoutVars>
          <dgm:dir/>
          <dgm:resizeHandles val="exact"/>
        </dgm:presLayoutVars>
      </dgm:prSet>
      <dgm:spPr/>
    </dgm:pt>
    <dgm:pt modelId="{CD4BB436-6F02-4F73-B9F6-517ED417922C}" type="pres">
      <dgm:prSet presAssocID="{E88D36D1-817A-4AAF-A359-6267D7435241}" presName="parAndChTx" presStyleLbl="node1" presStyleIdx="0" presStyleCnt="2">
        <dgm:presLayoutVars>
          <dgm:bulletEnabled val="1"/>
        </dgm:presLayoutVars>
      </dgm:prSet>
      <dgm:spPr/>
    </dgm:pt>
    <dgm:pt modelId="{F076822D-B93D-41C3-8D2A-B8AA0BB6EF96}" type="pres">
      <dgm:prSet presAssocID="{8671FC4F-2FB8-49F7-B941-3554721BE1D7}" presName="parAndChSpace" presStyleCnt="0"/>
      <dgm:spPr/>
    </dgm:pt>
    <dgm:pt modelId="{7ED9DED1-B9BC-4722-879E-9C0C51DEEC14}" type="pres">
      <dgm:prSet presAssocID="{4F5D4A34-BA48-49DA-B367-9FC19EA2587C}" presName="parAndChTx" presStyleLbl="node1" presStyleIdx="1" presStyleCnt="2">
        <dgm:presLayoutVars>
          <dgm:bulletEnabled val="1"/>
        </dgm:presLayoutVars>
      </dgm:prSet>
      <dgm:spPr/>
    </dgm:pt>
  </dgm:ptLst>
  <dgm:cxnLst>
    <dgm:cxn modelId="{8304F015-1954-4C41-A744-EBC99C4121A4}" srcId="{F3ACB6D0-47EF-4E73-8936-BB80D8B10B29}" destId="{4F5D4A34-BA48-49DA-B367-9FC19EA2587C}" srcOrd="1" destOrd="0" parTransId="{CF27341B-6C83-4D87-B38B-59EFB5BD8C3C}" sibTransId="{F1A4661A-E94D-47EF-B7BF-C89EA539D536}"/>
    <dgm:cxn modelId="{E99EE821-EFF7-46D7-A699-E569D79D0EDA}" type="presOf" srcId="{4F5D4A34-BA48-49DA-B367-9FC19EA2587C}" destId="{7ED9DED1-B9BC-4722-879E-9C0C51DEEC14}" srcOrd="0" destOrd="0" presId="urn:microsoft.com/office/officeart/2005/8/layout/hChevron3"/>
    <dgm:cxn modelId="{37808857-5264-4103-8F5C-A529C54A71C3}" type="presOf" srcId="{A36B5291-0FCC-4F69-A6E2-70D742756852}" destId="{7ED9DED1-B9BC-4722-879E-9C0C51DEEC14}" srcOrd="0" destOrd="2" presId="urn:microsoft.com/office/officeart/2005/8/layout/hChevron3"/>
    <dgm:cxn modelId="{ACF2F795-2E42-459A-AADE-64C00EB61C08}" srcId="{4F5D4A34-BA48-49DA-B367-9FC19EA2587C}" destId="{1E02EE7E-4F3C-452D-B5C1-30611B115E7D}" srcOrd="0" destOrd="0" parTransId="{DC93E506-98A7-4BB5-B72C-2CA08A57D6A2}" sibTransId="{399AE0A8-D60A-4C75-B443-297BA8B92F6A}"/>
    <dgm:cxn modelId="{48096C9A-8C69-4DEA-B10A-6BCB1C848C71}" type="presOf" srcId="{E88D36D1-817A-4AAF-A359-6267D7435241}" destId="{CD4BB436-6F02-4F73-B9F6-517ED417922C}" srcOrd="0" destOrd="0" presId="urn:microsoft.com/office/officeart/2005/8/layout/hChevron3"/>
    <dgm:cxn modelId="{CAFD4BAF-FD80-4EB7-9591-9ABD4381A914}" type="presOf" srcId="{1E02EE7E-4F3C-452D-B5C1-30611B115E7D}" destId="{7ED9DED1-B9BC-4722-879E-9C0C51DEEC14}" srcOrd="0" destOrd="1" presId="urn:microsoft.com/office/officeart/2005/8/layout/hChevron3"/>
    <dgm:cxn modelId="{520477DD-69AA-4375-88B9-7AFCB0B9DB9D}" srcId="{4F5D4A34-BA48-49DA-B367-9FC19EA2587C}" destId="{A36B5291-0FCC-4F69-A6E2-70D742756852}" srcOrd="1" destOrd="0" parTransId="{489A5B3B-2A90-442C-9D8B-21D71DACA1F3}" sibTransId="{349FAC7A-2EF6-44BD-8B6C-8981FD63F24E}"/>
    <dgm:cxn modelId="{7630FBDD-FE10-49B0-89D1-CACC02F88163}" srcId="{F3ACB6D0-47EF-4E73-8936-BB80D8B10B29}" destId="{E88D36D1-817A-4AAF-A359-6267D7435241}" srcOrd="0" destOrd="0" parTransId="{7C9205C0-3152-4305-BEAA-7C4B62FE68DC}" sibTransId="{8671FC4F-2FB8-49F7-B941-3554721BE1D7}"/>
    <dgm:cxn modelId="{058B82E6-EC75-48AF-980B-C9A800411C0E}" type="presOf" srcId="{F3ACB6D0-47EF-4E73-8936-BB80D8B10B29}" destId="{5EA68ADB-82EE-4E36-8466-07E438717861}" srcOrd="0" destOrd="0" presId="urn:microsoft.com/office/officeart/2005/8/layout/hChevron3"/>
    <dgm:cxn modelId="{C957F021-9F29-412C-AA1E-BCD2DCEA0E83}" type="presParOf" srcId="{5EA68ADB-82EE-4E36-8466-07E438717861}" destId="{CD4BB436-6F02-4F73-B9F6-517ED417922C}" srcOrd="0" destOrd="0" presId="urn:microsoft.com/office/officeart/2005/8/layout/hChevron3"/>
    <dgm:cxn modelId="{CD3BAECC-C7BE-4E58-AC0F-86EE8BE3F50F}" type="presParOf" srcId="{5EA68ADB-82EE-4E36-8466-07E438717861}" destId="{F076822D-B93D-41C3-8D2A-B8AA0BB6EF96}" srcOrd="1" destOrd="0" presId="urn:microsoft.com/office/officeart/2005/8/layout/hChevron3"/>
    <dgm:cxn modelId="{7818F1CE-85FF-41A3-BA61-918F42605178}" type="presParOf" srcId="{5EA68ADB-82EE-4E36-8466-07E438717861}" destId="{7ED9DED1-B9BC-4722-879E-9C0C51DEEC14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616C0FF-429F-4572-B0C5-B1AAEAC290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4FB0B86-5B7D-4A29-8C94-7C728251B428}">
      <dgm:prSet/>
      <dgm:spPr/>
      <dgm:t>
        <a:bodyPr/>
        <a:lstStyle/>
        <a:p>
          <a:r>
            <a:rPr lang="en-US" b="1"/>
            <a:t>What it means:</a:t>
          </a:r>
          <a:br>
            <a:rPr lang="en-US"/>
          </a:br>
          <a:r>
            <a:rPr lang="en-US"/>
            <a:t>When channel is very short, the depletion region from the drain side extends all the way to the source side.</a:t>
          </a:r>
          <a:br>
            <a:rPr lang="en-US"/>
          </a:br>
          <a:r>
            <a:rPr lang="en-US"/>
            <a:t>This creates a direct path for current, bypassing the gate control.</a:t>
          </a:r>
        </a:p>
      </dgm:t>
    </dgm:pt>
    <dgm:pt modelId="{6F9ADF3D-81BD-4DD9-A6E4-21281BCE39BF}" type="parTrans" cxnId="{0BE09019-FC17-4BB2-92D5-BE5EE4667E24}">
      <dgm:prSet/>
      <dgm:spPr/>
      <dgm:t>
        <a:bodyPr/>
        <a:lstStyle/>
        <a:p>
          <a:endParaRPr lang="en-US"/>
        </a:p>
      </dgm:t>
    </dgm:pt>
    <dgm:pt modelId="{3BBC21B7-304C-4427-A86F-5F8E39EAAEB1}" type="sibTrans" cxnId="{0BE09019-FC17-4BB2-92D5-BE5EE4667E24}">
      <dgm:prSet/>
      <dgm:spPr/>
      <dgm:t>
        <a:bodyPr/>
        <a:lstStyle/>
        <a:p>
          <a:endParaRPr lang="en-US"/>
        </a:p>
      </dgm:t>
    </dgm:pt>
    <dgm:pt modelId="{1F126F06-01C2-45F4-8018-212922501CA5}">
      <dgm:prSet/>
      <dgm:spPr/>
      <dgm:t>
        <a:bodyPr/>
        <a:lstStyle/>
        <a:p>
          <a:r>
            <a:rPr lang="en-US" b="1"/>
            <a:t>Effect:</a:t>
          </a:r>
          <a:endParaRPr lang="en-US"/>
        </a:p>
      </dgm:t>
    </dgm:pt>
    <dgm:pt modelId="{A8C5BD35-CF74-452D-B820-89B2524A9AFF}" type="parTrans" cxnId="{770D783E-CE29-47D6-9FD6-8928AB6F0E37}">
      <dgm:prSet/>
      <dgm:spPr/>
      <dgm:t>
        <a:bodyPr/>
        <a:lstStyle/>
        <a:p>
          <a:endParaRPr lang="en-US"/>
        </a:p>
      </dgm:t>
    </dgm:pt>
    <dgm:pt modelId="{67E39598-721B-48DB-95F8-E6D20568D451}" type="sibTrans" cxnId="{770D783E-CE29-47D6-9FD6-8928AB6F0E37}">
      <dgm:prSet/>
      <dgm:spPr/>
      <dgm:t>
        <a:bodyPr/>
        <a:lstStyle/>
        <a:p>
          <a:endParaRPr lang="en-US"/>
        </a:p>
      </dgm:t>
    </dgm:pt>
    <dgm:pt modelId="{5BD42D0F-53FE-4636-8738-F957B2C9B4D9}">
      <dgm:prSet custT="1"/>
      <dgm:spPr/>
      <dgm:t>
        <a:bodyPr/>
        <a:lstStyle/>
        <a:p>
          <a:r>
            <a:rPr lang="en-US" sz="2000" dirty="0"/>
            <a:t>Device cannot turn OFF properly.</a:t>
          </a:r>
        </a:p>
      </dgm:t>
    </dgm:pt>
    <dgm:pt modelId="{237E28BF-D49B-4161-9013-8857AC95A08E}" type="parTrans" cxnId="{7A81C470-9581-40B7-9D38-D5237D451AFB}">
      <dgm:prSet/>
      <dgm:spPr/>
      <dgm:t>
        <a:bodyPr/>
        <a:lstStyle/>
        <a:p>
          <a:endParaRPr lang="en-US"/>
        </a:p>
      </dgm:t>
    </dgm:pt>
    <dgm:pt modelId="{F2685429-1B37-45A3-9034-07B910714481}" type="sibTrans" cxnId="{7A81C470-9581-40B7-9D38-D5237D451AFB}">
      <dgm:prSet/>
      <dgm:spPr/>
      <dgm:t>
        <a:bodyPr/>
        <a:lstStyle/>
        <a:p>
          <a:endParaRPr lang="en-US"/>
        </a:p>
      </dgm:t>
    </dgm:pt>
    <dgm:pt modelId="{52B5FE29-0F2E-4ABD-9A36-CE95A4A91B44}">
      <dgm:prSet custT="1"/>
      <dgm:spPr/>
      <dgm:t>
        <a:bodyPr/>
        <a:lstStyle/>
        <a:p>
          <a:r>
            <a:rPr lang="en-US" sz="2000" dirty="0"/>
            <a:t>Leakage current becomes very large.</a:t>
          </a:r>
        </a:p>
      </dgm:t>
    </dgm:pt>
    <dgm:pt modelId="{0E3091D7-3AF0-4DE7-9CD2-190B09145A53}" type="parTrans" cxnId="{FB98E1C8-22ED-485C-BD0D-9E48B485EFD0}">
      <dgm:prSet/>
      <dgm:spPr/>
      <dgm:t>
        <a:bodyPr/>
        <a:lstStyle/>
        <a:p>
          <a:endParaRPr lang="en-US"/>
        </a:p>
      </dgm:t>
    </dgm:pt>
    <dgm:pt modelId="{7BC0FC58-CF01-43A0-B7BB-B89A21414E59}" type="sibTrans" cxnId="{FB98E1C8-22ED-485C-BD0D-9E48B485EFD0}">
      <dgm:prSet/>
      <dgm:spPr/>
      <dgm:t>
        <a:bodyPr/>
        <a:lstStyle/>
        <a:p>
          <a:endParaRPr lang="en-US"/>
        </a:p>
      </dgm:t>
    </dgm:pt>
    <dgm:pt modelId="{BA9C2C5E-8DFD-41F0-9B76-2AE279E07156}" type="pres">
      <dgm:prSet presAssocID="{C616C0FF-429F-4572-B0C5-B1AAEAC29067}" presName="root" presStyleCnt="0">
        <dgm:presLayoutVars>
          <dgm:dir/>
          <dgm:resizeHandles val="exact"/>
        </dgm:presLayoutVars>
      </dgm:prSet>
      <dgm:spPr/>
    </dgm:pt>
    <dgm:pt modelId="{230A9BE3-8F07-4490-89BA-295A7F7ED25E}" type="pres">
      <dgm:prSet presAssocID="{A4FB0B86-5B7D-4A29-8C94-7C728251B428}" presName="compNode" presStyleCnt="0"/>
      <dgm:spPr/>
    </dgm:pt>
    <dgm:pt modelId="{D7D310F2-EEB3-4BA1-8908-78CD1533D686}" type="pres">
      <dgm:prSet presAssocID="{A4FB0B86-5B7D-4A29-8C94-7C728251B428}" presName="bgRect" presStyleLbl="bgShp" presStyleIdx="0" presStyleCnt="2"/>
      <dgm:spPr/>
    </dgm:pt>
    <dgm:pt modelId="{48BB0C73-24C1-441F-8C7A-8FF0A8AE8E80}" type="pres">
      <dgm:prSet presAssocID="{A4FB0B86-5B7D-4A29-8C94-7C728251B42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B67D1CAC-B6F0-4302-BA44-5FC8B9666088}" type="pres">
      <dgm:prSet presAssocID="{A4FB0B86-5B7D-4A29-8C94-7C728251B428}" presName="spaceRect" presStyleCnt="0"/>
      <dgm:spPr/>
    </dgm:pt>
    <dgm:pt modelId="{FFDF638F-F498-497B-901E-69DB6021482A}" type="pres">
      <dgm:prSet presAssocID="{A4FB0B86-5B7D-4A29-8C94-7C728251B428}" presName="parTx" presStyleLbl="revTx" presStyleIdx="0" presStyleCnt="3">
        <dgm:presLayoutVars>
          <dgm:chMax val="0"/>
          <dgm:chPref val="0"/>
        </dgm:presLayoutVars>
      </dgm:prSet>
      <dgm:spPr/>
    </dgm:pt>
    <dgm:pt modelId="{ED152468-EDDE-43E1-AFED-23BA3E1B1703}" type="pres">
      <dgm:prSet presAssocID="{3BBC21B7-304C-4427-A86F-5F8E39EAAEB1}" presName="sibTrans" presStyleCnt="0"/>
      <dgm:spPr/>
    </dgm:pt>
    <dgm:pt modelId="{19F4C9EF-FCE2-4454-B75B-2E55A94A8499}" type="pres">
      <dgm:prSet presAssocID="{1F126F06-01C2-45F4-8018-212922501CA5}" presName="compNode" presStyleCnt="0"/>
      <dgm:spPr/>
    </dgm:pt>
    <dgm:pt modelId="{433D0174-646C-4FFD-BE69-AB0995EA7970}" type="pres">
      <dgm:prSet presAssocID="{1F126F06-01C2-45F4-8018-212922501CA5}" presName="bgRect" presStyleLbl="bgShp" presStyleIdx="1" presStyleCnt="2" custLinFactNeighborX="-12673" custLinFactNeighborY="10418"/>
      <dgm:spPr/>
    </dgm:pt>
    <dgm:pt modelId="{EE4A249C-AD87-44DF-BCA1-BDBB29E6B2A5}" type="pres">
      <dgm:prSet presAssocID="{1F126F06-01C2-45F4-8018-212922501CA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5320F211-5587-4602-9634-7BE890CF96EB}" type="pres">
      <dgm:prSet presAssocID="{1F126F06-01C2-45F4-8018-212922501CA5}" presName="spaceRect" presStyleCnt="0"/>
      <dgm:spPr/>
    </dgm:pt>
    <dgm:pt modelId="{126BDAEE-5E69-478A-B8DD-99B8A5C6A40D}" type="pres">
      <dgm:prSet presAssocID="{1F126F06-01C2-45F4-8018-212922501CA5}" presName="parTx" presStyleLbl="revTx" presStyleIdx="1" presStyleCnt="3">
        <dgm:presLayoutVars>
          <dgm:chMax val="0"/>
          <dgm:chPref val="0"/>
        </dgm:presLayoutVars>
      </dgm:prSet>
      <dgm:spPr/>
    </dgm:pt>
    <dgm:pt modelId="{7BDD04FC-8584-4059-B477-30E1DDC6B552}" type="pres">
      <dgm:prSet presAssocID="{1F126F06-01C2-45F4-8018-212922501CA5}" presName="desTx" presStyleLbl="revTx" presStyleIdx="2" presStyleCnt="3" custScaleX="124335">
        <dgm:presLayoutVars/>
      </dgm:prSet>
      <dgm:spPr/>
    </dgm:pt>
  </dgm:ptLst>
  <dgm:cxnLst>
    <dgm:cxn modelId="{0BE09019-FC17-4BB2-92D5-BE5EE4667E24}" srcId="{C616C0FF-429F-4572-B0C5-B1AAEAC29067}" destId="{A4FB0B86-5B7D-4A29-8C94-7C728251B428}" srcOrd="0" destOrd="0" parTransId="{6F9ADF3D-81BD-4DD9-A6E4-21281BCE39BF}" sibTransId="{3BBC21B7-304C-4427-A86F-5F8E39EAAEB1}"/>
    <dgm:cxn modelId="{770D783E-CE29-47D6-9FD6-8928AB6F0E37}" srcId="{C616C0FF-429F-4572-B0C5-B1AAEAC29067}" destId="{1F126F06-01C2-45F4-8018-212922501CA5}" srcOrd="1" destOrd="0" parTransId="{A8C5BD35-CF74-452D-B820-89B2524A9AFF}" sibTransId="{67E39598-721B-48DB-95F8-E6D20568D451}"/>
    <dgm:cxn modelId="{7A81C470-9581-40B7-9D38-D5237D451AFB}" srcId="{1F126F06-01C2-45F4-8018-212922501CA5}" destId="{5BD42D0F-53FE-4636-8738-F957B2C9B4D9}" srcOrd="0" destOrd="0" parTransId="{237E28BF-D49B-4161-9013-8857AC95A08E}" sibTransId="{F2685429-1B37-45A3-9034-07B910714481}"/>
    <dgm:cxn modelId="{7EDC7372-69F3-4485-919C-C2BEA6F194C9}" type="presOf" srcId="{1F126F06-01C2-45F4-8018-212922501CA5}" destId="{126BDAEE-5E69-478A-B8DD-99B8A5C6A40D}" srcOrd="0" destOrd="0" presId="urn:microsoft.com/office/officeart/2018/2/layout/IconVerticalSolidList"/>
    <dgm:cxn modelId="{7554E8A1-A404-475F-8113-C4F1C13FAAEB}" type="presOf" srcId="{A4FB0B86-5B7D-4A29-8C94-7C728251B428}" destId="{FFDF638F-F498-497B-901E-69DB6021482A}" srcOrd="0" destOrd="0" presId="urn:microsoft.com/office/officeart/2018/2/layout/IconVerticalSolidList"/>
    <dgm:cxn modelId="{FB98E1C8-22ED-485C-BD0D-9E48B485EFD0}" srcId="{1F126F06-01C2-45F4-8018-212922501CA5}" destId="{52B5FE29-0F2E-4ABD-9A36-CE95A4A91B44}" srcOrd="1" destOrd="0" parTransId="{0E3091D7-3AF0-4DE7-9CD2-190B09145A53}" sibTransId="{7BC0FC58-CF01-43A0-B7BB-B89A21414E59}"/>
    <dgm:cxn modelId="{F07B2FE6-09CC-472D-A337-0DB87C99B5D8}" type="presOf" srcId="{5BD42D0F-53FE-4636-8738-F957B2C9B4D9}" destId="{7BDD04FC-8584-4059-B477-30E1DDC6B552}" srcOrd="0" destOrd="0" presId="urn:microsoft.com/office/officeart/2018/2/layout/IconVerticalSolidList"/>
    <dgm:cxn modelId="{46D138F6-3B48-4682-AABE-B8C973A30FA8}" type="presOf" srcId="{52B5FE29-0F2E-4ABD-9A36-CE95A4A91B44}" destId="{7BDD04FC-8584-4059-B477-30E1DDC6B552}" srcOrd="0" destOrd="1" presId="urn:microsoft.com/office/officeart/2018/2/layout/IconVerticalSolidList"/>
    <dgm:cxn modelId="{6146E0F8-B47B-4B52-B7A0-6A1BFFF2C3EB}" type="presOf" srcId="{C616C0FF-429F-4572-B0C5-B1AAEAC29067}" destId="{BA9C2C5E-8DFD-41F0-9B76-2AE279E07156}" srcOrd="0" destOrd="0" presId="urn:microsoft.com/office/officeart/2018/2/layout/IconVerticalSolidList"/>
    <dgm:cxn modelId="{A1B949FC-DE2F-43B4-9087-1776DA2C3B70}" type="presParOf" srcId="{BA9C2C5E-8DFD-41F0-9B76-2AE279E07156}" destId="{230A9BE3-8F07-4490-89BA-295A7F7ED25E}" srcOrd="0" destOrd="0" presId="urn:microsoft.com/office/officeart/2018/2/layout/IconVerticalSolidList"/>
    <dgm:cxn modelId="{D104AEE2-13E7-446F-8C94-462046003668}" type="presParOf" srcId="{230A9BE3-8F07-4490-89BA-295A7F7ED25E}" destId="{D7D310F2-EEB3-4BA1-8908-78CD1533D686}" srcOrd="0" destOrd="0" presId="urn:microsoft.com/office/officeart/2018/2/layout/IconVerticalSolidList"/>
    <dgm:cxn modelId="{742946EF-3C2D-4664-AEE3-C4DF822E530A}" type="presParOf" srcId="{230A9BE3-8F07-4490-89BA-295A7F7ED25E}" destId="{48BB0C73-24C1-441F-8C7A-8FF0A8AE8E80}" srcOrd="1" destOrd="0" presId="urn:microsoft.com/office/officeart/2018/2/layout/IconVerticalSolidList"/>
    <dgm:cxn modelId="{90EF299D-2209-40D7-86CA-5ECA1C4815F3}" type="presParOf" srcId="{230A9BE3-8F07-4490-89BA-295A7F7ED25E}" destId="{B67D1CAC-B6F0-4302-BA44-5FC8B9666088}" srcOrd="2" destOrd="0" presId="urn:microsoft.com/office/officeart/2018/2/layout/IconVerticalSolidList"/>
    <dgm:cxn modelId="{0A0268E6-FC7C-48B0-BEA9-2175CDAF1DE8}" type="presParOf" srcId="{230A9BE3-8F07-4490-89BA-295A7F7ED25E}" destId="{FFDF638F-F498-497B-901E-69DB6021482A}" srcOrd="3" destOrd="0" presId="urn:microsoft.com/office/officeart/2018/2/layout/IconVerticalSolidList"/>
    <dgm:cxn modelId="{60568A74-F7C0-4B69-8E2E-9A68CC972976}" type="presParOf" srcId="{BA9C2C5E-8DFD-41F0-9B76-2AE279E07156}" destId="{ED152468-EDDE-43E1-AFED-23BA3E1B1703}" srcOrd="1" destOrd="0" presId="urn:microsoft.com/office/officeart/2018/2/layout/IconVerticalSolidList"/>
    <dgm:cxn modelId="{18AF514A-38EB-4552-AB0F-83ADF8DDCEE1}" type="presParOf" srcId="{BA9C2C5E-8DFD-41F0-9B76-2AE279E07156}" destId="{19F4C9EF-FCE2-4454-B75B-2E55A94A8499}" srcOrd="2" destOrd="0" presId="urn:microsoft.com/office/officeart/2018/2/layout/IconVerticalSolidList"/>
    <dgm:cxn modelId="{4676BE47-320C-40BA-B0C6-1721A92EF313}" type="presParOf" srcId="{19F4C9EF-FCE2-4454-B75B-2E55A94A8499}" destId="{433D0174-646C-4FFD-BE69-AB0995EA7970}" srcOrd="0" destOrd="0" presId="urn:microsoft.com/office/officeart/2018/2/layout/IconVerticalSolidList"/>
    <dgm:cxn modelId="{95B2B67B-6ED2-46D6-9606-C859811E6F7F}" type="presParOf" srcId="{19F4C9EF-FCE2-4454-B75B-2E55A94A8499}" destId="{EE4A249C-AD87-44DF-BCA1-BDBB29E6B2A5}" srcOrd="1" destOrd="0" presId="urn:microsoft.com/office/officeart/2018/2/layout/IconVerticalSolidList"/>
    <dgm:cxn modelId="{F9CCB986-BF22-4ADE-9EE2-5EDCDFB4EF94}" type="presParOf" srcId="{19F4C9EF-FCE2-4454-B75B-2E55A94A8499}" destId="{5320F211-5587-4602-9634-7BE890CF96EB}" srcOrd="2" destOrd="0" presId="urn:microsoft.com/office/officeart/2018/2/layout/IconVerticalSolidList"/>
    <dgm:cxn modelId="{10BC899E-1EB3-4255-84F0-0713C1058CFE}" type="presParOf" srcId="{19F4C9EF-FCE2-4454-B75B-2E55A94A8499}" destId="{126BDAEE-5E69-478A-B8DD-99B8A5C6A40D}" srcOrd="3" destOrd="0" presId="urn:microsoft.com/office/officeart/2018/2/layout/IconVerticalSolidList"/>
    <dgm:cxn modelId="{CEE1631A-3184-41BA-A143-64163A3A0456}" type="presParOf" srcId="{19F4C9EF-FCE2-4454-B75B-2E55A94A8499}" destId="{7BDD04FC-8584-4059-B477-30E1DDC6B55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DBA6717-5936-4F2A-BEB4-AF6A0875331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AF146E4-6738-4E4A-9E8F-9023F8DAC1BD}">
      <dgm:prSet/>
      <dgm:spPr/>
      <dgm:t>
        <a:bodyPr/>
        <a:lstStyle/>
        <a:p>
          <a:r>
            <a:rPr lang="en-US" b="1"/>
            <a:t>What it means:</a:t>
          </a:r>
          <a:br>
            <a:rPr lang="en-US"/>
          </a:br>
          <a:r>
            <a:rPr lang="en-US"/>
            <a:t>In short-channel MOSFETs, carriers (electrons/holes) get accelerated to very high energy due to strong electric fields near the drain.</a:t>
          </a:r>
          <a:br>
            <a:rPr lang="en-US"/>
          </a:br>
          <a:r>
            <a:rPr lang="en-US"/>
            <a:t>These high-energy carriers are called </a:t>
          </a:r>
          <a:r>
            <a:rPr lang="en-US" b="1"/>
            <a:t>hot carriers</a:t>
          </a:r>
          <a:r>
            <a:rPr lang="en-US"/>
            <a:t>.</a:t>
          </a:r>
        </a:p>
      </dgm:t>
    </dgm:pt>
    <dgm:pt modelId="{9DF0379D-407D-4649-BA06-522BF90AE506}" type="parTrans" cxnId="{60E7045E-8402-4413-88A2-8600491FCCC8}">
      <dgm:prSet/>
      <dgm:spPr/>
      <dgm:t>
        <a:bodyPr/>
        <a:lstStyle/>
        <a:p>
          <a:endParaRPr lang="en-US"/>
        </a:p>
      </dgm:t>
    </dgm:pt>
    <dgm:pt modelId="{8DBF6CE3-3503-44A5-9AD4-8E951B4A1DD6}" type="sibTrans" cxnId="{60E7045E-8402-4413-88A2-8600491FCCC8}">
      <dgm:prSet/>
      <dgm:spPr/>
      <dgm:t>
        <a:bodyPr/>
        <a:lstStyle/>
        <a:p>
          <a:endParaRPr lang="en-US"/>
        </a:p>
      </dgm:t>
    </dgm:pt>
    <dgm:pt modelId="{76096639-141B-4211-BDFD-216B80438B49}">
      <dgm:prSet/>
      <dgm:spPr/>
      <dgm:t>
        <a:bodyPr/>
        <a:lstStyle/>
        <a:p>
          <a:r>
            <a:rPr lang="en-US" b="1"/>
            <a:t>Effect:</a:t>
          </a:r>
          <a:endParaRPr lang="en-US"/>
        </a:p>
      </dgm:t>
    </dgm:pt>
    <dgm:pt modelId="{DBDC7ED8-CAB6-47E5-A7D1-0CED82AB42BA}" type="parTrans" cxnId="{CEE5D7A1-2703-4E40-A987-44B9027C38AC}">
      <dgm:prSet/>
      <dgm:spPr/>
      <dgm:t>
        <a:bodyPr/>
        <a:lstStyle/>
        <a:p>
          <a:endParaRPr lang="en-US"/>
        </a:p>
      </dgm:t>
    </dgm:pt>
    <dgm:pt modelId="{01D12C85-2534-4E23-8845-1314AD0EDF74}" type="sibTrans" cxnId="{CEE5D7A1-2703-4E40-A987-44B9027C38AC}">
      <dgm:prSet/>
      <dgm:spPr/>
      <dgm:t>
        <a:bodyPr/>
        <a:lstStyle/>
        <a:p>
          <a:endParaRPr lang="en-US"/>
        </a:p>
      </dgm:t>
    </dgm:pt>
    <dgm:pt modelId="{F54462B1-F973-4987-8B3F-0491A0D5A3E7}">
      <dgm:prSet/>
      <dgm:spPr/>
      <dgm:t>
        <a:bodyPr/>
        <a:lstStyle/>
        <a:p>
          <a:r>
            <a:rPr lang="en-US"/>
            <a:t>They can get trapped in the gate oxide.</a:t>
          </a:r>
        </a:p>
      </dgm:t>
    </dgm:pt>
    <dgm:pt modelId="{49D26B77-5A84-4136-A98E-A2135B45ECB5}" type="parTrans" cxnId="{5905E527-8F0D-4AFB-871C-5B4F4861114E}">
      <dgm:prSet/>
      <dgm:spPr/>
      <dgm:t>
        <a:bodyPr/>
        <a:lstStyle/>
        <a:p>
          <a:endParaRPr lang="en-US"/>
        </a:p>
      </dgm:t>
    </dgm:pt>
    <dgm:pt modelId="{AC2A950B-F9E2-485A-B181-5F17DA17FFF7}" type="sibTrans" cxnId="{5905E527-8F0D-4AFB-871C-5B4F4861114E}">
      <dgm:prSet/>
      <dgm:spPr/>
      <dgm:t>
        <a:bodyPr/>
        <a:lstStyle/>
        <a:p>
          <a:endParaRPr lang="en-US"/>
        </a:p>
      </dgm:t>
    </dgm:pt>
    <dgm:pt modelId="{A8CB2444-2E7E-44B5-884E-C49B37A487BB}">
      <dgm:prSet/>
      <dgm:spPr/>
      <dgm:t>
        <a:bodyPr/>
        <a:lstStyle/>
        <a:p>
          <a:r>
            <a:rPr lang="en-US" dirty="0"/>
            <a:t>This degrades performance over time (shifts Vth, reduces mobility).</a:t>
          </a:r>
        </a:p>
      </dgm:t>
    </dgm:pt>
    <dgm:pt modelId="{FDE993CC-5A29-41DA-BF18-FDB5B7755D4F}" type="parTrans" cxnId="{1568D7D3-5EE0-4207-81F5-3CF421EFAD4D}">
      <dgm:prSet/>
      <dgm:spPr/>
      <dgm:t>
        <a:bodyPr/>
        <a:lstStyle/>
        <a:p>
          <a:endParaRPr lang="en-US"/>
        </a:p>
      </dgm:t>
    </dgm:pt>
    <dgm:pt modelId="{BCBCCBCF-EA0B-4F42-8B49-623FA9024421}" type="sibTrans" cxnId="{1568D7D3-5EE0-4207-81F5-3CF421EFAD4D}">
      <dgm:prSet/>
      <dgm:spPr/>
      <dgm:t>
        <a:bodyPr/>
        <a:lstStyle/>
        <a:p>
          <a:endParaRPr lang="en-US"/>
        </a:p>
      </dgm:t>
    </dgm:pt>
    <dgm:pt modelId="{AAAD0F54-938B-46F6-B648-23F0C87BF296}">
      <dgm:prSet/>
      <dgm:spPr/>
      <dgm:t>
        <a:bodyPr/>
        <a:lstStyle/>
        <a:p>
          <a:r>
            <a:rPr lang="en-US"/>
            <a:t>Long-term reliability problem.</a:t>
          </a:r>
        </a:p>
      </dgm:t>
    </dgm:pt>
    <dgm:pt modelId="{BF038EEB-C82E-4BCA-9EB9-9C00AD8622C3}" type="parTrans" cxnId="{B920C057-0016-45B5-8AEA-ABF7C1FDA534}">
      <dgm:prSet/>
      <dgm:spPr/>
      <dgm:t>
        <a:bodyPr/>
        <a:lstStyle/>
        <a:p>
          <a:endParaRPr lang="en-US"/>
        </a:p>
      </dgm:t>
    </dgm:pt>
    <dgm:pt modelId="{544F8380-99AE-4A82-A15A-2176B2EA5FF0}" type="sibTrans" cxnId="{B920C057-0016-45B5-8AEA-ABF7C1FDA534}">
      <dgm:prSet/>
      <dgm:spPr/>
      <dgm:t>
        <a:bodyPr/>
        <a:lstStyle/>
        <a:p>
          <a:endParaRPr lang="en-US"/>
        </a:p>
      </dgm:t>
    </dgm:pt>
    <dgm:pt modelId="{C9D49512-08C8-463D-BA20-6447EE81A6CD}">
      <dgm:prSet/>
      <dgm:spPr/>
      <dgm:t>
        <a:bodyPr/>
        <a:lstStyle/>
        <a:p>
          <a:r>
            <a:rPr lang="en-US" b="1"/>
            <a:t>Analogy:</a:t>
          </a:r>
          <a:br>
            <a:rPr lang="en-US"/>
          </a:br>
          <a:r>
            <a:rPr lang="en-US"/>
            <a:t>Like over-speeding cars on a highway → some crash into barriers (oxide), damaging the road.</a:t>
          </a:r>
        </a:p>
      </dgm:t>
    </dgm:pt>
    <dgm:pt modelId="{556563DB-F90B-4D41-9B71-82853EC7CE9D}" type="parTrans" cxnId="{8FD7136D-4060-4C06-9AF9-D5C30A30E906}">
      <dgm:prSet/>
      <dgm:spPr/>
      <dgm:t>
        <a:bodyPr/>
        <a:lstStyle/>
        <a:p>
          <a:endParaRPr lang="en-US"/>
        </a:p>
      </dgm:t>
    </dgm:pt>
    <dgm:pt modelId="{28E217AB-6F47-4F99-B8F1-B1979400125B}" type="sibTrans" cxnId="{8FD7136D-4060-4C06-9AF9-D5C30A30E906}">
      <dgm:prSet/>
      <dgm:spPr/>
      <dgm:t>
        <a:bodyPr/>
        <a:lstStyle/>
        <a:p>
          <a:endParaRPr lang="en-US"/>
        </a:p>
      </dgm:t>
    </dgm:pt>
    <dgm:pt modelId="{B3906399-0A4F-49B3-A545-86906D3B4B50}" type="pres">
      <dgm:prSet presAssocID="{7DBA6717-5936-4F2A-BEB4-AF6A0875331F}" presName="outerComposite" presStyleCnt="0">
        <dgm:presLayoutVars>
          <dgm:chMax val="5"/>
          <dgm:dir/>
          <dgm:resizeHandles val="exact"/>
        </dgm:presLayoutVars>
      </dgm:prSet>
      <dgm:spPr/>
    </dgm:pt>
    <dgm:pt modelId="{E77EDFE3-2495-4815-923E-296DAD15508A}" type="pres">
      <dgm:prSet presAssocID="{7DBA6717-5936-4F2A-BEB4-AF6A0875331F}" presName="dummyMaxCanvas" presStyleCnt="0">
        <dgm:presLayoutVars/>
      </dgm:prSet>
      <dgm:spPr/>
    </dgm:pt>
    <dgm:pt modelId="{E850AC1E-E3F8-4D0F-A6C9-216BC1AA20D5}" type="pres">
      <dgm:prSet presAssocID="{7DBA6717-5936-4F2A-BEB4-AF6A0875331F}" presName="ThreeNodes_1" presStyleLbl="node1" presStyleIdx="0" presStyleCnt="3">
        <dgm:presLayoutVars>
          <dgm:bulletEnabled val="1"/>
        </dgm:presLayoutVars>
      </dgm:prSet>
      <dgm:spPr/>
    </dgm:pt>
    <dgm:pt modelId="{D4D382A4-6DBA-461B-96F6-DE3A9B1E248E}" type="pres">
      <dgm:prSet presAssocID="{7DBA6717-5936-4F2A-BEB4-AF6A0875331F}" presName="ThreeNodes_2" presStyleLbl="node1" presStyleIdx="1" presStyleCnt="3">
        <dgm:presLayoutVars>
          <dgm:bulletEnabled val="1"/>
        </dgm:presLayoutVars>
      </dgm:prSet>
      <dgm:spPr/>
    </dgm:pt>
    <dgm:pt modelId="{7753BB2D-C306-4FA1-936C-F13149036AAF}" type="pres">
      <dgm:prSet presAssocID="{7DBA6717-5936-4F2A-BEB4-AF6A0875331F}" presName="ThreeNodes_3" presStyleLbl="node1" presStyleIdx="2" presStyleCnt="3">
        <dgm:presLayoutVars>
          <dgm:bulletEnabled val="1"/>
        </dgm:presLayoutVars>
      </dgm:prSet>
      <dgm:spPr/>
    </dgm:pt>
    <dgm:pt modelId="{C52CFECA-20EC-4613-9238-A25D90EAD0BF}" type="pres">
      <dgm:prSet presAssocID="{7DBA6717-5936-4F2A-BEB4-AF6A0875331F}" presName="ThreeConn_1-2" presStyleLbl="fgAccFollowNode1" presStyleIdx="0" presStyleCnt="2">
        <dgm:presLayoutVars>
          <dgm:bulletEnabled val="1"/>
        </dgm:presLayoutVars>
      </dgm:prSet>
      <dgm:spPr/>
    </dgm:pt>
    <dgm:pt modelId="{B8AAD6C5-DDD2-413F-9E03-DC5CDE0FAAAB}" type="pres">
      <dgm:prSet presAssocID="{7DBA6717-5936-4F2A-BEB4-AF6A0875331F}" presName="ThreeConn_2-3" presStyleLbl="fgAccFollowNode1" presStyleIdx="1" presStyleCnt="2">
        <dgm:presLayoutVars>
          <dgm:bulletEnabled val="1"/>
        </dgm:presLayoutVars>
      </dgm:prSet>
      <dgm:spPr/>
    </dgm:pt>
    <dgm:pt modelId="{D49276C4-F8E5-409C-B858-2CFC8975FB7F}" type="pres">
      <dgm:prSet presAssocID="{7DBA6717-5936-4F2A-BEB4-AF6A0875331F}" presName="ThreeNodes_1_text" presStyleLbl="node1" presStyleIdx="2" presStyleCnt="3">
        <dgm:presLayoutVars>
          <dgm:bulletEnabled val="1"/>
        </dgm:presLayoutVars>
      </dgm:prSet>
      <dgm:spPr/>
    </dgm:pt>
    <dgm:pt modelId="{9962B24B-F9E9-49BF-9265-8908AAE8196C}" type="pres">
      <dgm:prSet presAssocID="{7DBA6717-5936-4F2A-BEB4-AF6A0875331F}" presName="ThreeNodes_2_text" presStyleLbl="node1" presStyleIdx="2" presStyleCnt="3">
        <dgm:presLayoutVars>
          <dgm:bulletEnabled val="1"/>
        </dgm:presLayoutVars>
      </dgm:prSet>
      <dgm:spPr/>
    </dgm:pt>
    <dgm:pt modelId="{37E7709D-3807-4513-9AC4-91B8A8A0DC61}" type="pres">
      <dgm:prSet presAssocID="{7DBA6717-5936-4F2A-BEB4-AF6A0875331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8191F12-D5B2-47DC-AC99-900C81C17768}" type="presOf" srcId="{01D12C85-2534-4E23-8845-1314AD0EDF74}" destId="{B8AAD6C5-DDD2-413F-9E03-DC5CDE0FAAAB}" srcOrd="0" destOrd="0" presId="urn:microsoft.com/office/officeart/2005/8/layout/vProcess5"/>
    <dgm:cxn modelId="{8BE9DC19-5B39-4298-B4D1-98E9A2EB2324}" type="presOf" srcId="{C9D49512-08C8-463D-BA20-6447EE81A6CD}" destId="{7753BB2D-C306-4FA1-936C-F13149036AAF}" srcOrd="0" destOrd="0" presId="urn:microsoft.com/office/officeart/2005/8/layout/vProcess5"/>
    <dgm:cxn modelId="{5905E527-8F0D-4AFB-871C-5B4F4861114E}" srcId="{76096639-141B-4211-BDFD-216B80438B49}" destId="{F54462B1-F973-4987-8B3F-0491A0D5A3E7}" srcOrd="0" destOrd="0" parTransId="{49D26B77-5A84-4136-A98E-A2135B45ECB5}" sibTransId="{AC2A950B-F9E2-485A-B181-5F17DA17FFF7}"/>
    <dgm:cxn modelId="{01F85736-451A-46DA-9A1E-0E18182E1F7F}" type="presOf" srcId="{AAAD0F54-938B-46F6-B648-23F0C87BF296}" destId="{D4D382A4-6DBA-461B-96F6-DE3A9B1E248E}" srcOrd="0" destOrd="3" presId="urn:microsoft.com/office/officeart/2005/8/layout/vProcess5"/>
    <dgm:cxn modelId="{60E7045E-8402-4413-88A2-8600491FCCC8}" srcId="{7DBA6717-5936-4F2A-BEB4-AF6A0875331F}" destId="{EAF146E4-6738-4E4A-9E8F-9023F8DAC1BD}" srcOrd="0" destOrd="0" parTransId="{9DF0379D-407D-4649-BA06-522BF90AE506}" sibTransId="{8DBF6CE3-3503-44A5-9AD4-8E951B4A1DD6}"/>
    <dgm:cxn modelId="{08406C44-6567-4903-80A8-7ABCC69DAF8B}" type="presOf" srcId="{C9D49512-08C8-463D-BA20-6447EE81A6CD}" destId="{37E7709D-3807-4513-9AC4-91B8A8A0DC61}" srcOrd="1" destOrd="0" presId="urn:microsoft.com/office/officeart/2005/8/layout/vProcess5"/>
    <dgm:cxn modelId="{8FD7136D-4060-4C06-9AF9-D5C30A30E906}" srcId="{7DBA6717-5936-4F2A-BEB4-AF6A0875331F}" destId="{C9D49512-08C8-463D-BA20-6447EE81A6CD}" srcOrd="2" destOrd="0" parTransId="{556563DB-F90B-4D41-9B71-82853EC7CE9D}" sibTransId="{28E217AB-6F47-4F99-B8F1-B1979400125B}"/>
    <dgm:cxn modelId="{B920C057-0016-45B5-8AEA-ABF7C1FDA534}" srcId="{76096639-141B-4211-BDFD-216B80438B49}" destId="{AAAD0F54-938B-46F6-B648-23F0C87BF296}" srcOrd="2" destOrd="0" parTransId="{BF038EEB-C82E-4BCA-9EB9-9C00AD8622C3}" sibTransId="{544F8380-99AE-4A82-A15A-2176B2EA5FF0}"/>
    <dgm:cxn modelId="{364AB159-9D46-47DF-8F21-AE8B9386B805}" type="presOf" srcId="{F54462B1-F973-4987-8B3F-0491A0D5A3E7}" destId="{9962B24B-F9E9-49BF-9265-8908AAE8196C}" srcOrd="1" destOrd="1" presId="urn:microsoft.com/office/officeart/2005/8/layout/vProcess5"/>
    <dgm:cxn modelId="{EC692B7C-3E8D-4B53-B923-F1A80E6BFAC6}" type="presOf" srcId="{7DBA6717-5936-4F2A-BEB4-AF6A0875331F}" destId="{B3906399-0A4F-49B3-A545-86906D3B4B50}" srcOrd="0" destOrd="0" presId="urn:microsoft.com/office/officeart/2005/8/layout/vProcess5"/>
    <dgm:cxn modelId="{EBC7697F-F17E-4233-90A1-CE8772850ED2}" type="presOf" srcId="{76096639-141B-4211-BDFD-216B80438B49}" destId="{D4D382A4-6DBA-461B-96F6-DE3A9B1E248E}" srcOrd="0" destOrd="0" presId="urn:microsoft.com/office/officeart/2005/8/layout/vProcess5"/>
    <dgm:cxn modelId="{29C2BF99-3B6C-42E0-ACD8-993229C8396A}" type="presOf" srcId="{F54462B1-F973-4987-8B3F-0491A0D5A3E7}" destId="{D4D382A4-6DBA-461B-96F6-DE3A9B1E248E}" srcOrd="0" destOrd="1" presId="urn:microsoft.com/office/officeart/2005/8/layout/vProcess5"/>
    <dgm:cxn modelId="{1124679B-4E26-483A-B01B-18B5F130797D}" type="presOf" srcId="{EAF146E4-6738-4E4A-9E8F-9023F8DAC1BD}" destId="{D49276C4-F8E5-409C-B858-2CFC8975FB7F}" srcOrd="1" destOrd="0" presId="urn:microsoft.com/office/officeart/2005/8/layout/vProcess5"/>
    <dgm:cxn modelId="{CEE5D7A1-2703-4E40-A987-44B9027C38AC}" srcId="{7DBA6717-5936-4F2A-BEB4-AF6A0875331F}" destId="{76096639-141B-4211-BDFD-216B80438B49}" srcOrd="1" destOrd="0" parTransId="{DBDC7ED8-CAB6-47E5-A7D1-0CED82AB42BA}" sibTransId="{01D12C85-2534-4E23-8845-1314AD0EDF74}"/>
    <dgm:cxn modelId="{D83B04AA-E213-4C20-AC0F-D577E11A26DD}" type="presOf" srcId="{AAAD0F54-938B-46F6-B648-23F0C87BF296}" destId="{9962B24B-F9E9-49BF-9265-8908AAE8196C}" srcOrd="1" destOrd="3" presId="urn:microsoft.com/office/officeart/2005/8/layout/vProcess5"/>
    <dgm:cxn modelId="{208778B0-9201-46B0-BF7B-628DB0048BF6}" type="presOf" srcId="{EAF146E4-6738-4E4A-9E8F-9023F8DAC1BD}" destId="{E850AC1E-E3F8-4D0F-A6C9-216BC1AA20D5}" srcOrd="0" destOrd="0" presId="urn:microsoft.com/office/officeart/2005/8/layout/vProcess5"/>
    <dgm:cxn modelId="{FF6BD9B2-5F50-4961-ABA8-72BA09D3C1DF}" type="presOf" srcId="{A8CB2444-2E7E-44B5-884E-C49B37A487BB}" destId="{9962B24B-F9E9-49BF-9265-8908AAE8196C}" srcOrd="1" destOrd="2" presId="urn:microsoft.com/office/officeart/2005/8/layout/vProcess5"/>
    <dgm:cxn modelId="{FAED56CF-4EEE-421C-B308-9B6F05A521A0}" type="presOf" srcId="{A8CB2444-2E7E-44B5-884E-C49B37A487BB}" destId="{D4D382A4-6DBA-461B-96F6-DE3A9B1E248E}" srcOrd="0" destOrd="2" presId="urn:microsoft.com/office/officeart/2005/8/layout/vProcess5"/>
    <dgm:cxn modelId="{1568D7D3-5EE0-4207-81F5-3CF421EFAD4D}" srcId="{76096639-141B-4211-BDFD-216B80438B49}" destId="{A8CB2444-2E7E-44B5-884E-C49B37A487BB}" srcOrd="1" destOrd="0" parTransId="{FDE993CC-5A29-41DA-BF18-FDB5B7755D4F}" sibTransId="{BCBCCBCF-EA0B-4F42-8B49-623FA9024421}"/>
    <dgm:cxn modelId="{F1034BEB-C2DD-4ED6-AE75-86CDDEA4ED36}" type="presOf" srcId="{76096639-141B-4211-BDFD-216B80438B49}" destId="{9962B24B-F9E9-49BF-9265-8908AAE8196C}" srcOrd="1" destOrd="0" presId="urn:microsoft.com/office/officeart/2005/8/layout/vProcess5"/>
    <dgm:cxn modelId="{D6AB90F1-7381-4F18-A425-572EFDA296FF}" type="presOf" srcId="{8DBF6CE3-3503-44A5-9AD4-8E951B4A1DD6}" destId="{C52CFECA-20EC-4613-9238-A25D90EAD0BF}" srcOrd="0" destOrd="0" presId="urn:microsoft.com/office/officeart/2005/8/layout/vProcess5"/>
    <dgm:cxn modelId="{E81A2D92-F74E-493F-8AC3-4381212D4590}" type="presParOf" srcId="{B3906399-0A4F-49B3-A545-86906D3B4B50}" destId="{E77EDFE3-2495-4815-923E-296DAD15508A}" srcOrd="0" destOrd="0" presId="urn:microsoft.com/office/officeart/2005/8/layout/vProcess5"/>
    <dgm:cxn modelId="{8FDDD491-7827-4159-8B75-AE1B68F0279A}" type="presParOf" srcId="{B3906399-0A4F-49B3-A545-86906D3B4B50}" destId="{E850AC1E-E3F8-4D0F-A6C9-216BC1AA20D5}" srcOrd="1" destOrd="0" presId="urn:microsoft.com/office/officeart/2005/8/layout/vProcess5"/>
    <dgm:cxn modelId="{2BAAC86F-0738-4B16-A156-775BDBA3A615}" type="presParOf" srcId="{B3906399-0A4F-49B3-A545-86906D3B4B50}" destId="{D4D382A4-6DBA-461B-96F6-DE3A9B1E248E}" srcOrd="2" destOrd="0" presId="urn:microsoft.com/office/officeart/2005/8/layout/vProcess5"/>
    <dgm:cxn modelId="{1E459D37-5F2D-4C81-B223-3F990E912DEA}" type="presParOf" srcId="{B3906399-0A4F-49B3-A545-86906D3B4B50}" destId="{7753BB2D-C306-4FA1-936C-F13149036AAF}" srcOrd="3" destOrd="0" presId="urn:microsoft.com/office/officeart/2005/8/layout/vProcess5"/>
    <dgm:cxn modelId="{2E7478C7-6D47-4F40-A991-B8EF0CD886B9}" type="presParOf" srcId="{B3906399-0A4F-49B3-A545-86906D3B4B50}" destId="{C52CFECA-20EC-4613-9238-A25D90EAD0BF}" srcOrd="4" destOrd="0" presId="urn:microsoft.com/office/officeart/2005/8/layout/vProcess5"/>
    <dgm:cxn modelId="{3C2B8F10-096B-4B87-A424-BD3FE151B356}" type="presParOf" srcId="{B3906399-0A4F-49B3-A545-86906D3B4B50}" destId="{B8AAD6C5-DDD2-413F-9E03-DC5CDE0FAAAB}" srcOrd="5" destOrd="0" presId="urn:microsoft.com/office/officeart/2005/8/layout/vProcess5"/>
    <dgm:cxn modelId="{E90F8B1A-1DC7-4B8F-97CB-248EF9E2C1CD}" type="presParOf" srcId="{B3906399-0A4F-49B3-A545-86906D3B4B50}" destId="{D49276C4-F8E5-409C-B858-2CFC8975FB7F}" srcOrd="6" destOrd="0" presId="urn:microsoft.com/office/officeart/2005/8/layout/vProcess5"/>
    <dgm:cxn modelId="{AB0A3521-264F-4E73-BB27-52A2B1BE15EA}" type="presParOf" srcId="{B3906399-0A4F-49B3-A545-86906D3B4B50}" destId="{9962B24B-F9E9-49BF-9265-8908AAE8196C}" srcOrd="7" destOrd="0" presId="urn:microsoft.com/office/officeart/2005/8/layout/vProcess5"/>
    <dgm:cxn modelId="{9AF06571-0DEE-49E8-A172-2C492B2396C7}" type="presParOf" srcId="{B3906399-0A4F-49B3-A545-86906D3B4B50}" destId="{37E7709D-3807-4513-9AC4-91B8A8A0DC6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EDF5E53-7B12-4EBC-A2CE-7D240D3325E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79AEF10-B9C0-4E02-9CFD-B8141A034410}">
      <dgm:prSet/>
      <dgm:spPr/>
      <dgm:t>
        <a:bodyPr/>
        <a:lstStyle/>
        <a:p>
          <a:r>
            <a:rPr lang="en-US" b="1"/>
            <a:t>What it means:</a:t>
          </a:r>
          <a:br>
            <a:rPr lang="en-US"/>
          </a:br>
          <a:r>
            <a:rPr lang="en-US"/>
            <a:t>At the interface between the silicon and gate oxide, there can be </a:t>
          </a:r>
          <a:r>
            <a:rPr lang="en-US" b="1"/>
            <a:t>trapped charges</a:t>
          </a:r>
          <a:r>
            <a:rPr lang="en-US"/>
            <a:t> or </a:t>
          </a:r>
          <a:r>
            <a:rPr lang="en-US" b="1"/>
            <a:t>defects</a:t>
          </a:r>
          <a:r>
            <a:rPr lang="en-US"/>
            <a:t>.</a:t>
          </a:r>
          <a:br>
            <a:rPr lang="en-US"/>
          </a:br>
          <a:r>
            <a:rPr lang="en-US"/>
            <a:t>These interact with carriers in the channel.</a:t>
          </a:r>
        </a:p>
      </dgm:t>
    </dgm:pt>
    <dgm:pt modelId="{D1D41619-DF67-4298-949B-8A082BFDE394}" type="parTrans" cxnId="{0CF10854-01B4-4C90-B98E-BA5F56C2F0E0}">
      <dgm:prSet/>
      <dgm:spPr/>
      <dgm:t>
        <a:bodyPr/>
        <a:lstStyle/>
        <a:p>
          <a:endParaRPr lang="en-US"/>
        </a:p>
      </dgm:t>
    </dgm:pt>
    <dgm:pt modelId="{93A768E2-15F8-4869-BE73-8C00C3B03A66}" type="sibTrans" cxnId="{0CF10854-01B4-4C90-B98E-BA5F56C2F0E0}">
      <dgm:prSet/>
      <dgm:spPr/>
      <dgm:t>
        <a:bodyPr/>
        <a:lstStyle/>
        <a:p>
          <a:endParaRPr lang="en-US"/>
        </a:p>
      </dgm:t>
    </dgm:pt>
    <dgm:pt modelId="{5595C482-1C8E-4201-A356-854A6C9249C5}">
      <dgm:prSet/>
      <dgm:spPr/>
      <dgm:t>
        <a:bodyPr/>
        <a:lstStyle/>
        <a:p>
          <a:r>
            <a:rPr lang="en-US" b="1"/>
            <a:t>Effect:</a:t>
          </a:r>
          <a:endParaRPr lang="en-US"/>
        </a:p>
      </dgm:t>
    </dgm:pt>
    <dgm:pt modelId="{96EDB15E-1B14-473E-A29B-57AFCD558AF0}" type="parTrans" cxnId="{3C71874C-0917-40D1-8C7C-6CDF00D054D7}">
      <dgm:prSet/>
      <dgm:spPr/>
      <dgm:t>
        <a:bodyPr/>
        <a:lstStyle/>
        <a:p>
          <a:endParaRPr lang="en-US"/>
        </a:p>
      </dgm:t>
    </dgm:pt>
    <dgm:pt modelId="{C421BD1D-BB5B-488F-A870-C99EFB47DB90}" type="sibTrans" cxnId="{3C71874C-0917-40D1-8C7C-6CDF00D054D7}">
      <dgm:prSet/>
      <dgm:spPr/>
      <dgm:t>
        <a:bodyPr/>
        <a:lstStyle/>
        <a:p>
          <a:endParaRPr lang="en-US"/>
        </a:p>
      </dgm:t>
    </dgm:pt>
    <dgm:pt modelId="{3E06AE87-7C9A-45CF-B1A6-87F59079913E}">
      <dgm:prSet/>
      <dgm:spPr/>
      <dgm:t>
        <a:bodyPr/>
        <a:lstStyle/>
        <a:p>
          <a:r>
            <a:rPr lang="en-US"/>
            <a:t>Reduces mobility.</a:t>
          </a:r>
        </a:p>
      </dgm:t>
    </dgm:pt>
    <dgm:pt modelId="{D2EF1B1F-0BCE-46B0-9145-DB8CC6CCA693}" type="parTrans" cxnId="{4FC6834D-8CAA-4E96-8122-A9AC2F95463D}">
      <dgm:prSet/>
      <dgm:spPr/>
      <dgm:t>
        <a:bodyPr/>
        <a:lstStyle/>
        <a:p>
          <a:endParaRPr lang="en-US"/>
        </a:p>
      </dgm:t>
    </dgm:pt>
    <dgm:pt modelId="{A410EA0C-EB0D-4A04-8282-26B24EEE0D74}" type="sibTrans" cxnId="{4FC6834D-8CAA-4E96-8122-A9AC2F95463D}">
      <dgm:prSet/>
      <dgm:spPr/>
      <dgm:t>
        <a:bodyPr/>
        <a:lstStyle/>
        <a:p>
          <a:endParaRPr lang="en-US"/>
        </a:p>
      </dgm:t>
    </dgm:pt>
    <dgm:pt modelId="{8533131A-2E9A-45E2-B76F-C0A5796CB8BA}">
      <dgm:prSet/>
      <dgm:spPr/>
      <dgm:t>
        <a:bodyPr/>
        <a:lstStyle/>
        <a:p>
          <a:r>
            <a:rPr lang="en-US"/>
            <a:t>Causes instability in threshold voltage.</a:t>
          </a:r>
        </a:p>
      </dgm:t>
    </dgm:pt>
    <dgm:pt modelId="{26BEA6FB-E322-4F51-8374-AE2624018DA4}" type="parTrans" cxnId="{934B5BEC-6B55-435C-8E17-B41AEC354960}">
      <dgm:prSet/>
      <dgm:spPr/>
      <dgm:t>
        <a:bodyPr/>
        <a:lstStyle/>
        <a:p>
          <a:endParaRPr lang="en-US"/>
        </a:p>
      </dgm:t>
    </dgm:pt>
    <dgm:pt modelId="{2AA5CD25-74A9-4C31-A95D-A78A980AC294}" type="sibTrans" cxnId="{934B5BEC-6B55-435C-8E17-B41AEC354960}">
      <dgm:prSet/>
      <dgm:spPr/>
      <dgm:t>
        <a:bodyPr/>
        <a:lstStyle/>
        <a:p>
          <a:endParaRPr lang="en-US"/>
        </a:p>
      </dgm:t>
    </dgm:pt>
    <dgm:pt modelId="{37CB6CE1-9F03-4E98-A7E6-2E010CF2BA49}">
      <dgm:prSet/>
      <dgm:spPr/>
      <dgm:t>
        <a:bodyPr/>
        <a:lstStyle/>
        <a:p>
          <a:r>
            <a:rPr lang="en-US"/>
            <a:t>Leads to noise and unreliable operation.</a:t>
          </a:r>
        </a:p>
      </dgm:t>
    </dgm:pt>
    <dgm:pt modelId="{9B0196C9-7C76-4CD6-90C8-A7C05D5093BF}" type="parTrans" cxnId="{3F94DC8B-C940-4302-BD70-6A4F2E029FEF}">
      <dgm:prSet/>
      <dgm:spPr/>
      <dgm:t>
        <a:bodyPr/>
        <a:lstStyle/>
        <a:p>
          <a:endParaRPr lang="en-US"/>
        </a:p>
      </dgm:t>
    </dgm:pt>
    <dgm:pt modelId="{BBFD22AC-F2FA-4F55-872F-C26FA372F4C6}" type="sibTrans" cxnId="{3F94DC8B-C940-4302-BD70-6A4F2E029FEF}">
      <dgm:prSet/>
      <dgm:spPr/>
      <dgm:t>
        <a:bodyPr/>
        <a:lstStyle/>
        <a:p>
          <a:endParaRPr lang="en-US"/>
        </a:p>
      </dgm:t>
    </dgm:pt>
    <dgm:pt modelId="{B027558B-6782-443B-AB25-2B9F3FCD8581}">
      <dgm:prSet/>
      <dgm:spPr/>
      <dgm:t>
        <a:bodyPr/>
        <a:lstStyle/>
        <a:p>
          <a:r>
            <a:rPr lang="en-US" b="1"/>
            <a:t>Analogy:</a:t>
          </a:r>
          <a:br>
            <a:rPr lang="en-US"/>
          </a:br>
          <a:r>
            <a:rPr lang="en-US"/>
            <a:t>Imagine walking on a sticky floor – you get slowed down because of traps (charges).</a:t>
          </a:r>
        </a:p>
      </dgm:t>
    </dgm:pt>
    <dgm:pt modelId="{1639C2DF-EE45-4D08-A790-288A1177972F}" type="parTrans" cxnId="{2E5925FA-78EB-4199-8AA9-FC1A4F16148A}">
      <dgm:prSet/>
      <dgm:spPr/>
      <dgm:t>
        <a:bodyPr/>
        <a:lstStyle/>
        <a:p>
          <a:endParaRPr lang="en-US"/>
        </a:p>
      </dgm:t>
    </dgm:pt>
    <dgm:pt modelId="{20282658-1957-4420-9100-CF441DF61546}" type="sibTrans" cxnId="{2E5925FA-78EB-4199-8AA9-FC1A4F16148A}">
      <dgm:prSet/>
      <dgm:spPr/>
      <dgm:t>
        <a:bodyPr/>
        <a:lstStyle/>
        <a:p>
          <a:endParaRPr lang="en-US"/>
        </a:p>
      </dgm:t>
    </dgm:pt>
    <dgm:pt modelId="{800E52A5-295E-40DA-8788-39F8867E1AE1}" type="pres">
      <dgm:prSet presAssocID="{6EDF5E53-7B12-4EBC-A2CE-7D240D3325E2}" presName="linear" presStyleCnt="0">
        <dgm:presLayoutVars>
          <dgm:animLvl val="lvl"/>
          <dgm:resizeHandles val="exact"/>
        </dgm:presLayoutVars>
      </dgm:prSet>
      <dgm:spPr/>
    </dgm:pt>
    <dgm:pt modelId="{A32810A5-0B40-473E-BE0E-5FFDFFF521EC}" type="pres">
      <dgm:prSet presAssocID="{179AEF10-B9C0-4E02-9CFD-B8141A03441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8071B1-B46F-4FBE-8381-6FE6A4C48687}" type="pres">
      <dgm:prSet presAssocID="{93A768E2-15F8-4869-BE73-8C00C3B03A66}" presName="spacer" presStyleCnt="0"/>
      <dgm:spPr/>
    </dgm:pt>
    <dgm:pt modelId="{63759E54-E875-46E7-823C-AA5E6E72E7F8}" type="pres">
      <dgm:prSet presAssocID="{5595C482-1C8E-4201-A356-854A6C9249C5}" presName="parentText" presStyleLbl="node1" presStyleIdx="1" presStyleCnt="3" custScaleY="50462">
        <dgm:presLayoutVars>
          <dgm:chMax val="0"/>
          <dgm:bulletEnabled val="1"/>
        </dgm:presLayoutVars>
      </dgm:prSet>
      <dgm:spPr/>
    </dgm:pt>
    <dgm:pt modelId="{1D6D9A87-2027-4467-9072-D2D20E69D5DC}" type="pres">
      <dgm:prSet presAssocID="{5595C482-1C8E-4201-A356-854A6C9249C5}" presName="childText" presStyleLbl="revTx" presStyleIdx="0" presStyleCnt="1">
        <dgm:presLayoutVars>
          <dgm:bulletEnabled val="1"/>
        </dgm:presLayoutVars>
      </dgm:prSet>
      <dgm:spPr/>
    </dgm:pt>
    <dgm:pt modelId="{243CB758-71AC-481B-9137-6E47CE6A7C61}" type="pres">
      <dgm:prSet presAssocID="{B027558B-6782-443B-AB25-2B9F3FCD858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0226A37-76D1-41D0-AE98-0C7FDB8B1346}" type="presOf" srcId="{5595C482-1C8E-4201-A356-854A6C9249C5}" destId="{63759E54-E875-46E7-823C-AA5E6E72E7F8}" srcOrd="0" destOrd="0" presId="urn:microsoft.com/office/officeart/2005/8/layout/vList2"/>
    <dgm:cxn modelId="{3C71874C-0917-40D1-8C7C-6CDF00D054D7}" srcId="{6EDF5E53-7B12-4EBC-A2CE-7D240D3325E2}" destId="{5595C482-1C8E-4201-A356-854A6C9249C5}" srcOrd="1" destOrd="0" parTransId="{96EDB15E-1B14-473E-A29B-57AFCD558AF0}" sibTransId="{C421BD1D-BB5B-488F-A870-C99EFB47DB90}"/>
    <dgm:cxn modelId="{4FC6834D-8CAA-4E96-8122-A9AC2F95463D}" srcId="{5595C482-1C8E-4201-A356-854A6C9249C5}" destId="{3E06AE87-7C9A-45CF-B1A6-87F59079913E}" srcOrd="0" destOrd="0" parTransId="{D2EF1B1F-0BCE-46B0-9145-DB8CC6CCA693}" sibTransId="{A410EA0C-EB0D-4A04-8282-26B24EEE0D74}"/>
    <dgm:cxn modelId="{7BED5E4F-C2B4-49B6-8F95-079B0427E1AF}" type="presOf" srcId="{6EDF5E53-7B12-4EBC-A2CE-7D240D3325E2}" destId="{800E52A5-295E-40DA-8788-39F8867E1AE1}" srcOrd="0" destOrd="0" presId="urn:microsoft.com/office/officeart/2005/8/layout/vList2"/>
    <dgm:cxn modelId="{0CF10854-01B4-4C90-B98E-BA5F56C2F0E0}" srcId="{6EDF5E53-7B12-4EBC-A2CE-7D240D3325E2}" destId="{179AEF10-B9C0-4E02-9CFD-B8141A034410}" srcOrd="0" destOrd="0" parTransId="{D1D41619-DF67-4298-949B-8A082BFDE394}" sibTransId="{93A768E2-15F8-4869-BE73-8C00C3B03A66}"/>
    <dgm:cxn modelId="{980A7B7A-B2D7-4448-8A25-0E806111CAD3}" type="presOf" srcId="{37CB6CE1-9F03-4E98-A7E6-2E010CF2BA49}" destId="{1D6D9A87-2027-4467-9072-D2D20E69D5DC}" srcOrd="0" destOrd="2" presId="urn:microsoft.com/office/officeart/2005/8/layout/vList2"/>
    <dgm:cxn modelId="{3F94DC8B-C940-4302-BD70-6A4F2E029FEF}" srcId="{5595C482-1C8E-4201-A356-854A6C9249C5}" destId="{37CB6CE1-9F03-4E98-A7E6-2E010CF2BA49}" srcOrd="2" destOrd="0" parTransId="{9B0196C9-7C76-4CD6-90C8-A7C05D5093BF}" sibTransId="{BBFD22AC-F2FA-4F55-872F-C26FA372F4C6}"/>
    <dgm:cxn modelId="{E5D04997-CE31-4579-B13F-122567A6576F}" type="presOf" srcId="{B027558B-6782-443B-AB25-2B9F3FCD8581}" destId="{243CB758-71AC-481B-9137-6E47CE6A7C61}" srcOrd="0" destOrd="0" presId="urn:microsoft.com/office/officeart/2005/8/layout/vList2"/>
    <dgm:cxn modelId="{3E77F0AB-9921-4F22-BBA2-A653C50BD14F}" type="presOf" srcId="{179AEF10-B9C0-4E02-9CFD-B8141A034410}" destId="{A32810A5-0B40-473E-BE0E-5FFDFFF521EC}" srcOrd="0" destOrd="0" presId="urn:microsoft.com/office/officeart/2005/8/layout/vList2"/>
    <dgm:cxn modelId="{EBBB6FC1-EDFE-4E47-9354-C3D7295C2432}" type="presOf" srcId="{3E06AE87-7C9A-45CF-B1A6-87F59079913E}" destId="{1D6D9A87-2027-4467-9072-D2D20E69D5DC}" srcOrd="0" destOrd="0" presId="urn:microsoft.com/office/officeart/2005/8/layout/vList2"/>
    <dgm:cxn modelId="{1F84D0CE-4B91-404B-A8B7-A2CD7187E4BD}" type="presOf" srcId="{8533131A-2E9A-45E2-B76F-C0A5796CB8BA}" destId="{1D6D9A87-2027-4467-9072-D2D20E69D5DC}" srcOrd="0" destOrd="1" presId="urn:microsoft.com/office/officeart/2005/8/layout/vList2"/>
    <dgm:cxn modelId="{934B5BEC-6B55-435C-8E17-B41AEC354960}" srcId="{5595C482-1C8E-4201-A356-854A6C9249C5}" destId="{8533131A-2E9A-45E2-B76F-C0A5796CB8BA}" srcOrd="1" destOrd="0" parTransId="{26BEA6FB-E322-4F51-8374-AE2624018DA4}" sibTransId="{2AA5CD25-74A9-4C31-A95D-A78A980AC294}"/>
    <dgm:cxn modelId="{2E5925FA-78EB-4199-8AA9-FC1A4F16148A}" srcId="{6EDF5E53-7B12-4EBC-A2CE-7D240D3325E2}" destId="{B027558B-6782-443B-AB25-2B9F3FCD8581}" srcOrd="2" destOrd="0" parTransId="{1639C2DF-EE45-4D08-A790-288A1177972F}" sibTransId="{20282658-1957-4420-9100-CF441DF61546}"/>
    <dgm:cxn modelId="{87FFF2A9-4CC3-4261-8A66-F65156952529}" type="presParOf" srcId="{800E52A5-295E-40DA-8788-39F8867E1AE1}" destId="{A32810A5-0B40-473E-BE0E-5FFDFFF521EC}" srcOrd="0" destOrd="0" presId="urn:microsoft.com/office/officeart/2005/8/layout/vList2"/>
    <dgm:cxn modelId="{D5893382-EB58-4E90-9F53-EF1332BDABD8}" type="presParOf" srcId="{800E52A5-295E-40DA-8788-39F8867E1AE1}" destId="{FF8071B1-B46F-4FBE-8381-6FE6A4C48687}" srcOrd="1" destOrd="0" presId="urn:microsoft.com/office/officeart/2005/8/layout/vList2"/>
    <dgm:cxn modelId="{79CACC90-219B-4919-A6D5-BD8C39C21705}" type="presParOf" srcId="{800E52A5-295E-40DA-8788-39F8867E1AE1}" destId="{63759E54-E875-46E7-823C-AA5E6E72E7F8}" srcOrd="2" destOrd="0" presId="urn:microsoft.com/office/officeart/2005/8/layout/vList2"/>
    <dgm:cxn modelId="{B567744A-FE31-4151-BB31-184F49661C01}" type="presParOf" srcId="{800E52A5-295E-40DA-8788-39F8867E1AE1}" destId="{1D6D9A87-2027-4467-9072-D2D20E69D5DC}" srcOrd="3" destOrd="0" presId="urn:microsoft.com/office/officeart/2005/8/layout/vList2"/>
    <dgm:cxn modelId="{44240BF5-84B1-4700-8F1A-C5B946378FC5}" type="presParOf" srcId="{800E52A5-295E-40DA-8788-39F8867E1AE1}" destId="{243CB758-71AC-481B-9137-6E47CE6A7C6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2FECF56-AF82-4FA1-B3AE-9F4AA25836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59C501-473B-4086-ABDB-5C6F8DC55860}">
      <dgm:prSet/>
      <dgm:spPr/>
      <dgm:t>
        <a:bodyPr/>
        <a:lstStyle/>
        <a:p>
          <a:r>
            <a:rPr lang="en-US" b="1"/>
            <a:t>General Flow:</a:t>
          </a:r>
          <a:endParaRPr lang="en-US"/>
        </a:p>
      </dgm:t>
    </dgm:pt>
    <dgm:pt modelId="{9BF678CE-5E83-4A9A-9FC4-67DF1D0FE508}" type="parTrans" cxnId="{BE2E4AA6-8ECC-41DA-924A-F18BA830F03A}">
      <dgm:prSet/>
      <dgm:spPr/>
      <dgm:t>
        <a:bodyPr/>
        <a:lstStyle/>
        <a:p>
          <a:endParaRPr lang="en-US"/>
        </a:p>
      </dgm:t>
    </dgm:pt>
    <dgm:pt modelId="{6804F810-46CB-4148-BB02-447B935FB413}" type="sibTrans" cxnId="{BE2E4AA6-8ECC-41DA-924A-F18BA830F03A}">
      <dgm:prSet/>
      <dgm:spPr/>
      <dgm:t>
        <a:bodyPr/>
        <a:lstStyle/>
        <a:p>
          <a:endParaRPr lang="en-US"/>
        </a:p>
      </dgm:t>
    </dgm:pt>
    <dgm:pt modelId="{C009773E-2B3E-430B-8862-93CB27C09160}">
      <dgm:prSet/>
      <dgm:spPr/>
      <dgm:t>
        <a:bodyPr/>
        <a:lstStyle/>
        <a:p>
          <a:r>
            <a:rPr lang="en-US" b="1"/>
            <a:t>Oxide Growth</a:t>
          </a:r>
          <a:r>
            <a:rPr lang="en-US"/>
            <a:t> (silicon dioxide layer grown on wafer).</a:t>
          </a:r>
        </a:p>
      </dgm:t>
    </dgm:pt>
    <dgm:pt modelId="{D9DBFA81-B344-4F58-9AE8-2F381F43680F}" type="parTrans" cxnId="{17C312CD-480C-4DBD-B7C8-E234FB7DC173}">
      <dgm:prSet/>
      <dgm:spPr/>
      <dgm:t>
        <a:bodyPr/>
        <a:lstStyle/>
        <a:p>
          <a:endParaRPr lang="en-US"/>
        </a:p>
      </dgm:t>
    </dgm:pt>
    <dgm:pt modelId="{C009144D-7210-49D0-BE65-FA4CF94EBFA6}" type="sibTrans" cxnId="{17C312CD-480C-4DBD-B7C8-E234FB7DC173}">
      <dgm:prSet/>
      <dgm:spPr/>
      <dgm:t>
        <a:bodyPr/>
        <a:lstStyle/>
        <a:p>
          <a:endParaRPr lang="en-US"/>
        </a:p>
      </dgm:t>
    </dgm:pt>
    <dgm:pt modelId="{2DA2C976-5D83-4051-A07C-3FE972911057}">
      <dgm:prSet/>
      <dgm:spPr/>
      <dgm:t>
        <a:bodyPr/>
        <a:lstStyle/>
        <a:p>
          <a:r>
            <a:rPr lang="en-US" b="1"/>
            <a:t>Photolithography</a:t>
          </a:r>
          <a:r>
            <a:rPr lang="en-US"/>
            <a:t> (to define patterns).</a:t>
          </a:r>
        </a:p>
      </dgm:t>
    </dgm:pt>
    <dgm:pt modelId="{3E98D62D-2E3A-459D-80B8-DBCB642E3A84}" type="parTrans" cxnId="{D6854D12-5D5E-411F-912A-930A2E8215BE}">
      <dgm:prSet/>
      <dgm:spPr/>
      <dgm:t>
        <a:bodyPr/>
        <a:lstStyle/>
        <a:p>
          <a:endParaRPr lang="en-US"/>
        </a:p>
      </dgm:t>
    </dgm:pt>
    <dgm:pt modelId="{0ABFE748-2CAD-4409-9324-3C9A59705333}" type="sibTrans" cxnId="{D6854D12-5D5E-411F-912A-930A2E8215BE}">
      <dgm:prSet/>
      <dgm:spPr/>
      <dgm:t>
        <a:bodyPr/>
        <a:lstStyle/>
        <a:p>
          <a:endParaRPr lang="en-US"/>
        </a:p>
      </dgm:t>
    </dgm:pt>
    <dgm:pt modelId="{028F0164-5EDE-45D6-B8CB-C6EDE0C276CB}">
      <dgm:prSet/>
      <dgm:spPr/>
      <dgm:t>
        <a:bodyPr/>
        <a:lstStyle/>
        <a:p>
          <a:r>
            <a:rPr lang="en-US" b="1"/>
            <a:t>Etching</a:t>
          </a:r>
          <a:r>
            <a:rPr lang="en-US"/>
            <a:t> (remove unwanted layers).</a:t>
          </a:r>
        </a:p>
      </dgm:t>
    </dgm:pt>
    <dgm:pt modelId="{86298750-F6C5-4683-8166-AB297B6A41A6}" type="parTrans" cxnId="{5C4A711F-0EFC-48F0-B522-ECFBC8C5612B}">
      <dgm:prSet/>
      <dgm:spPr/>
      <dgm:t>
        <a:bodyPr/>
        <a:lstStyle/>
        <a:p>
          <a:endParaRPr lang="en-US"/>
        </a:p>
      </dgm:t>
    </dgm:pt>
    <dgm:pt modelId="{310D37EE-F1D9-4FD2-98CE-978B625850A5}" type="sibTrans" cxnId="{5C4A711F-0EFC-48F0-B522-ECFBC8C5612B}">
      <dgm:prSet/>
      <dgm:spPr/>
      <dgm:t>
        <a:bodyPr/>
        <a:lstStyle/>
        <a:p>
          <a:endParaRPr lang="en-US"/>
        </a:p>
      </dgm:t>
    </dgm:pt>
    <dgm:pt modelId="{7F04E15C-15C6-433E-B648-07C041C58E03}">
      <dgm:prSet/>
      <dgm:spPr/>
      <dgm:t>
        <a:bodyPr/>
        <a:lstStyle/>
        <a:p>
          <a:r>
            <a:rPr lang="en-US" b="1"/>
            <a:t>Doping/Ion implantation</a:t>
          </a:r>
          <a:r>
            <a:rPr lang="en-US"/>
            <a:t> (to make n-type or p-type regions).</a:t>
          </a:r>
        </a:p>
      </dgm:t>
    </dgm:pt>
    <dgm:pt modelId="{9CD9AE75-01B8-466F-B8FE-823C7B1FDAC2}" type="parTrans" cxnId="{0D4581DF-EC1C-4072-BAD4-A62C626F330E}">
      <dgm:prSet/>
      <dgm:spPr/>
      <dgm:t>
        <a:bodyPr/>
        <a:lstStyle/>
        <a:p>
          <a:endParaRPr lang="en-US"/>
        </a:p>
      </dgm:t>
    </dgm:pt>
    <dgm:pt modelId="{15921783-828C-42C8-B7CC-F88679D6A58B}" type="sibTrans" cxnId="{0D4581DF-EC1C-4072-BAD4-A62C626F330E}">
      <dgm:prSet/>
      <dgm:spPr/>
      <dgm:t>
        <a:bodyPr/>
        <a:lstStyle/>
        <a:p>
          <a:endParaRPr lang="en-US"/>
        </a:p>
      </dgm:t>
    </dgm:pt>
    <dgm:pt modelId="{334A0957-818C-46DC-9C87-B967C4D41920}">
      <dgm:prSet/>
      <dgm:spPr/>
      <dgm:t>
        <a:bodyPr/>
        <a:lstStyle/>
        <a:p>
          <a:r>
            <a:rPr lang="en-US" b="1"/>
            <a:t>Deposition</a:t>
          </a:r>
          <a:r>
            <a:rPr lang="en-US"/>
            <a:t> (adding materials like polysilicon, metals).</a:t>
          </a:r>
        </a:p>
      </dgm:t>
    </dgm:pt>
    <dgm:pt modelId="{106ABCD7-2792-4552-9E81-33FE2DAF07F0}" type="parTrans" cxnId="{2FE51534-AA7B-4B4F-A17F-ADDE647F5E52}">
      <dgm:prSet/>
      <dgm:spPr/>
      <dgm:t>
        <a:bodyPr/>
        <a:lstStyle/>
        <a:p>
          <a:endParaRPr lang="en-US"/>
        </a:p>
      </dgm:t>
    </dgm:pt>
    <dgm:pt modelId="{63DDD4BA-E342-4237-A953-2AAF5ED5B105}" type="sibTrans" cxnId="{2FE51534-AA7B-4B4F-A17F-ADDE647F5E52}">
      <dgm:prSet/>
      <dgm:spPr/>
      <dgm:t>
        <a:bodyPr/>
        <a:lstStyle/>
        <a:p>
          <a:endParaRPr lang="en-US"/>
        </a:p>
      </dgm:t>
    </dgm:pt>
    <dgm:pt modelId="{8B014F41-189B-40A3-8A14-58EBE826048D}">
      <dgm:prSet/>
      <dgm:spPr/>
      <dgm:t>
        <a:bodyPr/>
        <a:lstStyle/>
        <a:p>
          <a:r>
            <a:rPr lang="en-US" b="1"/>
            <a:t>Metallization</a:t>
          </a:r>
          <a:r>
            <a:rPr lang="en-US"/>
            <a:t> (wiring interconnections).</a:t>
          </a:r>
        </a:p>
      </dgm:t>
    </dgm:pt>
    <dgm:pt modelId="{3570DB89-CF1B-48E1-8EDE-019179115281}" type="parTrans" cxnId="{BBF28B92-15D4-4F56-8CE2-49E228040581}">
      <dgm:prSet/>
      <dgm:spPr/>
      <dgm:t>
        <a:bodyPr/>
        <a:lstStyle/>
        <a:p>
          <a:endParaRPr lang="en-US"/>
        </a:p>
      </dgm:t>
    </dgm:pt>
    <dgm:pt modelId="{E81394A4-5A2C-4009-8ADA-C6A89402F39D}" type="sibTrans" cxnId="{BBF28B92-15D4-4F56-8CE2-49E228040581}">
      <dgm:prSet/>
      <dgm:spPr/>
      <dgm:t>
        <a:bodyPr/>
        <a:lstStyle/>
        <a:p>
          <a:endParaRPr lang="en-US"/>
        </a:p>
      </dgm:t>
    </dgm:pt>
    <dgm:pt modelId="{33B872DC-4F45-485B-866F-93CA86051078}">
      <dgm:prSet/>
      <dgm:spPr/>
      <dgm:t>
        <a:bodyPr/>
        <a:lstStyle/>
        <a:p>
          <a:r>
            <a:rPr lang="en-US" b="1"/>
            <a:t>Passivation</a:t>
          </a:r>
          <a:r>
            <a:rPr lang="en-US"/>
            <a:t> (final protective layer).</a:t>
          </a:r>
        </a:p>
      </dgm:t>
    </dgm:pt>
    <dgm:pt modelId="{1F7C9486-C0FB-48C9-BD8E-49FD79134607}" type="parTrans" cxnId="{49293D4B-9120-41D2-9159-86EDAA6C6108}">
      <dgm:prSet/>
      <dgm:spPr/>
      <dgm:t>
        <a:bodyPr/>
        <a:lstStyle/>
        <a:p>
          <a:endParaRPr lang="en-US"/>
        </a:p>
      </dgm:t>
    </dgm:pt>
    <dgm:pt modelId="{ADC6610E-C4B2-48C9-8D94-C2A82886DAC8}" type="sibTrans" cxnId="{49293D4B-9120-41D2-9159-86EDAA6C6108}">
      <dgm:prSet/>
      <dgm:spPr/>
      <dgm:t>
        <a:bodyPr/>
        <a:lstStyle/>
        <a:p>
          <a:endParaRPr lang="en-US"/>
        </a:p>
      </dgm:t>
    </dgm:pt>
    <dgm:pt modelId="{AB75F2E1-2367-4460-84EB-758C3A0AB021}">
      <dgm:prSet/>
      <dgm:spPr/>
      <dgm:t>
        <a:bodyPr/>
        <a:lstStyle/>
        <a:p>
          <a:r>
            <a:rPr lang="en-US" b="1"/>
            <a:t>Goal:</a:t>
          </a:r>
          <a:r>
            <a:rPr lang="en-US"/>
            <a:t> Build millions of MOSFETs and connect them to form circuits.</a:t>
          </a:r>
        </a:p>
      </dgm:t>
    </dgm:pt>
    <dgm:pt modelId="{2F75890F-7394-48C0-B380-E632BA73039F}" type="parTrans" cxnId="{1ECCAF34-5202-43BC-B62D-FA2FC217ED52}">
      <dgm:prSet/>
      <dgm:spPr/>
      <dgm:t>
        <a:bodyPr/>
        <a:lstStyle/>
        <a:p>
          <a:endParaRPr lang="en-US"/>
        </a:p>
      </dgm:t>
    </dgm:pt>
    <dgm:pt modelId="{8CF1D944-A36C-437D-8572-AA4E803ECAE8}" type="sibTrans" cxnId="{1ECCAF34-5202-43BC-B62D-FA2FC217ED52}">
      <dgm:prSet/>
      <dgm:spPr/>
      <dgm:t>
        <a:bodyPr/>
        <a:lstStyle/>
        <a:p>
          <a:endParaRPr lang="en-US"/>
        </a:p>
      </dgm:t>
    </dgm:pt>
    <dgm:pt modelId="{3E3A2EA2-4336-4D5D-9D6C-6674B37D6491}" type="pres">
      <dgm:prSet presAssocID="{D2FECF56-AF82-4FA1-B3AE-9F4AA258360A}" presName="linear" presStyleCnt="0">
        <dgm:presLayoutVars>
          <dgm:animLvl val="lvl"/>
          <dgm:resizeHandles val="exact"/>
        </dgm:presLayoutVars>
      </dgm:prSet>
      <dgm:spPr/>
    </dgm:pt>
    <dgm:pt modelId="{9A7CB21C-3B51-4BC7-B061-95EE22542C81}" type="pres">
      <dgm:prSet presAssocID="{1259C501-473B-4086-ABDB-5C6F8DC5586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646BF68-F3DB-4828-9E93-39CACE15633D}" type="pres">
      <dgm:prSet presAssocID="{1259C501-473B-4086-ABDB-5C6F8DC55860}" presName="childText" presStyleLbl="revTx" presStyleIdx="0" presStyleCnt="1">
        <dgm:presLayoutVars>
          <dgm:bulletEnabled val="1"/>
        </dgm:presLayoutVars>
      </dgm:prSet>
      <dgm:spPr/>
    </dgm:pt>
    <dgm:pt modelId="{0540E235-17EB-462B-B3F4-4369AE5C72DE}" type="pres">
      <dgm:prSet presAssocID="{AB75F2E1-2367-4460-84EB-758C3A0AB02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624460A-F3D3-4B52-8658-A27505BCD357}" type="presOf" srcId="{33B872DC-4F45-485B-866F-93CA86051078}" destId="{4646BF68-F3DB-4828-9E93-39CACE15633D}" srcOrd="0" destOrd="6" presId="urn:microsoft.com/office/officeart/2005/8/layout/vList2"/>
    <dgm:cxn modelId="{D6854D12-5D5E-411F-912A-930A2E8215BE}" srcId="{1259C501-473B-4086-ABDB-5C6F8DC55860}" destId="{2DA2C976-5D83-4051-A07C-3FE972911057}" srcOrd="1" destOrd="0" parTransId="{3E98D62D-2E3A-459D-80B8-DBCB642E3A84}" sibTransId="{0ABFE748-2CAD-4409-9324-3C9A59705333}"/>
    <dgm:cxn modelId="{0B13D91A-FA9F-4BA0-A3B3-91A7CB91C941}" type="presOf" srcId="{028F0164-5EDE-45D6-B8CB-C6EDE0C276CB}" destId="{4646BF68-F3DB-4828-9E93-39CACE15633D}" srcOrd="0" destOrd="2" presId="urn:microsoft.com/office/officeart/2005/8/layout/vList2"/>
    <dgm:cxn modelId="{4E980A1D-7899-4C45-AEA6-1F5367F3C926}" type="presOf" srcId="{8B014F41-189B-40A3-8A14-58EBE826048D}" destId="{4646BF68-F3DB-4828-9E93-39CACE15633D}" srcOrd="0" destOrd="5" presId="urn:microsoft.com/office/officeart/2005/8/layout/vList2"/>
    <dgm:cxn modelId="{5C4A711F-0EFC-48F0-B522-ECFBC8C5612B}" srcId="{1259C501-473B-4086-ABDB-5C6F8DC55860}" destId="{028F0164-5EDE-45D6-B8CB-C6EDE0C276CB}" srcOrd="2" destOrd="0" parTransId="{86298750-F6C5-4683-8166-AB297B6A41A6}" sibTransId="{310D37EE-F1D9-4FD2-98CE-978B625850A5}"/>
    <dgm:cxn modelId="{2FE51534-AA7B-4B4F-A17F-ADDE647F5E52}" srcId="{1259C501-473B-4086-ABDB-5C6F8DC55860}" destId="{334A0957-818C-46DC-9C87-B967C4D41920}" srcOrd="4" destOrd="0" parTransId="{106ABCD7-2792-4552-9E81-33FE2DAF07F0}" sibTransId="{63DDD4BA-E342-4237-A953-2AAF5ED5B105}"/>
    <dgm:cxn modelId="{1ECCAF34-5202-43BC-B62D-FA2FC217ED52}" srcId="{D2FECF56-AF82-4FA1-B3AE-9F4AA258360A}" destId="{AB75F2E1-2367-4460-84EB-758C3A0AB021}" srcOrd="1" destOrd="0" parTransId="{2F75890F-7394-48C0-B380-E632BA73039F}" sibTransId="{8CF1D944-A36C-437D-8572-AA4E803ECAE8}"/>
    <dgm:cxn modelId="{A4A3E261-B2C0-41F5-BACF-56C4146C9887}" type="presOf" srcId="{AB75F2E1-2367-4460-84EB-758C3A0AB021}" destId="{0540E235-17EB-462B-B3F4-4369AE5C72DE}" srcOrd="0" destOrd="0" presId="urn:microsoft.com/office/officeart/2005/8/layout/vList2"/>
    <dgm:cxn modelId="{49293D4B-9120-41D2-9159-86EDAA6C6108}" srcId="{1259C501-473B-4086-ABDB-5C6F8DC55860}" destId="{33B872DC-4F45-485B-866F-93CA86051078}" srcOrd="6" destOrd="0" parTransId="{1F7C9486-C0FB-48C9-BD8E-49FD79134607}" sibTransId="{ADC6610E-C4B2-48C9-8D94-C2A82886DAC8}"/>
    <dgm:cxn modelId="{87C39A4B-0AD9-4715-A0F7-6868505BFC92}" type="presOf" srcId="{1259C501-473B-4086-ABDB-5C6F8DC55860}" destId="{9A7CB21C-3B51-4BC7-B061-95EE22542C81}" srcOrd="0" destOrd="0" presId="urn:microsoft.com/office/officeart/2005/8/layout/vList2"/>
    <dgm:cxn modelId="{96CCEC5A-AEDE-4DEA-8619-FFEA9AA91360}" type="presOf" srcId="{2DA2C976-5D83-4051-A07C-3FE972911057}" destId="{4646BF68-F3DB-4828-9E93-39CACE15633D}" srcOrd="0" destOrd="1" presId="urn:microsoft.com/office/officeart/2005/8/layout/vList2"/>
    <dgm:cxn modelId="{BBF28B92-15D4-4F56-8CE2-49E228040581}" srcId="{1259C501-473B-4086-ABDB-5C6F8DC55860}" destId="{8B014F41-189B-40A3-8A14-58EBE826048D}" srcOrd="5" destOrd="0" parTransId="{3570DB89-CF1B-48E1-8EDE-019179115281}" sibTransId="{E81394A4-5A2C-4009-8ADA-C6A89402F39D}"/>
    <dgm:cxn modelId="{31F44994-6F13-4182-92EF-2BABC10B7A4B}" type="presOf" srcId="{C009773E-2B3E-430B-8862-93CB27C09160}" destId="{4646BF68-F3DB-4828-9E93-39CACE15633D}" srcOrd="0" destOrd="0" presId="urn:microsoft.com/office/officeart/2005/8/layout/vList2"/>
    <dgm:cxn modelId="{18E51298-6EC4-4E7F-B998-D93823F1FB33}" type="presOf" srcId="{334A0957-818C-46DC-9C87-B967C4D41920}" destId="{4646BF68-F3DB-4828-9E93-39CACE15633D}" srcOrd="0" destOrd="4" presId="urn:microsoft.com/office/officeart/2005/8/layout/vList2"/>
    <dgm:cxn modelId="{1B1C20A6-5440-42C0-9053-83E50303648E}" type="presOf" srcId="{7F04E15C-15C6-433E-B648-07C041C58E03}" destId="{4646BF68-F3DB-4828-9E93-39CACE15633D}" srcOrd="0" destOrd="3" presId="urn:microsoft.com/office/officeart/2005/8/layout/vList2"/>
    <dgm:cxn modelId="{BE2E4AA6-8ECC-41DA-924A-F18BA830F03A}" srcId="{D2FECF56-AF82-4FA1-B3AE-9F4AA258360A}" destId="{1259C501-473B-4086-ABDB-5C6F8DC55860}" srcOrd="0" destOrd="0" parTransId="{9BF678CE-5E83-4A9A-9FC4-67DF1D0FE508}" sibTransId="{6804F810-46CB-4148-BB02-447B935FB413}"/>
    <dgm:cxn modelId="{17C312CD-480C-4DBD-B7C8-E234FB7DC173}" srcId="{1259C501-473B-4086-ABDB-5C6F8DC55860}" destId="{C009773E-2B3E-430B-8862-93CB27C09160}" srcOrd="0" destOrd="0" parTransId="{D9DBFA81-B344-4F58-9AE8-2F381F43680F}" sibTransId="{C009144D-7210-49D0-BE65-FA4CF94EBFA6}"/>
    <dgm:cxn modelId="{225166DE-AF56-4D26-A4EC-9A34E854D14D}" type="presOf" srcId="{D2FECF56-AF82-4FA1-B3AE-9F4AA258360A}" destId="{3E3A2EA2-4336-4D5D-9D6C-6674B37D6491}" srcOrd="0" destOrd="0" presId="urn:microsoft.com/office/officeart/2005/8/layout/vList2"/>
    <dgm:cxn modelId="{0D4581DF-EC1C-4072-BAD4-A62C626F330E}" srcId="{1259C501-473B-4086-ABDB-5C6F8DC55860}" destId="{7F04E15C-15C6-433E-B648-07C041C58E03}" srcOrd="3" destOrd="0" parTransId="{9CD9AE75-01B8-466F-B8FE-823C7B1FDAC2}" sibTransId="{15921783-828C-42C8-B7CC-F88679D6A58B}"/>
    <dgm:cxn modelId="{399717C3-8C06-45DA-A59A-D5FBEDA080E2}" type="presParOf" srcId="{3E3A2EA2-4336-4D5D-9D6C-6674B37D6491}" destId="{9A7CB21C-3B51-4BC7-B061-95EE22542C81}" srcOrd="0" destOrd="0" presId="urn:microsoft.com/office/officeart/2005/8/layout/vList2"/>
    <dgm:cxn modelId="{F4150B0C-C269-4EC8-94C3-7C29F0C2647F}" type="presParOf" srcId="{3E3A2EA2-4336-4D5D-9D6C-6674B37D6491}" destId="{4646BF68-F3DB-4828-9E93-39CACE15633D}" srcOrd="1" destOrd="0" presId="urn:microsoft.com/office/officeart/2005/8/layout/vList2"/>
    <dgm:cxn modelId="{F5D76267-7177-4DA2-8620-A422D2DFBE85}" type="presParOf" srcId="{3E3A2EA2-4336-4D5D-9D6C-6674B37D6491}" destId="{0540E235-17EB-462B-B3F4-4369AE5C72D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D2AA315-15BD-418D-B0AD-9739D9CA41D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0E5CD4-3DEB-4321-B083-55D4752A49AE}">
      <dgm:prSet custT="1"/>
      <dgm:spPr/>
      <dgm:t>
        <a:bodyPr/>
        <a:lstStyle/>
        <a:p>
          <a:r>
            <a:rPr lang="en-US" sz="2800" dirty="0"/>
            <a:t>Unwanted capacitances formed in MOS transistors due to overlaps and junctions.</a:t>
          </a:r>
        </a:p>
      </dgm:t>
    </dgm:pt>
    <dgm:pt modelId="{70E54AFD-CCBE-4587-B1E3-E565685A2D3F}" type="parTrans" cxnId="{99718C03-B934-4997-8E36-5EE998298FA6}">
      <dgm:prSet/>
      <dgm:spPr/>
      <dgm:t>
        <a:bodyPr/>
        <a:lstStyle/>
        <a:p>
          <a:endParaRPr lang="en-US"/>
        </a:p>
      </dgm:t>
    </dgm:pt>
    <dgm:pt modelId="{087A4FC1-7D99-40E9-8F7D-6118DCB1EEC0}" type="sibTrans" cxnId="{99718C03-B934-4997-8E36-5EE998298FA6}">
      <dgm:prSet/>
      <dgm:spPr/>
      <dgm:t>
        <a:bodyPr/>
        <a:lstStyle/>
        <a:p>
          <a:endParaRPr lang="en-US"/>
        </a:p>
      </dgm:t>
    </dgm:pt>
    <dgm:pt modelId="{CB5B321E-2A61-45AF-B19E-F77E577081FE}">
      <dgm:prSet custT="1"/>
      <dgm:spPr/>
      <dgm:t>
        <a:bodyPr/>
        <a:lstStyle/>
        <a:p>
          <a:r>
            <a:rPr lang="en-US" sz="3600" b="1" dirty="0"/>
            <a:t>Types:</a:t>
          </a:r>
          <a:endParaRPr lang="en-US" sz="3600" dirty="0"/>
        </a:p>
      </dgm:t>
    </dgm:pt>
    <dgm:pt modelId="{DBC73369-E7BD-4157-B0F0-047C8A7D14F2}" type="parTrans" cxnId="{78ECF465-6907-4F93-967C-D23F5E4F91ED}">
      <dgm:prSet/>
      <dgm:spPr/>
      <dgm:t>
        <a:bodyPr/>
        <a:lstStyle/>
        <a:p>
          <a:endParaRPr lang="en-US"/>
        </a:p>
      </dgm:t>
    </dgm:pt>
    <dgm:pt modelId="{0D518C52-ACDF-428A-9C78-393692D8E326}" type="sibTrans" cxnId="{78ECF465-6907-4F93-967C-D23F5E4F91ED}">
      <dgm:prSet/>
      <dgm:spPr/>
      <dgm:t>
        <a:bodyPr/>
        <a:lstStyle/>
        <a:p>
          <a:endParaRPr lang="en-US"/>
        </a:p>
      </dgm:t>
    </dgm:pt>
    <dgm:pt modelId="{ACC59D74-4BC6-41A7-A0A8-CBD3789C277C}">
      <dgm:prSet/>
      <dgm:spPr/>
      <dgm:t>
        <a:bodyPr/>
        <a:lstStyle/>
        <a:p>
          <a:r>
            <a:rPr lang="en-US" b="1"/>
            <a:t>Gate-to-source capacitance (Cgs).</a:t>
          </a:r>
          <a:endParaRPr lang="en-US"/>
        </a:p>
      </dgm:t>
    </dgm:pt>
    <dgm:pt modelId="{D2CD175C-9E01-405F-BA1F-E1E6C085CECA}" type="parTrans" cxnId="{726156C7-1F74-4543-99CE-1690693FED49}">
      <dgm:prSet/>
      <dgm:spPr/>
      <dgm:t>
        <a:bodyPr/>
        <a:lstStyle/>
        <a:p>
          <a:endParaRPr lang="en-US"/>
        </a:p>
      </dgm:t>
    </dgm:pt>
    <dgm:pt modelId="{B2EBEFC5-99BB-462F-8758-F8D644C8EFF5}" type="sibTrans" cxnId="{726156C7-1F74-4543-99CE-1690693FED49}">
      <dgm:prSet/>
      <dgm:spPr/>
      <dgm:t>
        <a:bodyPr/>
        <a:lstStyle/>
        <a:p>
          <a:endParaRPr lang="en-US"/>
        </a:p>
      </dgm:t>
    </dgm:pt>
    <dgm:pt modelId="{9EB19F0E-E3D0-4DA8-B220-0451FCB03896}">
      <dgm:prSet/>
      <dgm:spPr/>
      <dgm:t>
        <a:bodyPr/>
        <a:lstStyle/>
        <a:p>
          <a:r>
            <a:rPr lang="en-US" b="1"/>
            <a:t>Gate-to-drain capacitance (Cgd).</a:t>
          </a:r>
          <a:endParaRPr lang="en-US"/>
        </a:p>
      </dgm:t>
    </dgm:pt>
    <dgm:pt modelId="{9AF6FCD9-5856-458C-8CFB-BF4C20DE744E}" type="parTrans" cxnId="{CB568F59-264F-4C2D-8661-6113A0606AEE}">
      <dgm:prSet/>
      <dgm:spPr/>
      <dgm:t>
        <a:bodyPr/>
        <a:lstStyle/>
        <a:p>
          <a:endParaRPr lang="en-US"/>
        </a:p>
      </dgm:t>
    </dgm:pt>
    <dgm:pt modelId="{33E44E8B-47DE-4981-8666-BF4F6EFCFC5A}" type="sibTrans" cxnId="{CB568F59-264F-4C2D-8661-6113A0606AEE}">
      <dgm:prSet/>
      <dgm:spPr/>
      <dgm:t>
        <a:bodyPr/>
        <a:lstStyle/>
        <a:p>
          <a:endParaRPr lang="en-US"/>
        </a:p>
      </dgm:t>
    </dgm:pt>
    <dgm:pt modelId="{F6F31E81-2086-4491-8474-C6E0BD05D85A}">
      <dgm:prSet/>
      <dgm:spPr/>
      <dgm:t>
        <a:bodyPr/>
        <a:lstStyle/>
        <a:p>
          <a:r>
            <a:rPr lang="en-US" b="1"/>
            <a:t>Drain-to-substrate junction capacitance (Cdb).</a:t>
          </a:r>
          <a:endParaRPr lang="en-US"/>
        </a:p>
      </dgm:t>
    </dgm:pt>
    <dgm:pt modelId="{ADF0CB96-77CD-42BE-B38D-AA98BEEC158C}" type="parTrans" cxnId="{1A7A3D68-BE51-4447-A6F6-EEE1FC355E2A}">
      <dgm:prSet/>
      <dgm:spPr/>
      <dgm:t>
        <a:bodyPr/>
        <a:lstStyle/>
        <a:p>
          <a:endParaRPr lang="en-US"/>
        </a:p>
      </dgm:t>
    </dgm:pt>
    <dgm:pt modelId="{21F6CD5B-BE59-4E5A-8A37-DD493BE60CF8}" type="sibTrans" cxnId="{1A7A3D68-BE51-4447-A6F6-EEE1FC355E2A}">
      <dgm:prSet/>
      <dgm:spPr/>
      <dgm:t>
        <a:bodyPr/>
        <a:lstStyle/>
        <a:p>
          <a:endParaRPr lang="en-US"/>
        </a:p>
      </dgm:t>
    </dgm:pt>
    <dgm:pt modelId="{4B5D83A8-9226-4209-84BE-3648356EE2CA}">
      <dgm:prSet/>
      <dgm:spPr/>
      <dgm:t>
        <a:bodyPr/>
        <a:lstStyle/>
        <a:p>
          <a:r>
            <a:rPr lang="en-US" b="1"/>
            <a:t>Source-to-substrate junction capacitance (Csb).</a:t>
          </a:r>
          <a:endParaRPr lang="en-US"/>
        </a:p>
      </dgm:t>
    </dgm:pt>
    <dgm:pt modelId="{AC99E3A5-A4FE-460E-BE88-943D03E12E93}" type="parTrans" cxnId="{A1408C64-486E-4F41-A031-F3DC58C9BBBD}">
      <dgm:prSet/>
      <dgm:spPr/>
      <dgm:t>
        <a:bodyPr/>
        <a:lstStyle/>
        <a:p>
          <a:endParaRPr lang="en-US"/>
        </a:p>
      </dgm:t>
    </dgm:pt>
    <dgm:pt modelId="{2E9F8D2E-6B0F-4DA6-9E76-26029A8FB434}" type="sibTrans" cxnId="{A1408C64-486E-4F41-A031-F3DC58C9BBBD}">
      <dgm:prSet/>
      <dgm:spPr/>
      <dgm:t>
        <a:bodyPr/>
        <a:lstStyle/>
        <a:p>
          <a:endParaRPr lang="en-US"/>
        </a:p>
      </dgm:t>
    </dgm:pt>
    <dgm:pt modelId="{130532AA-CD89-42DC-A280-6D6191A0908F}">
      <dgm:prSet custT="1"/>
      <dgm:spPr/>
      <dgm:t>
        <a:bodyPr/>
        <a:lstStyle/>
        <a:p>
          <a:r>
            <a:rPr lang="en-US" sz="3600" b="1" dirty="0"/>
            <a:t>Effect:</a:t>
          </a:r>
          <a:endParaRPr lang="en-US" sz="3600" dirty="0"/>
        </a:p>
      </dgm:t>
    </dgm:pt>
    <dgm:pt modelId="{E0597090-3773-4140-AC37-E7E200142C9F}" type="parTrans" cxnId="{327C5BEA-1BE8-4CBA-A112-B0FD347D8079}">
      <dgm:prSet/>
      <dgm:spPr/>
      <dgm:t>
        <a:bodyPr/>
        <a:lstStyle/>
        <a:p>
          <a:endParaRPr lang="en-US"/>
        </a:p>
      </dgm:t>
    </dgm:pt>
    <dgm:pt modelId="{4820FDCB-FF63-4C7B-A0D7-6BAACA1DE1CB}" type="sibTrans" cxnId="{327C5BEA-1BE8-4CBA-A112-B0FD347D8079}">
      <dgm:prSet/>
      <dgm:spPr/>
      <dgm:t>
        <a:bodyPr/>
        <a:lstStyle/>
        <a:p>
          <a:endParaRPr lang="en-US"/>
        </a:p>
      </dgm:t>
    </dgm:pt>
    <dgm:pt modelId="{6A8C5A74-3D36-45AF-AE8C-891C7F386732}">
      <dgm:prSet/>
      <dgm:spPr/>
      <dgm:t>
        <a:bodyPr/>
        <a:lstStyle/>
        <a:p>
          <a:r>
            <a:rPr lang="en-US"/>
            <a:t>Slows down switching speed.</a:t>
          </a:r>
        </a:p>
      </dgm:t>
    </dgm:pt>
    <dgm:pt modelId="{413750CB-2BE7-4D3A-B3F4-5E53F4FD1BB5}" type="parTrans" cxnId="{6637A0B3-4FBB-47D9-AE7A-1A1403BAF769}">
      <dgm:prSet/>
      <dgm:spPr/>
      <dgm:t>
        <a:bodyPr/>
        <a:lstStyle/>
        <a:p>
          <a:endParaRPr lang="en-US"/>
        </a:p>
      </dgm:t>
    </dgm:pt>
    <dgm:pt modelId="{AB2930B1-A2BC-4963-B710-FC4F19DF1850}" type="sibTrans" cxnId="{6637A0B3-4FBB-47D9-AE7A-1A1403BAF769}">
      <dgm:prSet/>
      <dgm:spPr/>
      <dgm:t>
        <a:bodyPr/>
        <a:lstStyle/>
        <a:p>
          <a:endParaRPr lang="en-US"/>
        </a:p>
      </dgm:t>
    </dgm:pt>
    <dgm:pt modelId="{4DE6E813-39B4-4ABE-84E0-641FA4A40D75}">
      <dgm:prSet/>
      <dgm:spPr/>
      <dgm:t>
        <a:bodyPr/>
        <a:lstStyle/>
        <a:p>
          <a:r>
            <a:rPr lang="en-US"/>
            <a:t>Increases power consumption.</a:t>
          </a:r>
        </a:p>
      </dgm:t>
    </dgm:pt>
    <dgm:pt modelId="{C5713B28-C4DA-42AA-9BEF-6ABC72789A56}" type="parTrans" cxnId="{7D607D51-253C-40C6-9D1F-CD4F7EA47868}">
      <dgm:prSet/>
      <dgm:spPr/>
      <dgm:t>
        <a:bodyPr/>
        <a:lstStyle/>
        <a:p>
          <a:endParaRPr lang="en-US"/>
        </a:p>
      </dgm:t>
    </dgm:pt>
    <dgm:pt modelId="{0F5752AF-79CD-4394-AC36-BB3A3D2BD577}" type="sibTrans" cxnId="{7D607D51-253C-40C6-9D1F-CD4F7EA47868}">
      <dgm:prSet/>
      <dgm:spPr/>
      <dgm:t>
        <a:bodyPr/>
        <a:lstStyle/>
        <a:p>
          <a:endParaRPr lang="en-US"/>
        </a:p>
      </dgm:t>
    </dgm:pt>
    <dgm:pt modelId="{A7655AC0-1B7C-44A1-991E-7C924C8F9B13}">
      <dgm:prSet/>
      <dgm:spPr/>
      <dgm:t>
        <a:bodyPr/>
        <a:lstStyle/>
        <a:p>
          <a:r>
            <a:rPr lang="en-US"/>
            <a:t>Limits maximum frequency.</a:t>
          </a:r>
        </a:p>
      </dgm:t>
    </dgm:pt>
    <dgm:pt modelId="{D5A8A9C3-F7D0-4076-A8C0-DDD2C5F7B170}" type="parTrans" cxnId="{3DDCCFFC-074D-4C84-9FD4-889C9FE7923C}">
      <dgm:prSet/>
      <dgm:spPr/>
      <dgm:t>
        <a:bodyPr/>
        <a:lstStyle/>
        <a:p>
          <a:endParaRPr lang="en-US"/>
        </a:p>
      </dgm:t>
    </dgm:pt>
    <dgm:pt modelId="{967D4F1E-F88A-4053-A0F6-8F4A7E4FC3A7}" type="sibTrans" cxnId="{3DDCCFFC-074D-4C84-9FD4-889C9FE7923C}">
      <dgm:prSet/>
      <dgm:spPr/>
      <dgm:t>
        <a:bodyPr/>
        <a:lstStyle/>
        <a:p>
          <a:endParaRPr lang="en-US"/>
        </a:p>
      </dgm:t>
    </dgm:pt>
    <dgm:pt modelId="{5AD1A41C-E68F-46E4-B17F-E45325ED35E7}" type="pres">
      <dgm:prSet presAssocID="{DD2AA315-15BD-418D-B0AD-9739D9CA41DD}" presName="Name0" presStyleCnt="0">
        <dgm:presLayoutVars>
          <dgm:dir/>
          <dgm:animLvl val="lvl"/>
          <dgm:resizeHandles val="exact"/>
        </dgm:presLayoutVars>
      </dgm:prSet>
      <dgm:spPr/>
    </dgm:pt>
    <dgm:pt modelId="{330EC4CF-D2AA-41FE-A759-EDE3AD565EC4}" type="pres">
      <dgm:prSet presAssocID="{260E5CD4-3DEB-4321-B083-55D4752A49AE}" presName="linNode" presStyleCnt="0"/>
      <dgm:spPr/>
    </dgm:pt>
    <dgm:pt modelId="{30669FE9-C85E-4222-A5E0-B10051BBAD43}" type="pres">
      <dgm:prSet presAssocID="{260E5CD4-3DEB-4321-B083-55D4752A49AE}" presName="parentText" presStyleLbl="node1" presStyleIdx="0" presStyleCnt="3" custScaleX="277778">
        <dgm:presLayoutVars>
          <dgm:chMax val="1"/>
          <dgm:bulletEnabled val="1"/>
        </dgm:presLayoutVars>
      </dgm:prSet>
      <dgm:spPr/>
    </dgm:pt>
    <dgm:pt modelId="{926B9B63-927E-44DA-B3D4-FEB35D04EBD3}" type="pres">
      <dgm:prSet presAssocID="{087A4FC1-7D99-40E9-8F7D-6118DCB1EEC0}" presName="sp" presStyleCnt="0"/>
      <dgm:spPr/>
    </dgm:pt>
    <dgm:pt modelId="{DE4E40C1-7BD9-4F6F-938F-2E490856D3E9}" type="pres">
      <dgm:prSet presAssocID="{CB5B321E-2A61-45AF-B19E-F77E577081FE}" presName="linNode" presStyleCnt="0"/>
      <dgm:spPr/>
    </dgm:pt>
    <dgm:pt modelId="{129CD8E0-B291-4CD0-8E83-88FEE31D2041}" type="pres">
      <dgm:prSet presAssocID="{CB5B321E-2A61-45AF-B19E-F77E577081F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7437798-1823-4A74-9F5E-A19502EFDAF2}" type="pres">
      <dgm:prSet presAssocID="{CB5B321E-2A61-45AF-B19E-F77E577081FE}" presName="descendantText" presStyleLbl="alignAccFollowNode1" presStyleIdx="0" presStyleCnt="2">
        <dgm:presLayoutVars>
          <dgm:bulletEnabled val="1"/>
        </dgm:presLayoutVars>
      </dgm:prSet>
      <dgm:spPr/>
    </dgm:pt>
    <dgm:pt modelId="{C6D71F4D-F9B7-4959-BEA7-88F25A832E90}" type="pres">
      <dgm:prSet presAssocID="{0D518C52-ACDF-428A-9C78-393692D8E326}" presName="sp" presStyleCnt="0"/>
      <dgm:spPr/>
    </dgm:pt>
    <dgm:pt modelId="{B6B2517D-352D-4A53-B47E-76760B6BFC57}" type="pres">
      <dgm:prSet presAssocID="{130532AA-CD89-42DC-A280-6D6191A0908F}" presName="linNode" presStyleCnt="0"/>
      <dgm:spPr/>
    </dgm:pt>
    <dgm:pt modelId="{B7C3F45B-12D0-4CCA-81FC-C61892EC7591}" type="pres">
      <dgm:prSet presAssocID="{130532AA-CD89-42DC-A280-6D6191A0908F}" presName="parentText" presStyleLbl="node1" presStyleIdx="2" presStyleCnt="3" custLinFactNeighborY="-2081">
        <dgm:presLayoutVars>
          <dgm:chMax val="1"/>
          <dgm:bulletEnabled val="1"/>
        </dgm:presLayoutVars>
      </dgm:prSet>
      <dgm:spPr/>
    </dgm:pt>
    <dgm:pt modelId="{36A31ADC-479D-4639-8E16-BDDE322ED856}" type="pres">
      <dgm:prSet presAssocID="{130532AA-CD89-42DC-A280-6D6191A0908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99718C03-B934-4997-8E36-5EE998298FA6}" srcId="{DD2AA315-15BD-418D-B0AD-9739D9CA41DD}" destId="{260E5CD4-3DEB-4321-B083-55D4752A49AE}" srcOrd="0" destOrd="0" parTransId="{70E54AFD-CCBE-4587-B1E3-E565685A2D3F}" sibTransId="{087A4FC1-7D99-40E9-8F7D-6118DCB1EEC0}"/>
    <dgm:cxn modelId="{81491A30-5404-466F-9678-248E8B6CB539}" type="presOf" srcId="{F6F31E81-2086-4491-8474-C6E0BD05D85A}" destId="{37437798-1823-4A74-9F5E-A19502EFDAF2}" srcOrd="0" destOrd="2" presId="urn:microsoft.com/office/officeart/2005/8/layout/vList5"/>
    <dgm:cxn modelId="{0956593F-1112-42D1-9BEB-D2BBD601B271}" type="presOf" srcId="{4B5D83A8-9226-4209-84BE-3648356EE2CA}" destId="{37437798-1823-4A74-9F5E-A19502EFDAF2}" srcOrd="0" destOrd="3" presId="urn:microsoft.com/office/officeart/2005/8/layout/vList5"/>
    <dgm:cxn modelId="{A1408C64-486E-4F41-A031-F3DC58C9BBBD}" srcId="{CB5B321E-2A61-45AF-B19E-F77E577081FE}" destId="{4B5D83A8-9226-4209-84BE-3648356EE2CA}" srcOrd="3" destOrd="0" parTransId="{AC99E3A5-A4FE-460E-BE88-943D03E12E93}" sibTransId="{2E9F8D2E-6B0F-4DA6-9E76-26029A8FB434}"/>
    <dgm:cxn modelId="{78ECF465-6907-4F93-967C-D23F5E4F91ED}" srcId="{DD2AA315-15BD-418D-B0AD-9739D9CA41DD}" destId="{CB5B321E-2A61-45AF-B19E-F77E577081FE}" srcOrd="1" destOrd="0" parTransId="{DBC73369-E7BD-4157-B0F0-047C8A7D14F2}" sibTransId="{0D518C52-ACDF-428A-9C78-393692D8E326}"/>
    <dgm:cxn modelId="{1A7A3D68-BE51-4447-A6F6-EEE1FC355E2A}" srcId="{CB5B321E-2A61-45AF-B19E-F77E577081FE}" destId="{F6F31E81-2086-4491-8474-C6E0BD05D85A}" srcOrd="2" destOrd="0" parTransId="{ADF0CB96-77CD-42BE-B38D-AA98BEEC158C}" sibTransId="{21F6CD5B-BE59-4E5A-8A37-DD493BE60CF8}"/>
    <dgm:cxn modelId="{7D607D51-253C-40C6-9D1F-CD4F7EA47868}" srcId="{130532AA-CD89-42DC-A280-6D6191A0908F}" destId="{4DE6E813-39B4-4ABE-84E0-641FA4A40D75}" srcOrd="1" destOrd="0" parTransId="{C5713B28-C4DA-42AA-9BEF-6ABC72789A56}" sibTransId="{0F5752AF-79CD-4394-AC36-BB3A3D2BD577}"/>
    <dgm:cxn modelId="{CB568F59-264F-4C2D-8661-6113A0606AEE}" srcId="{CB5B321E-2A61-45AF-B19E-F77E577081FE}" destId="{9EB19F0E-E3D0-4DA8-B220-0451FCB03896}" srcOrd="1" destOrd="0" parTransId="{9AF6FCD9-5856-458C-8CFB-BF4C20DE744E}" sibTransId="{33E44E8B-47DE-4981-8666-BF4F6EFCFC5A}"/>
    <dgm:cxn modelId="{F5324285-F5CC-491C-8AA7-64993E3CAFD9}" type="presOf" srcId="{CB5B321E-2A61-45AF-B19E-F77E577081FE}" destId="{129CD8E0-B291-4CD0-8E83-88FEE31D2041}" srcOrd="0" destOrd="0" presId="urn:microsoft.com/office/officeart/2005/8/layout/vList5"/>
    <dgm:cxn modelId="{594ADCA0-E2D7-4C65-8FC5-6083EB9CC7A7}" type="presOf" srcId="{ACC59D74-4BC6-41A7-A0A8-CBD3789C277C}" destId="{37437798-1823-4A74-9F5E-A19502EFDAF2}" srcOrd="0" destOrd="0" presId="urn:microsoft.com/office/officeart/2005/8/layout/vList5"/>
    <dgm:cxn modelId="{8E4453A5-42BF-424F-94D1-647444E6FCFE}" type="presOf" srcId="{4DE6E813-39B4-4ABE-84E0-641FA4A40D75}" destId="{36A31ADC-479D-4639-8E16-BDDE322ED856}" srcOrd="0" destOrd="1" presId="urn:microsoft.com/office/officeart/2005/8/layout/vList5"/>
    <dgm:cxn modelId="{D372F4AF-47EE-4F10-A916-C622B9253F5E}" type="presOf" srcId="{DD2AA315-15BD-418D-B0AD-9739D9CA41DD}" destId="{5AD1A41C-E68F-46E4-B17F-E45325ED35E7}" srcOrd="0" destOrd="0" presId="urn:microsoft.com/office/officeart/2005/8/layout/vList5"/>
    <dgm:cxn modelId="{A37FE8B1-91F0-4880-9838-DFEFBBA236BA}" type="presOf" srcId="{A7655AC0-1B7C-44A1-991E-7C924C8F9B13}" destId="{36A31ADC-479D-4639-8E16-BDDE322ED856}" srcOrd="0" destOrd="2" presId="urn:microsoft.com/office/officeart/2005/8/layout/vList5"/>
    <dgm:cxn modelId="{6637A0B3-4FBB-47D9-AE7A-1A1403BAF769}" srcId="{130532AA-CD89-42DC-A280-6D6191A0908F}" destId="{6A8C5A74-3D36-45AF-AE8C-891C7F386732}" srcOrd="0" destOrd="0" parTransId="{413750CB-2BE7-4D3A-B3F4-5E53F4FD1BB5}" sibTransId="{AB2930B1-A2BC-4963-B710-FC4F19DF1850}"/>
    <dgm:cxn modelId="{1B3E64BF-3A0F-49F2-A857-0D473584B316}" type="presOf" srcId="{6A8C5A74-3D36-45AF-AE8C-891C7F386732}" destId="{36A31ADC-479D-4639-8E16-BDDE322ED856}" srcOrd="0" destOrd="0" presId="urn:microsoft.com/office/officeart/2005/8/layout/vList5"/>
    <dgm:cxn modelId="{726156C7-1F74-4543-99CE-1690693FED49}" srcId="{CB5B321E-2A61-45AF-B19E-F77E577081FE}" destId="{ACC59D74-4BC6-41A7-A0A8-CBD3789C277C}" srcOrd="0" destOrd="0" parTransId="{D2CD175C-9E01-405F-BA1F-E1E6C085CECA}" sibTransId="{B2EBEFC5-99BB-462F-8758-F8D644C8EFF5}"/>
    <dgm:cxn modelId="{8139C4C7-9811-4CA3-B4F1-BBFA32255C58}" type="presOf" srcId="{9EB19F0E-E3D0-4DA8-B220-0451FCB03896}" destId="{37437798-1823-4A74-9F5E-A19502EFDAF2}" srcOrd="0" destOrd="1" presId="urn:microsoft.com/office/officeart/2005/8/layout/vList5"/>
    <dgm:cxn modelId="{327C5BEA-1BE8-4CBA-A112-B0FD347D8079}" srcId="{DD2AA315-15BD-418D-B0AD-9739D9CA41DD}" destId="{130532AA-CD89-42DC-A280-6D6191A0908F}" srcOrd="2" destOrd="0" parTransId="{E0597090-3773-4140-AC37-E7E200142C9F}" sibTransId="{4820FDCB-FF63-4C7B-A0D7-6BAACA1DE1CB}"/>
    <dgm:cxn modelId="{FB6537F3-DEAB-4A39-8D73-83C322BDE221}" type="presOf" srcId="{260E5CD4-3DEB-4321-B083-55D4752A49AE}" destId="{30669FE9-C85E-4222-A5E0-B10051BBAD43}" srcOrd="0" destOrd="0" presId="urn:microsoft.com/office/officeart/2005/8/layout/vList5"/>
    <dgm:cxn modelId="{0FB238FB-86A4-40C6-934A-D299654D322D}" type="presOf" srcId="{130532AA-CD89-42DC-A280-6D6191A0908F}" destId="{B7C3F45B-12D0-4CCA-81FC-C61892EC7591}" srcOrd="0" destOrd="0" presId="urn:microsoft.com/office/officeart/2005/8/layout/vList5"/>
    <dgm:cxn modelId="{3DDCCFFC-074D-4C84-9FD4-889C9FE7923C}" srcId="{130532AA-CD89-42DC-A280-6D6191A0908F}" destId="{A7655AC0-1B7C-44A1-991E-7C924C8F9B13}" srcOrd="2" destOrd="0" parTransId="{D5A8A9C3-F7D0-4076-A8C0-DDD2C5F7B170}" sibTransId="{967D4F1E-F88A-4053-A0F6-8F4A7E4FC3A7}"/>
    <dgm:cxn modelId="{7221CC26-F8DA-4A26-8A1A-11ACCF194B9B}" type="presParOf" srcId="{5AD1A41C-E68F-46E4-B17F-E45325ED35E7}" destId="{330EC4CF-D2AA-41FE-A759-EDE3AD565EC4}" srcOrd="0" destOrd="0" presId="urn:microsoft.com/office/officeart/2005/8/layout/vList5"/>
    <dgm:cxn modelId="{D8F75E18-7879-4B30-B183-019F6BB3013D}" type="presParOf" srcId="{330EC4CF-D2AA-41FE-A759-EDE3AD565EC4}" destId="{30669FE9-C85E-4222-A5E0-B10051BBAD43}" srcOrd="0" destOrd="0" presId="urn:microsoft.com/office/officeart/2005/8/layout/vList5"/>
    <dgm:cxn modelId="{D9EF3ECF-DAA2-4E39-8B14-6318C0B88FC0}" type="presParOf" srcId="{5AD1A41C-E68F-46E4-B17F-E45325ED35E7}" destId="{926B9B63-927E-44DA-B3D4-FEB35D04EBD3}" srcOrd="1" destOrd="0" presId="urn:microsoft.com/office/officeart/2005/8/layout/vList5"/>
    <dgm:cxn modelId="{93B2BE32-D5F2-4FCB-95F4-7AC21D809B0A}" type="presParOf" srcId="{5AD1A41C-E68F-46E4-B17F-E45325ED35E7}" destId="{DE4E40C1-7BD9-4F6F-938F-2E490856D3E9}" srcOrd="2" destOrd="0" presId="urn:microsoft.com/office/officeart/2005/8/layout/vList5"/>
    <dgm:cxn modelId="{4A5EB663-7FA2-437E-A803-D3476CCF1AC8}" type="presParOf" srcId="{DE4E40C1-7BD9-4F6F-938F-2E490856D3E9}" destId="{129CD8E0-B291-4CD0-8E83-88FEE31D2041}" srcOrd="0" destOrd="0" presId="urn:microsoft.com/office/officeart/2005/8/layout/vList5"/>
    <dgm:cxn modelId="{C4894030-D8D4-4E8D-B9F6-B2A8368018E5}" type="presParOf" srcId="{DE4E40C1-7BD9-4F6F-938F-2E490856D3E9}" destId="{37437798-1823-4A74-9F5E-A19502EFDAF2}" srcOrd="1" destOrd="0" presId="urn:microsoft.com/office/officeart/2005/8/layout/vList5"/>
    <dgm:cxn modelId="{7452A230-D94B-49E4-B19A-DC00374A5908}" type="presParOf" srcId="{5AD1A41C-E68F-46E4-B17F-E45325ED35E7}" destId="{C6D71F4D-F9B7-4959-BEA7-88F25A832E90}" srcOrd="3" destOrd="0" presId="urn:microsoft.com/office/officeart/2005/8/layout/vList5"/>
    <dgm:cxn modelId="{D779787A-21FC-4B54-85E8-0560396BB934}" type="presParOf" srcId="{5AD1A41C-E68F-46E4-B17F-E45325ED35E7}" destId="{B6B2517D-352D-4A53-B47E-76760B6BFC57}" srcOrd="4" destOrd="0" presId="urn:microsoft.com/office/officeart/2005/8/layout/vList5"/>
    <dgm:cxn modelId="{0080775C-B72E-4561-B902-A743F56EB1C6}" type="presParOf" srcId="{B6B2517D-352D-4A53-B47E-76760B6BFC57}" destId="{B7C3F45B-12D0-4CCA-81FC-C61892EC7591}" srcOrd="0" destOrd="0" presId="urn:microsoft.com/office/officeart/2005/8/layout/vList5"/>
    <dgm:cxn modelId="{D42FA6B8-63EF-4073-8616-3009CF386614}" type="presParOf" srcId="{B6B2517D-352D-4A53-B47E-76760B6BFC57}" destId="{36A31ADC-479D-4639-8E16-BDDE322ED85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3B1F08D-C434-4663-A81A-4A7773236DEB}" type="doc">
      <dgm:prSet loTypeId="urn:microsoft.com/office/officeart/2005/8/layout/hierarchy1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DCE4978-4FF8-413F-A463-0233496223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Definition:</a:t>
          </a:r>
          <a:r>
            <a:rPr lang="en-US"/>
            <a:t> A heavily doped region created under field oxide areas (outside the channel region).</a:t>
          </a:r>
        </a:p>
      </dgm:t>
    </dgm:pt>
    <dgm:pt modelId="{2427715D-0913-4D91-AC7C-B059771EEE47}" type="parTrans" cxnId="{9CDCD2F7-58D0-4094-BAFF-103E3397498D}">
      <dgm:prSet/>
      <dgm:spPr/>
      <dgm:t>
        <a:bodyPr/>
        <a:lstStyle/>
        <a:p>
          <a:endParaRPr lang="en-US"/>
        </a:p>
      </dgm:t>
    </dgm:pt>
    <dgm:pt modelId="{A51083C9-7DB0-4FB5-8F74-15715BC0CCD6}" type="sibTrans" cxnId="{9CDCD2F7-58D0-4094-BAFF-103E3397498D}">
      <dgm:prSet/>
      <dgm:spPr/>
      <dgm:t>
        <a:bodyPr/>
        <a:lstStyle/>
        <a:p>
          <a:endParaRPr lang="en-US"/>
        </a:p>
      </dgm:t>
    </dgm:pt>
    <dgm:pt modelId="{F8669F94-5FCE-4DF0-81B1-C2FC812390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Purpose:</a:t>
          </a:r>
          <a:endParaRPr lang="en-US"/>
        </a:p>
      </dgm:t>
    </dgm:pt>
    <dgm:pt modelId="{A66ACECB-6BF3-4F11-B3EE-A3FD48B24B3C}" type="parTrans" cxnId="{BCD42260-27E8-4079-A68D-252BF22A09A4}">
      <dgm:prSet/>
      <dgm:spPr/>
      <dgm:t>
        <a:bodyPr/>
        <a:lstStyle/>
        <a:p>
          <a:endParaRPr lang="en-US"/>
        </a:p>
      </dgm:t>
    </dgm:pt>
    <dgm:pt modelId="{F7E812E3-FB9E-4007-BE22-3BA52232B1F5}" type="sibTrans" cxnId="{BCD42260-27E8-4079-A68D-252BF22A09A4}">
      <dgm:prSet/>
      <dgm:spPr/>
      <dgm:t>
        <a:bodyPr/>
        <a:lstStyle/>
        <a:p>
          <a:endParaRPr lang="en-US"/>
        </a:p>
      </dgm:t>
    </dgm:pt>
    <dgm:pt modelId="{87584797-01C5-4040-81F1-1437C6B56E9E}">
      <dgm:prSet/>
      <dgm:spPr/>
      <dgm:t>
        <a:bodyPr/>
        <a:lstStyle/>
        <a:p>
          <a:r>
            <a:rPr lang="en-US"/>
            <a:t>Prevents </a:t>
          </a:r>
          <a:r>
            <a:rPr lang="en-US" b="1"/>
            <a:t>inversion layer leakage</a:t>
          </a:r>
          <a:r>
            <a:rPr lang="en-US"/>
            <a:t> outside the intended channel.</a:t>
          </a:r>
        </a:p>
      </dgm:t>
    </dgm:pt>
    <dgm:pt modelId="{767468E3-EE84-4FB0-BB79-A1CCCEA3FC5B}" type="parTrans" cxnId="{58BEEBC1-9ADA-4184-A005-7D0E68025692}">
      <dgm:prSet/>
      <dgm:spPr/>
      <dgm:t>
        <a:bodyPr/>
        <a:lstStyle/>
        <a:p>
          <a:endParaRPr lang="en-US"/>
        </a:p>
      </dgm:t>
    </dgm:pt>
    <dgm:pt modelId="{D6437170-A103-43B0-929F-6AA5CB20C0D3}" type="sibTrans" cxnId="{58BEEBC1-9ADA-4184-A005-7D0E68025692}">
      <dgm:prSet/>
      <dgm:spPr/>
      <dgm:t>
        <a:bodyPr/>
        <a:lstStyle/>
        <a:p>
          <a:endParaRPr lang="en-US"/>
        </a:p>
      </dgm:t>
    </dgm:pt>
    <dgm:pt modelId="{19E3A843-CB0D-4DC5-9FC1-49D98361CB32}">
      <dgm:prSet/>
      <dgm:spPr/>
      <dgm:t>
        <a:bodyPr/>
        <a:lstStyle/>
        <a:p>
          <a:r>
            <a:rPr lang="en-US"/>
            <a:t>Stops parasitic channels from forming between source and drain.</a:t>
          </a:r>
        </a:p>
      </dgm:t>
    </dgm:pt>
    <dgm:pt modelId="{9E67D5D4-C9AF-4129-B1BD-F67CB14360FE}" type="parTrans" cxnId="{D693E7D9-98FB-43A0-8208-F3CADC5C6A8B}">
      <dgm:prSet/>
      <dgm:spPr/>
      <dgm:t>
        <a:bodyPr/>
        <a:lstStyle/>
        <a:p>
          <a:endParaRPr lang="en-US"/>
        </a:p>
      </dgm:t>
    </dgm:pt>
    <dgm:pt modelId="{8EF2AEB2-D48D-4260-8BF8-C701F47B5687}" type="sibTrans" cxnId="{D693E7D9-98FB-43A0-8208-F3CADC5C6A8B}">
      <dgm:prSet/>
      <dgm:spPr/>
      <dgm:t>
        <a:bodyPr/>
        <a:lstStyle/>
        <a:p>
          <a:endParaRPr lang="en-US"/>
        </a:p>
      </dgm:t>
    </dgm:pt>
    <dgm:pt modelId="{34DADD6C-7615-4072-B160-E7EC5AB2F4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Analogy:</a:t>
          </a:r>
          <a:r>
            <a:rPr lang="en-US"/>
            <a:t> Like putting barriers so current flows only in the proper path.</a:t>
          </a:r>
        </a:p>
      </dgm:t>
    </dgm:pt>
    <dgm:pt modelId="{65D5F990-5DAB-440A-8467-9B37D38FB269}" type="parTrans" cxnId="{0A862B66-9F27-4EC1-BB4F-7A485D47410A}">
      <dgm:prSet/>
      <dgm:spPr/>
      <dgm:t>
        <a:bodyPr/>
        <a:lstStyle/>
        <a:p>
          <a:endParaRPr lang="en-US"/>
        </a:p>
      </dgm:t>
    </dgm:pt>
    <dgm:pt modelId="{EF13A7D2-7B8A-4347-A736-2D019AF959AD}" type="sibTrans" cxnId="{0A862B66-9F27-4EC1-BB4F-7A485D47410A}">
      <dgm:prSet/>
      <dgm:spPr/>
      <dgm:t>
        <a:bodyPr/>
        <a:lstStyle/>
        <a:p>
          <a:endParaRPr lang="en-US"/>
        </a:p>
      </dgm:t>
    </dgm:pt>
    <dgm:pt modelId="{A85B1376-E85F-4AB1-9A53-9A69D03E04C2}" type="pres">
      <dgm:prSet presAssocID="{A3B1F08D-C434-4663-A81A-4A7773236DE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09A8F46-2127-445F-A078-B04898264567}" type="pres">
      <dgm:prSet presAssocID="{5DCE4978-4FF8-413F-A463-0233496223B5}" presName="hierRoot1" presStyleCnt="0"/>
      <dgm:spPr/>
    </dgm:pt>
    <dgm:pt modelId="{38438757-CA64-45C6-B9F9-3ED375299BCD}" type="pres">
      <dgm:prSet presAssocID="{5DCE4978-4FF8-413F-A463-0233496223B5}" presName="composite" presStyleCnt="0"/>
      <dgm:spPr/>
    </dgm:pt>
    <dgm:pt modelId="{9DFAB0A5-7CF1-413F-9F10-7E1E7D686F67}" type="pres">
      <dgm:prSet presAssocID="{5DCE4978-4FF8-413F-A463-0233496223B5}" presName="background" presStyleLbl="node0" presStyleIdx="0" presStyleCnt="3"/>
      <dgm:spPr/>
    </dgm:pt>
    <dgm:pt modelId="{1B6DB194-7AF8-44FE-8278-9D359652B449}" type="pres">
      <dgm:prSet presAssocID="{5DCE4978-4FF8-413F-A463-0233496223B5}" presName="text" presStyleLbl="fgAcc0" presStyleIdx="0" presStyleCnt="3">
        <dgm:presLayoutVars>
          <dgm:chPref val="3"/>
        </dgm:presLayoutVars>
      </dgm:prSet>
      <dgm:spPr/>
    </dgm:pt>
    <dgm:pt modelId="{31795D67-DE5D-4472-AE0A-408C82420A65}" type="pres">
      <dgm:prSet presAssocID="{5DCE4978-4FF8-413F-A463-0233496223B5}" presName="hierChild2" presStyleCnt="0"/>
      <dgm:spPr/>
    </dgm:pt>
    <dgm:pt modelId="{2BF4FCA8-9086-456F-A69B-B3D718C625EC}" type="pres">
      <dgm:prSet presAssocID="{F8669F94-5FCE-4DF0-81B1-C2FC812390CF}" presName="hierRoot1" presStyleCnt="0"/>
      <dgm:spPr/>
    </dgm:pt>
    <dgm:pt modelId="{82829F9F-3726-4B07-9C23-27783A98603A}" type="pres">
      <dgm:prSet presAssocID="{F8669F94-5FCE-4DF0-81B1-C2FC812390CF}" presName="composite" presStyleCnt="0"/>
      <dgm:spPr/>
    </dgm:pt>
    <dgm:pt modelId="{93BCCD6B-316B-4A56-8881-A7B93DC2AD38}" type="pres">
      <dgm:prSet presAssocID="{F8669F94-5FCE-4DF0-81B1-C2FC812390CF}" presName="background" presStyleLbl="node0" presStyleIdx="1" presStyleCnt="3"/>
      <dgm:spPr/>
    </dgm:pt>
    <dgm:pt modelId="{E62DEFE0-84D0-4783-8F18-643B8AEC0818}" type="pres">
      <dgm:prSet presAssocID="{F8669F94-5FCE-4DF0-81B1-C2FC812390CF}" presName="text" presStyleLbl="fgAcc0" presStyleIdx="1" presStyleCnt="3">
        <dgm:presLayoutVars>
          <dgm:chPref val="3"/>
        </dgm:presLayoutVars>
      </dgm:prSet>
      <dgm:spPr/>
    </dgm:pt>
    <dgm:pt modelId="{CC21A5A5-F847-403C-9D9D-2A33205769AB}" type="pres">
      <dgm:prSet presAssocID="{F8669F94-5FCE-4DF0-81B1-C2FC812390CF}" presName="hierChild2" presStyleCnt="0"/>
      <dgm:spPr/>
    </dgm:pt>
    <dgm:pt modelId="{D20021F8-3E38-45E1-9654-4F68E1F7A7FC}" type="pres">
      <dgm:prSet presAssocID="{767468E3-EE84-4FB0-BB79-A1CCCEA3FC5B}" presName="Name10" presStyleLbl="parChTrans1D2" presStyleIdx="0" presStyleCnt="2"/>
      <dgm:spPr/>
    </dgm:pt>
    <dgm:pt modelId="{18838DD1-6BC6-4BCC-9231-C87492C76E3F}" type="pres">
      <dgm:prSet presAssocID="{87584797-01C5-4040-81F1-1437C6B56E9E}" presName="hierRoot2" presStyleCnt="0"/>
      <dgm:spPr/>
    </dgm:pt>
    <dgm:pt modelId="{6C809B0A-340A-4FAC-A27D-F0469D590942}" type="pres">
      <dgm:prSet presAssocID="{87584797-01C5-4040-81F1-1437C6B56E9E}" presName="composite2" presStyleCnt="0"/>
      <dgm:spPr/>
    </dgm:pt>
    <dgm:pt modelId="{D7CB88BF-4DE9-4D74-9D28-B89B08BB6A8B}" type="pres">
      <dgm:prSet presAssocID="{87584797-01C5-4040-81F1-1437C6B56E9E}" presName="background2" presStyleLbl="node2" presStyleIdx="0" presStyleCnt="2"/>
      <dgm:spPr/>
    </dgm:pt>
    <dgm:pt modelId="{84445D53-E502-46CB-8206-BEEAC2297B5C}" type="pres">
      <dgm:prSet presAssocID="{87584797-01C5-4040-81F1-1437C6B56E9E}" presName="text2" presStyleLbl="fgAcc2" presStyleIdx="0" presStyleCnt="2">
        <dgm:presLayoutVars>
          <dgm:chPref val="3"/>
        </dgm:presLayoutVars>
      </dgm:prSet>
      <dgm:spPr/>
    </dgm:pt>
    <dgm:pt modelId="{5B4D059E-76DD-4A61-98C6-E9CE43786F51}" type="pres">
      <dgm:prSet presAssocID="{87584797-01C5-4040-81F1-1437C6B56E9E}" presName="hierChild3" presStyleCnt="0"/>
      <dgm:spPr/>
    </dgm:pt>
    <dgm:pt modelId="{CF16E2D7-9826-483C-BB63-8EF375BCFA8C}" type="pres">
      <dgm:prSet presAssocID="{9E67D5D4-C9AF-4129-B1BD-F67CB14360FE}" presName="Name10" presStyleLbl="parChTrans1D2" presStyleIdx="1" presStyleCnt="2"/>
      <dgm:spPr/>
    </dgm:pt>
    <dgm:pt modelId="{1556B3AE-DBB8-4ADF-A749-A6ED697196B9}" type="pres">
      <dgm:prSet presAssocID="{19E3A843-CB0D-4DC5-9FC1-49D98361CB32}" presName="hierRoot2" presStyleCnt="0"/>
      <dgm:spPr/>
    </dgm:pt>
    <dgm:pt modelId="{8D3DBD3C-2410-4656-9F90-0F66842E248C}" type="pres">
      <dgm:prSet presAssocID="{19E3A843-CB0D-4DC5-9FC1-49D98361CB32}" presName="composite2" presStyleCnt="0"/>
      <dgm:spPr/>
    </dgm:pt>
    <dgm:pt modelId="{840CDCDE-BF12-4ACA-8554-AF86F5AD9F78}" type="pres">
      <dgm:prSet presAssocID="{19E3A843-CB0D-4DC5-9FC1-49D98361CB32}" presName="background2" presStyleLbl="node2" presStyleIdx="1" presStyleCnt="2"/>
      <dgm:spPr/>
    </dgm:pt>
    <dgm:pt modelId="{AC7C00E0-7163-4976-90E7-D4E5C8546253}" type="pres">
      <dgm:prSet presAssocID="{19E3A843-CB0D-4DC5-9FC1-49D98361CB32}" presName="text2" presStyleLbl="fgAcc2" presStyleIdx="1" presStyleCnt="2">
        <dgm:presLayoutVars>
          <dgm:chPref val="3"/>
        </dgm:presLayoutVars>
      </dgm:prSet>
      <dgm:spPr/>
    </dgm:pt>
    <dgm:pt modelId="{F341D7B5-A8DB-4B6D-9DC0-B99FA738BA7D}" type="pres">
      <dgm:prSet presAssocID="{19E3A843-CB0D-4DC5-9FC1-49D98361CB32}" presName="hierChild3" presStyleCnt="0"/>
      <dgm:spPr/>
    </dgm:pt>
    <dgm:pt modelId="{0781124F-4DC3-490D-BF0D-91FC236640B0}" type="pres">
      <dgm:prSet presAssocID="{34DADD6C-7615-4072-B160-E7EC5AB2F4DA}" presName="hierRoot1" presStyleCnt="0"/>
      <dgm:spPr/>
    </dgm:pt>
    <dgm:pt modelId="{04DF9964-1AA8-4C3E-BDA0-3AEA893CD25D}" type="pres">
      <dgm:prSet presAssocID="{34DADD6C-7615-4072-B160-E7EC5AB2F4DA}" presName="composite" presStyleCnt="0"/>
      <dgm:spPr/>
    </dgm:pt>
    <dgm:pt modelId="{2AA6C4FE-1C33-48F7-BED4-7AACE3AE029B}" type="pres">
      <dgm:prSet presAssocID="{34DADD6C-7615-4072-B160-E7EC5AB2F4DA}" presName="background" presStyleLbl="node0" presStyleIdx="2" presStyleCnt="3"/>
      <dgm:spPr/>
    </dgm:pt>
    <dgm:pt modelId="{AD038DEC-624A-4F84-BECA-EF25913BB811}" type="pres">
      <dgm:prSet presAssocID="{34DADD6C-7615-4072-B160-E7EC5AB2F4DA}" presName="text" presStyleLbl="fgAcc0" presStyleIdx="2" presStyleCnt="3">
        <dgm:presLayoutVars>
          <dgm:chPref val="3"/>
        </dgm:presLayoutVars>
      </dgm:prSet>
      <dgm:spPr/>
    </dgm:pt>
    <dgm:pt modelId="{42CC19B3-5AFD-4E29-B5A4-10C2E84FCE77}" type="pres">
      <dgm:prSet presAssocID="{34DADD6C-7615-4072-B160-E7EC5AB2F4DA}" presName="hierChild2" presStyleCnt="0"/>
      <dgm:spPr/>
    </dgm:pt>
  </dgm:ptLst>
  <dgm:cxnLst>
    <dgm:cxn modelId="{09044E0F-FE4E-4C08-94D3-3A2C7CAB8783}" type="presOf" srcId="{9E67D5D4-C9AF-4129-B1BD-F67CB14360FE}" destId="{CF16E2D7-9826-483C-BB63-8EF375BCFA8C}" srcOrd="0" destOrd="0" presId="urn:microsoft.com/office/officeart/2005/8/layout/hierarchy1"/>
    <dgm:cxn modelId="{BCD42260-27E8-4079-A68D-252BF22A09A4}" srcId="{A3B1F08D-C434-4663-A81A-4A7773236DEB}" destId="{F8669F94-5FCE-4DF0-81B1-C2FC812390CF}" srcOrd="1" destOrd="0" parTransId="{A66ACECB-6BF3-4F11-B3EE-A3FD48B24B3C}" sibTransId="{F7E812E3-FB9E-4007-BE22-3BA52232B1F5}"/>
    <dgm:cxn modelId="{A3F04160-5397-4564-B534-D8234C412C3A}" type="presOf" srcId="{19E3A843-CB0D-4DC5-9FC1-49D98361CB32}" destId="{AC7C00E0-7163-4976-90E7-D4E5C8546253}" srcOrd="0" destOrd="0" presId="urn:microsoft.com/office/officeart/2005/8/layout/hierarchy1"/>
    <dgm:cxn modelId="{BB4AC343-54E8-46A6-91D5-1E82F5F0A356}" type="presOf" srcId="{767468E3-EE84-4FB0-BB79-A1CCCEA3FC5B}" destId="{D20021F8-3E38-45E1-9654-4F68E1F7A7FC}" srcOrd="0" destOrd="0" presId="urn:microsoft.com/office/officeart/2005/8/layout/hierarchy1"/>
    <dgm:cxn modelId="{0A862B66-9F27-4EC1-BB4F-7A485D47410A}" srcId="{A3B1F08D-C434-4663-A81A-4A7773236DEB}" destId="{34DADD6C-7615-4072-B160-E7EC5AB2F4DA}" srcOrd="2" destOrd="0" parTransId="{65D5F990-5DAB-440A-8467-9B37D38FB269}" sibTransId="{EF13A7D2-7B8A-4347-A736-2D019AF959AD}"/>
    <dgm:cxn modelId="{72FCFD51-031F-4007-A276-037DAC0C90D2}" type="presOf" srcId="{5DCE4978-4FF8-413F-A463-0233496223B5}" destId="{1B6DB194-7AF8-44FE-8278-9D359652B449}" srcOrd="0" destOrd="0" presId="urn:microsoft.com/office/officeart/2005/8/layout/hierarchy1"/>
    <dgm:cxn modelId="{8A06917D-619D-4D00-A8B7-45C25767E5DC}" type="presOf" srcId="{A3B1F08D-C434-4663-A81A-4A7773236DEB}" destId="{A85B1376-E85F-4AB1-9A53-9A69D03E04C2}" srcOrd="0" destOrd="0" presId="urn:microsoft.com/office/officeart/2005/8/layout/hierarchy1"/>
    <dgm:cxn modelId="{55E5889F-C540-45E3-B08A-9A2502B67801}" type="presOf" srcId="{87584797-01C5-4040-81F1-1437C6B56E9E}" destId="{84445D53-E502-46CB-8206-BEEAC2297B5C}" srcOrd="0" destOrd="0" presId="urn:microsoft.com/office/officeart/2005/8/layout/hierarchy1"/>
    <dgm:cxn modelId="{58BEEBC1-9ADA-4184-A005-7D0E68025692}" srcId="{F8669F94-5FCE-4DF0-81B1-C2FC812390CF}" destId="{87584797-01C5-4040-81F1-1437C6B56E9E}" srcOrd="0" destOrd="0" parTransId="{767468E3-EE84-4FB0-BB79-A1CCCEA3FC5B}" sibTransId="{D6437170-A103-43B0-929F-6AA5CB20C0D3}"/>
    <dgm:cxn modelId="{D693E7D9-98FB-43A0-8208-F3CADC5C6A8B}" srcId="{F8669F94-5FCE-4DF0-81B1-C2FC812390CF}" destId="{19E3A843-CB0D-4DC5-9FC1-49D98361CB32}" srcOrd="1" destOrd="0" parTransId="{9E67D5D4-C9AF-4129-B1BD-F67CB14360FE}" sibTransId="{8EF2AEB2-D48D-4260-8BF8-C701F47B5687}"/>
    <dgm:cxn modelId="{FF5BCBED-23C6-4DCE-BC75-635CB83F7400}" type="presOf" srcId="{34DADD6C-7615-4072-B160-E7EC5AB2F4DA}" destId="{AD038DEC-624A-4F84-BECA-EF25913BB811}" srcOrd="0" destOrd="0" presId="urn:microsoft.com/office/officeart/2005/8/layout/hierarchy1"/>
    <dgm:cxn modelId="{C03734F0-6102-4EC8-9905-77F6F57CD54B}" type="presOf" srcId="{F8669F94-5FCE-4DF0-81B1-C2FC812390CF}" destId="{E62DEFE0-84D0-4783-8F18-643B8AEC0818}" srcOrd="0" destOrd="0" presId="urn:microsoft.com/office/officeart/2005/8/layout/hierarchy1"/>
    <dgm:cxn modelId="{9CDCD2F7-58D0-4094-BAFF-103E3397498D}" srcId="{A3B1F08D-C434-4663-A81A-4A7773236DEB}" destId="{5DCE4978-4FF8-413F-A463-0233496223B5}" srcOrd="0" destOrd="0" parTransId="{2427715D-0913-4D91-AC7C-B059771EEE47}" sibTransId="{A51083C9-7DB0-4FB5-8F74-15715BC0CCD6}"/>
    <dgm:cxn modelId="{FED2A765-7B42-4251-A490-2DD8E8693A07}" type="presParOf" srcId="{A85B1376-E85F-4AB1-9A53-9A69D03E04C2}" destId="{B09A8F46-2127-445F-A078-B04898264567}" srcOrd="0" destOrd="0" presId="urn:microsoft.com/office/officeart/2005/8/layout/hierarchy1"/>
    <dgm:cxn modelId="{60ADDB8A-3546-4FC2-B791-6BBDAA5C2661}" type="presParOf" srcId="{B09A8F46-2127-445F-A078-B04898264567}" destId="{38438757-CA64-45C6-B9F9-3ED375299BCD}" srcOrd="0" destOrd="0" presId="urn:microsoft.com/office/officeart/2005/8/layout/hierarchy1"/>
    <dgm:cxn modelId="{E1E4160C-A4D0-4946-BA52-B03D8C277702}" type="presParOf" srcId="{38438757-CA64-45C6-B9F9-3ED375299BCD}" destId="{9DFAB0A5-7CF1-413F-9F10-7E1E7D686F67}" srcOrd="0" destOrd="0" presId="urn:microsoft.com/office/officeart/2005/8/layout/hierarchy1"/>
    <dgm:cxn modelId="{D733348F-AF6A-49D1-BFD2-5DF86849A9B4}" type="presParOf" srcId="{38438757-CA64-45C6-B9F9-3ED375299BCD}" destId="{1B6DB194-7AF8-44FE-8278-9D359652B449}" srcOrd="1" destOrd="0" presId="urn:microsoft.com/office/officeart/2005/8/layout/hierarchy1"/>
    <dgm:cxn modelId="{876CB192-513F-41AB-A0CB-4A49E543F095}" type="presParOf" srcId="{B09A8F46-2127-445F-A078-B04898264567}" destId="{31795D67-DE5D-4472-AE0A-408C82420A65}" srcOrd="1" destOrd="0" presId="urn:microsoft.com/office/officeart/2005/8/layout/hierarchy1"/>
    <dgm:cxn modelId="{6806FC83-3A50-4420-8585-2E9BBD715246}" type="presParOf" srcId="{A85B1376-E85F-4AB1-9A53-9A69D03E04C2}" destId="{2BF4FCA8-9086-456F-A69B-B3D718C625EC}" srcOrd="1" destOrd="0" presId="urn:microsoft.com/office/officeart/2005/8/layout/hierarchy1"/>
    <dgm:cxn modelId="{78C3316E-F222-4D20-95FE-56CC582607D9}" type="presParOf" srcId="{2BF4FCA8-9086-456F-A69B-B3D718C625EC}" destId="{82829F9F-3726-4B07-9C23-27783A98603A}" srcOrd="0" destOrd="0" presId="urn:microsoft.com/office/officeart/2005/8/layout/hierarchy1"/>
    <dgm:cxn modelId="{542D66A4-178E-4D2A-A427-925AE16AD3A3}" type="presParOf" srcId="{82829F9F-3726-4B07-9C23-27783A98603A}" destId="{93BCCD6B-316B-4A56-8881-A7B93DC2AD38}" srcOrd="0" destOrd="0" presId="urn:microsoft.com/office/officeart/2005/8/layout/hierarchy1"/>
    <dgm:cxn modelId="{137619C4-24B0-4182-8530-8ACA06FBAFB6}" type="presParOf" srcId="{82829F9F-3726-4B07-9C23-27783A98603A}" destId="{E62DEFE0-84D0-4783-8F18-643B8AEC0818}" srcOrd="1" destOrd="0" presId="urn:microsoft.com/office/officeart/2005/8/layout/hierarchy1"/>
    <dgm:cxn modelId="{EE1B314A-30D6-4616-854B-7AD586289451}" type="presParOf" srcId="{2BF4FCA8-9086-456F-A69B-B3D718C625EC}" destId="{CC21A5A5-F847-403C-9D9D-2A33205769AB}" srcOrd="1" destOrd="0" presId="urn:microsoft.com/office/officeart/2005/8/layout/hierarchy1"/>
    <dgm:cxn modelId="{0ED41BF7-EDF7-403F-80D3-203CBB445271}" type="presParOf" srcId="{CC21A5A5-F847-403C-9D9D-2A33205769AB}" destId="{D20021F8-3E38-45E1-9654-4F68E1F7A7FC}" srcOrd="0" destOrd="0" presId="urn:microsoft.com/office/officeart/2005/8/layout/hierarchy1"/>
    <dgm:cxn modelId="{7264B7D4-C5E9-4075-8438-46C6BB0C33A4}" type="presParOf" srcId="{CC21A5A5-F847-403C-9D9D-2A33205769AB}" destId="{18838DD1-6BC6-4BCC-9231-C87492C76E3F}" srcOrd="1" destOrd="0" presId="urn:microsoft.com/office/officeart/2005/8/layout/hierarchy1"/>
    <dgm:cxn modelId="{4BF7CFFC-AA7D-46F4-8883-DC6DAA207B18}" type="presParOf" srcId="{18838DD1-6BC6-4BCC-9231-C87492C76E3F}" destId="{6C809B0A-340A-4FAC-A27D-F0469D590942}" srcOrd="0" destOrd="0" presId="urn:microsoft.com/office/officeart/2005/8/layout/hierarchy1"/>
    <dgm:cxn modelId="{174E3512-B3C5-4C21-A7F4-6C71491D1448}" type="presParOf" srcId="{6C809B0A-340A-4FAC-A27D-F0469D590942}" destId="{D7CB88BF-4DE9-4D74-9D28-B89B08BB6A8B}" srcOrd="0" destOrd="0" presId="urn:microsoft.com/office/officeart/2005/8/layout/hierarchy1"/>
    <dgm:cxn modelId="{2758C4C1-5670-4A62-AD7B-036A7D7BC60F}" type="presParOf" srcId="{6C809B0A-340A-4FAC-A27D-F0469D590942}" destId="{84445D53-E502-46CB-8206-BEEAC2297B5C}" srcOrd="1" destOrd="0" presId="urn:microsoft.com/office/officeart/2005/8/layout/hierarchy1"/>
    <dgm:cxn modelId="{FC9A3483-C156-4AED-8E71-3680A24B6663}" type="presParOf" srcId="{18838DD1-6BC6-4BCC-9231-C87492C76E3F}" destId="{5B4D059E-76DD-4A61-98C6-E9CE43786F51}" srcOrd="1" destOrd="0" presId="urn:microsoft.com/office/officeart/2005/8/layout/hierarchy1"/>
    <dgm:cxn modelId="{6B604425-4BB9-4A58-9BDF-E12B5E59D949}" type="presParOf" srcId="{CC21A5A5-F847-403C-9D9D-2A33205769AB}" destId="{CF16E2D7-9826-483C-BB63-8EF375BCFA8C}" srcOrd="2" destOrd="0" presId="urn:microsoft.com/office/officeart/2005/8/layout/hierarchy1"/>
    <dgm:cxn modelId="{0F6D2AE9-02C0-4D10-BF48-5A9B089FE393}" type="presParOf" srcId="{CC21A5A5-F847-403C-9D9D-2A33205769AB}" destId="{1556B3AE-DBB8-4ADF-A749-A6ED697196B9}" srcOrd="3" destOrd="0" presId="urn:microsoft.com/office/officeart/2005/8/layout/hierarchy1"/>
    <dgm:cxn modelId="{A92E6554-56E4-4EBB-900B-3A619787B1D5}" type="presParOf" srcId="{1556B3AE-DBB8-4ADF-A749-A6ED697196B9}" destId="{8D3DBD3C-2410-4656-9F90-0F66842E248C}" srcOrd="0" destOrd="0" presId="urn:microsoft.com/office/officeart/2005/8/layout/hierarchy1"/>
    <dgm:cxn modelId="{8F8C5E45-B228-4B4D-AEBB-646E33084379}" type="presParOf" srcId="{8D3DBD3C-2410-4656-9F90-0F66842E248C}" destId="{840CDCDE-BF12-4ACA-8554-AF86F5AD9F78}" srcOrd="0" destOrd="0" presId="urn:microsoft.com/office/officeart/2005/8/layout/hierarchy1"/>
    <dgm:cxn modelId="{B6CE70F9-4836-4BB4-87A8-F31C6D1CB26F}" type="presParOf" srcId="{8D3DBD3C-2410-4656-9F90-0F66842E248C}" destId="{AC7C00E0-7163-4976-90E7-D4E5C8546253}" srcOrd="1" destOrd="0" presId="urn:microsoft.com/office/officeart/2005/8/layout/hierarchy1"/>
    <dgm:cxn modelId="{0B9D45B9-DB76-4BB9-A65B-92CBE05E2645}" type="presParOf" srcId="{1556B3AE-DBB8-4ADF-A749-A6ED697196B9}" destId="{F341D7B5-A8DB-4B6D-9DC0-B99FA738BA7D}" srcOrd="1" destOrd="0" presId="urn:microsoft.com/office/officeart/2005/8/layout/hierarchy1"/>
    <dgm:cxn modelId="{B13AB793-F7AE-41EA-BC91-F75F81DA696F}" type="presParOf" srcId="{A85B1376-E85F-4AB1-9A53-9A69D03E04C2}" destId="{0781124F-4DC3-490D-BF0D-91FC236640B0}" srcOrd="2" destOrd="0" presId="urn:microsoft.com/office/officeart/2005/8/layout/hierarchy1"/>
    <dgm:cxn modelId="{FB93D25E-9D56-4C3F-9B3F-FF5953EEC439}" type="presParOf" srcId="{0781124F-4DC3-490D-BF0D-91FC236640B0}" destId="{04DF9964-1AA8-4C3E-BDA0-3AEA893CD25D}" srcOrd="0" destOrd="0" presId="urn:microsoft.com/office/officeart/2005/8/layout/hierarchy1"/>
    <dgm:cxn modelId="{8B8E26A9-2A19-4EE0-B901-1B77EB1F123D}" type="presParOf" srcId="{04DF9964-1AA8-4C3E-BDA0-3AEA893CD25D}" destId="{2AA6C4FE-1C33-48F7-BED4-7AACE3AE029B}" srcOrd="0" destOrd="0" presId="urn:microsoft.com/office/officeart/2005/8/layout/hierarchy1"/>
    <dgm:cxn modelId="{FA35B48A-7661-42EE-952D-5EADF3DEDB88}" type="presParOf" srcId="{04DF9964-1AA8-4C3E-BDA0-3AEA893CD25D}" destId="{AD038DEC-624A-4F84-BECA-EF25913BB811}" srcOrd="1" destOrd="0" presId="urn:microsoft.com/office/officeart/2005/8/layout/hierarchy1"/>
    <dgm:cxn modelId="{91D51258-7D54-4660-83D8-AA86366B4620}" type="presParOf" srcId="{0781124F-4DC3-490D-BF0D-91FC236640B0}" destId="{42CC19B3-5AFD-4E29-B5A4-10C2E84FCE7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FE0EBAF-A945-426D-B713-9EB09635A169}" type="doc">
      <dgm:prSet loTypeId="urn:microsoft.com/office/officeart/2005/8/layout/process4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59AFA1E-25BB-46A6-BEC9-81C2EBD660B2}">
      <dgm:prSet/>
      <dgm:spPr/>
      <dgm:t>
        <a:bodyPr/>
        <a:lstStyle/>
        <a:p>
          <a:r>
            <a:rPr lang="en-US" b="1"/>
            <a:t>What it is:</a:t>
          </a:r>
          <a:br>
            <a:rPr lang="en-US"/>
          </a:br>
          <a:r>
            <a:rPr lang="en-US"/>
            <a:t>A process of depositing a thin film of polysilicon (polycrystalline silicon) on the wafer using </a:t>
          </a:r>
          <a:r>
            <a:rPr lang="en-US" b="1"/>
            <a:t>Chemical Vapor Deposition (CVD).</a:t>
          </a:r>
          <a:endParaRPr lang="en-US"/>
        </a:p>
      </dgm:t>
    </dgm:pt>
    <dgm:pt modelId="{44C510C8-3839-49F0-95C9-AED7D0CB7BF3}" type="parTrans" cxnId="{D43AB8FC-A07D-4295-A966-D2B58509E89A}">
      <dgm:prSet/>
      <dgm:spPr/>
      <dgm:t>
        <a:bodyPr/>
        <a:lstStyle/>
        <a:p>
          <a:endParaRPr lang="en-US"/>
        </a:p>
      </dgm:t>
    </dgm:pt>
    <dgm:pt modelId="{DFD73B94-FA79-464B-8657-43B51ECCED9A}" type="sibTrans" cxnId="{D43AB8FC-A07D-4295-A966-D2B58509E89A}">
      <dgm:prSet/>
      <dgm:spPr/>
      <dgm:t>
        <a:bodyPr/>
        <a:lstStyle/>
        <a:p>
          <a:endParaRPr lang="en-US"/>
        </a:p>
      </dgm:t>
    </dgm:pt>
    <dgm:pt modelId="{069D6D39-DC4C-4E24-9DE1-F251A2D9111C}">
      <dgm:prSet/>
      <dgm:spPr/>
      <dgm:t>
        <a:bodyPr/>
        <a:lstStyle/>
        <a:p>
          <a:r>
            <a:rPr lang="en-US" b="1"/>
            <a:t>Why polysilicon?</a:t>
          </a:r>
          <a:endParaRPr lang="en-US"/>
        </a:p>
      </dgm:t>
    </dgm:pt>
    <dgm:pt modelId="{AF9F1823-E153-46CF-A2E9-C9042BDB2E76}" type="parTrans" cxnId="{EB45D985-9ED0-4B8D-BEEF-8774410CCC15}">
      <dgm:prSet/>
      <dgm:spPr/>
      <dgm:t>
        <a:bodyPr/>
        <a:lstStyle/>
        <a:p>
          <a:endParaRPr lang="en-US"/>
        </a:p>
      </dgm:t>
    </dgm:pt>
    <dgm:pt modelId="{3C92F368-BC1D-4052-94FE-8CD2B8AB0762}" type="sibTrans" cxnId="{EB45D985-9ED0-4B8D-BEEF-8774410CCC15}">
      <dgm:prSet/>
      <dgm:spPr/>
      <dgm:t>
        <a:bodyPr/>
        <a:lstStyle/>
        <a:p>
          <a:endParaRPr lang="en-US"/>
        </a:p>
      </dgm:t>
    </dgm:pt>
    <dgm:pt modelId="{C37EE103-1C61-48D4-B8ED-F5669124680C}">
      <dgm:prSet/>
      <dgm:spPr/>
      <dgm:t>
        <a:bodyPr/>
        <a:lstStyle/>
        <a:p>
          <a:r>
            <a:rPr lang="en-US"/>
            <a:t>Used as </a:t>
          </a:r>
          <a:r>
            <a:rPr lang="en-US" b="1"/>
            <a:t>gate material</a:t>
          </a:r>
          <a:r>
            <a:rPr lang="en-US"/>
            <a:t>.</a:t>
          </a:r>
        </a:p>
      </dgm:t>
    </dgm:pt>
    <dgm:pt modelId="{37E2703D-462D-4458-B912-FFF5F771FA27}" type="parTrans" cxnId="{C65726AA-C736-4720-8ED8-6BC2BCD29D7B}">
      <dgm:prSet/>
      <dgm:spPr/>
      <dgm:t>
        <a:bodyPr/>
        <a:lstStyle/>
        <a:p>
          <a:endParaRPr lang="en-US"/>
        </a:p>
      </dgm:t>
    </dgm:pt>
    <dgm:pt modelId="{8C13D85A-8D4D-4266-BA3E-557C4E925BD0}" type="sibTrans" cxnId="{C65726AA-C736-4720-8ED8-6BC2BCD29D7B}">
      <dgm:prSet/>
      <dgm:spPr/>
      <dgm:t>
        <a:bodyPr/>
        <a:lstStyle/>
        <a:p>
          <a:endParaRPr lang="en-US"/>
        </a:p>
      </dgm:t>
    </dgm:pt>
    <dgm:pt modelId="{71C89BDD-DC36-4E5F-B091-9D481125599E}">
      <dgm:prSet/>
      <dgm:spPr/>
      <dgm:t>
        <a:bodyPr/>
        <a:lstStyle/>
        <a:p>
          <a:r>
            <a:rPr lang="en-US"/>
            <a:t>Can act as </a:t>
          </a:r>
          <a:r>
            <a:rPr lang="en-US" b="1"/>
            <a:t>resistors</a:t>
          </a:r>
          <a:r>
            <a:rPr lang="en-US"/>
            <a:t> or interconnects.</a:t>
          </a:r>
        </a:p>
      </dgm:t>
    </dgm:pt>
    <dgm:pt modelId="{65300F96-611B-4A29-8027-08F05AA3E935}" type="parTrans" cxnId="{3CC97EAA-7394-46CC-BC15-9CC3B6422577}">
      <dgm:prSet/>
      <dgm:spPr/>
      <dgm:t>
        <a:bodyPr/>
        <a:lstStyle/>
        <a:p>
          <a:endParaRPr lang="en-US"/>
        </a:p>
      </dgm:t>
    </dgm:pt>
    <dgm:pt modelId="{8F6FC4EC-42C6-4520-B17E-1BB8944D8053}" type="sibTrans" cxnId="{3CC97EAA-7394-46CC-BC15-9CC3B6422577}">
      <dgm:prSet/>
      <dgm:spPr/>
      <dgm:t>
        <a:bodyPr/>
        <a:lstStyle/>
        <a:p>
          <a:endParaRPr lang="en-US"/>
        </a:p>
      </dgm:t>
    </dgm:pt>
    <dgm:pt modelId="{05912678-0CFD-45E7-859A-AC62B2D1AB6C}">
      <dgm:prSet/>
      <dgm:spPr/>
      <dgm:t>
        <a:bodyPr/>
        <a:lstStyle/>
        <a:p>
          <a:r>
            <a:rPr lang="en-US"/>
            <a:t>Works well in high-temperature processes.</a:t>
          </a:r>
        </a:p>
      </dgm:t>
    </dgm:pt>
    <dgm:pt modelId="{DA98D84F-295B-4BDA-90E2-056A316D532B}" type="parTrans" cxnId="{10D17145-DF9C-4F35-8A5D-B8BA6BF9D656}">
      <dgm:prSet/>
      <dgm:spPr/>
      <dgm:t>
        <a:bodyPr/>
        <a:lstStyle/>
        <a:p>
          <a:endParaRPr lang="en-US"/>
        </a:p>
      </dgm:t>
    </dgm:pt>
    <dgm:pt modelId="{33B646C9-D1A4-498D-BF95-FD043B9B546D}" type="sibTrans" cxnId="{10D17145-DF9C-4F35-8A5D-B8BA6BF9D656}">
      <dgm:prSet/>
      <dgm:spPr/>
      <dgm:t>
        <a:bodyPr/>
        <a:lstStyle/>
        <a:p>
          <a:endParaRPr lang="en-US"/>
        </a:p>
      </dgm:t>
    </dgm:pt>
    <dgm:pt modelId="{D96ADEE9-1DEB-4900-894B-0129FB9E0DC0}" type="pres">
      <dgm:prSet presAssocID="{AFE0EBAF-A945-426D-B713-9EB09635A169}" presName="Name0" presStyleCnt="0">
        <dgm:presLayoutVars>
          <dgm:dir/>
          <dgm:animLvl val="lvl"/>
          <dgm:resizeHandles val="exact"/>
        </dgm:presLayoutVars>
      </dgm:prSet>
      <dgm:spPr/>
    </dgm:pt>
    <dgm:pt modelId="{08DC586A-6325-4B0F-B128-E7D92845D829}" type="pres">
      <dgm:prSet presAssocID="{069D6D39-DC4C-4E24-9DE1-F251A2D9111C}" presName="boxAndChildren" presStyleCnt="0"/>
      <dgm:spPr/>
    </dgm:pt>
    <dgm:pt modelId="{5BCD2F4E-546E-483B-BC36-D852C32F7EAF}" type="pres">
      <dgm:prSet presAssocID="{069D6D39-DC4C-4E24-9DE1-F251A2D9111C}" presName="parentTextBox" presStyleLbl="node1" presStyleIdx="0" presStyleCnt="2"/>
      <dgm:spPr/>
    </dgm:pt>
    <dgm:pt modelId="{A919EEDE-A93A-4CB0-9467-2EB49DAE5EFA}" type="pres">
      <dgm:prSet presAssocID="{069D6D39-DC4C-4E24-9DE1-F251A2D9111C}" presName="entireBox" presStyleLbl="node1" presStyleIdx="0" presStyleCnt="2"/>
      <dgm:spPr/>
    </dgm:pt>
    <dgm:pt modelId="{344F6426-F782-46E7-AF01-B15809B14776}" type="pres">
      <dgm:prSet presAssocID="{069D6D39-DC4C-4E24-9DE1-F251A2D9111C}" presName="descendantBox" presStyleCnt="0"/>
      <dgm:spPr/>
    </dgm:pt>
    <dgm:pt modelId="{22B68EDB-B7CA-4B7A-8566-92975B2C83B0}" type="pres">
      <dgm:prSet presAssocID="{C37EE103-1C61-48D4-B8ED-F5669124680C}" presName="childTextBox" presStyleLbl="fgAccFollowNode1" presStyleIdx="0" presStyleCnt="3">
        <dgm:presLayoutVars>
          <dgm:bulletEnabled val="1"/>
        </dgm:presLayoutVars>
      </dgm:prSet>
      <dgm:spPr/>
    </dgm:pt>
    <dgm:pt modelId="{B49CDB9E-E121-4185-9AE8-9D0114D8CD6D}" type="pres">
      <dgm:prSet presAssocID="{71C89BDD-DC36-4E5F-B091-9D481125599E}" presName="childTextBox" presStyleLbl="fgAccFollowNode1" presStyleIdx="1" presStyleCnt="3">
        <dgm:presLayoutVars>
          <dgm:bulletEnabled val="1"/>
        </dgm:presLayoutVars>
      </dgm:prSet>
      <dgm:spPr/>
    </dgm:pt>
    <dgm:pt modelId="{49818E83-4EF4-46DC-8E77-974020EAE09C}" type="pres">
      <dgm:prSet presAssocID="{05912678-0CFD-45E7-859A-AC62B2D1AB6C}" presName="childTextBox" presStyleLbl="fgAccFollowNode1" presStyleIdx="2" presStyleCnt="3">
        <dgm:presLayoutVars>
          <dgm:bulletEnabled val="1"/>
        </dgm:presLayoutVars>
      </dgm:prSet>
      <dgm:spPr/>
    </dgm:pt>
    <dgm:pt modelId="{8B5C8627-BA54-4B9E-AD9B-83646593ABAD}" type="pres">
      <dgm:prSet presAssocID="{DFD73B94-FA79-464B-8657-43B51ECCED9A}" presName="sp" presStyleCnt="0"/>
      <dgm:spPr/>
    </dgm:pt>
    <dgm:pt modelId="{C0F2AE73-5C7F-463E-8579-D7AE44BABB90}" type="pres">
      <dgm:prSet presAssocID="{E59AFA1E-25BB-46A6-BEC9-81C2EBD660B2}" presName="arrowAndChildren" presStyleCnt="0"/>
      <dgm:spPr/>
    </dgm:pt>
    <dgm:pt modelId="{C3A4BCEA-A0F0-42B9-9248-BA03D1ABC202}" type="pres">
      <dgm:prSet presAssocID="{E59AFA1E-25BB-46A6-BEC9-81C2EBD660B2}" presName="parentTextArrow" presStyleLbl="node1" presStyleIdx="1" presStyleCnt="2" custLinFactNeighborX="0" custLinFactNeighborY="-26295"/>
      <dgm:spPr/>
    </dgm:pt>
  </dgm:ptLst>
  <dgm:cxnLst>
    <dgm:cxn modelId="{AFD2A00B-8346-42A9-BB4B-CAE81133D44F}" type="presOf" srcId="{71C89BDD-DC36-4E5F-B091-9D481125599E}" destId="{B49CDB9E-E121-4185-9AE8-9D0114D8CD6D}" srcOrd="0" destOrd="0" presId="urn:microsoft.com/office/officeart/2005/8/layout/process4"/>
    <dgm:cxn modelId="{10D17145-DF9C-4F35-8A5D-B8BA6BF9D656}" srcId="{069D6D39-DC4C-4E24-9DE1-F251A2D9111C}" destId="{05912678-0CFD-45E7-859A-AC62B2D1AB6C}" srcOrd="2" destOrd="0" parTransId="{DA98D84F-295B-4BDA-90E2-056A316D532B}" sibTransId="{33B646C9-D1A4-498D-BF95-FD043B9B546D}"/>
    <dgm:cxn modelId="{3C61EF4E-33FE-4DD0-911B-4F64D8A4C9D4}" type="presOf" srcId="{AFE0EBAF-A945-426D-B713-9EB09635A169}" destId="{D96ADEE9-1DEB-4900-894B-0129FB9E0DC0}" srcOrd="0" destOrd="0" presId="urn:microsoft.com/office/officeart/2005/8/layout/process4"/>
    <dgm:cxn modelId="{5A930558-BC22-4DF0-B42E-7A4BCF2A21B2}" type="presOf" srcId="{069D6D39-DC4C-4E24-9DE1-F251A2D9111C}" destId="{A919EEDE-A93A-4CB0-9467-2EB49DAE5EFA}" srcOrd="1" destOrd="0" presId="urn:microsoft.com/office/officeart/2005/8/layout/process4"/>
    <dgm:cxn modelId="{EB45D985-9ED0-4B8D-BEEF-8774410CCC15}" srcId="{AFE0EBAF-A945-426D-B713-9EB09635A169}" destId="{069D6D39-DC4C-4E24-9DE1-F251A2D9111C}" srcOrd="1" destOrd="0" parTransId="{AF9F1823-E153-46CF-A2E9-C9042BDB2E76}" sibTransId="{3C92F368-BC1D-4052-94FE-8CD2B8AB0762}"/>
    <dgm:cxn modelId="{C65726AA-C736-4720-8ED8-6BC2BCD29D7B}" srcId="{069D6D39-DC4C-4E24-9DE1-F251A2D9111C}" destId="{C37EE103-1C61-48D4-B8ED-F5669124680C}" srcOrd="0" destOrd="0" parTransId="{37E2703D-462D-4458-B912-FFF5F771FA27}" sibTransId="{8C13D85A-8D4D-4266-BA3E-557C4E925BD0}"/>
    <dgm:cxn modelId="{3CC97EAA-7394-46CC-BC15-9CC3B6422577}" srcId="{069D6D39-DC4C-4E24-9DE1-F251A2D9111C}" destId="{71C89BDD-DC36-4E5F-B091-9D481125599E}" srcOrd="1" destOrd="0" parTransId="{65300F96-611B-4A29-8027-08F05AA3E935}" sibTransId="{8F6FC4EC-42C6-4520-B17E-1BB8944D8053}"/>
    <dgm:cxn modelId="{92CCF8AE-728C-4D19-8643-022979B60E92}" type="presOf" srcId="{C37EE103-1C61-48D4-B8ED-F5669124680C}" destId="{22B68EDB-B7CA-4B7A-8566-92975B2C83B0}" srcOrd="0" destOrd="0" presId="urn:microsoft.com/office/officeart/2005/8/layout/process4"/>
    <dgm:cxn modelId="{22B259B4-5145-4EDD-826C-E7BDA768DFF7}" type="presOf" srcId="{05912678-0CFD-45E7-859A-AC62B2D1AB6C}" destId="{49818E83-4EF4-46DC-8E77-974020EAE09C}" srcOrd="0" destOrd="0" presId="urn:microsoft.com/office/officeart/2005/8/layout/process4"/>
    <dgm:cxn modelId="{5BED5CEB-D6CA-4622-B07A-31E3A2E833EF}" type="presOf" srcId="{E59AFA1E-25BB-46A6-BEC9-81C2EBD660B2}" destId="{C3A4BCEA-A0F0-42B9-9248-BA03D1ABC202}" srcOrd="0" destOrd="0" presId="urn:microsoft.com/office/officeart/2005/8/layout/process4"/>
    <dgm:cxn modelId="{0EBEC4EE-4940-49CC-B8D9-7209C812DCF6}" type="presOf" srcId="{069D6D39-DC4C-4E24-9DE1-F251A2D9111C}" destId="{5BCD2F4E-546E-483B-BC36-D852C32F7EAF}" srcOrd="0" destOrd="0" presId="urn:microsoft.com/office/officeart/2005/8/layout/process4"/>
    <dgm:cxn modelId="{D43AB8FC-A07D-4295-A966-D2B58509E89A}" srcId="{AFE0EBAF-A945-426D-B713-9EB09635A169}" destId="{E59AFA1E-25BB-46A6-BEC9-81C2EBD660B2}" srcOrd="0" destOrd="0" parTransId="{44C510C8-3839-49F0-95C9-AED7D0CB7BF3}" sibTransId="{DFD73B94-FA79-464B-8657-43B51ECCED9A}"/>
    <dgm:cxn modelId="{599678F6-5FC5-489B-AF0B-05CA19952D89}" type="presParOf" srcId="{D96ADEE9-1DEB-4900-894B-0129FB9E0DC0}" destId="{08DC586A-6325-4B0F-B128-E7D92845D829}" srcOrd="0" destOrd="0" presId="urn:microsoft.com/office/officeart/2005/8/layout/process4"/>
    <dgm:cxn modelId="{C01EBAA0-C593-4070-B53C-9AB0BC89EA65}" type="presParOf" srcId="{08DC586A-6325-4B0F-B128-E7D92845D829}" destId="{5BCD2F4E-546E-483B-BC36-D852C32F7EAF}" srcOrd="0" destOrd="0" presId="urn:microsoft.com/office/officeart/2005/8/layout/process4"/>
    <dgm:cxn modelId="{61A08900-2890-4471-93F8-9695E7843DB3}" type="presParOf" srcId="{08DC586A-6325-4B0F-B128-E7D92845D829}" destId="{A919EEDE-A93A-4CB0-9467-2EB49DAE5EFA}" srcOrd="1" destOrd="0" presId="urn:microsoft.com/office/officeart/2005/8/layout/process4"/>
    <dgm:cxn modelId="{10C7B357-5342-4DEA-90DF-539BF1727868}" type="presParOf" srcId="{08DC586A-6325-4B0F-B128-E7D92845D829}" destId="{344F6426-F782-46E7-AF01-B15809B14776}" srcOrd="2" destOrd="0" presId="urn:microsoft.com/office/officeart/2005/8/layout/process4"/>
    <dgm:cxn modelId="{1DCC9FB3-34D8-4FFE-9DF0-4E36F246E446}" type="presParOf" srcId="{344F6426-F782-46E7-AF01-B15809B14776}" destId="{22B68EDB-B7CA-4B7A-8566-92975B2C83B0}" srcOrd="0" destOrd="0" presId="urn:microsoft.com/office/officeart/2005/8/layout/process4"/>
    <dgm:cxn modelId="{FB2EEC8B-69F1-4ED7-964D-CDADD757F0F0}" type="presParOf" srcId="{344F6426-F782-46E7-AF01-B15809B14776}" destId="{B49CDB9E-E121-4185-9AE8-9D0114D8CD6D}" srcOrd="1" destOrd="0" presId="urn:microsoft.com/office/officeart/2005/8/layout/process4"/>
    <dgm:cxn modelId="{ED0C017E-8951-4F01-9979-D7122EAFF7AD}" type="presParOf" srcId="{344F6426-F782-46E7-AF01-B15809B14776}" destId="{49818E83-4EF4-46DC-8E77-974020EAE09C}" srcOrd="2" destOrd="0" presId="urn:microsoft.com/office/officeart/2005/8/layout/process4"/>
    <dgm:cxn modelId="{D1BD10DF-0D80-4C6D-8454-88F054FC6CFE}" type="presParOf" srcId="{D96ADEE9-1DEB-4900-894B-0129FB9E0DC0}" destId="{8B5C8627-BA54-4B9E-AD9B-83646593ABAD}" srcOrd="1" destOrd="0" presId="urn:microsoft.com/office/officeart/2005/8/layout/process4"/>
    <dgm:cxn modelId="{C98D884B-8690-46EF-AEB1-B1C97278C52C}" type="presParOf" srcId="{D96ADEE9-1DEB-4900-894B-0129FB9E0DC0}" destId="{C0F2AE73-5C7F-463E-8579-D7AE44BABB90}" srcOrd="2" destOrd="0" presId="urn:microsoft.com/office/officeart/2005/8/layout/process4"/>
    <dgm:cxn modelId="{81A4EA9E-14B8-46CB-9EEC-406632D7C177}" type="presParOf" srcId="{C0F2AE73-5C7F-463E-8579-D7AE44BABB90}" destId="{C3A4BCEA-A0F0-42B9-9248-BA03D1ABC20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901896A-5B80-4E86-85AA-32A8BD937442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B3D37DD-A136-49F9-B96B-A5FFA03D486F}">
      <dgm:prSet/>
      <dgm:spPr/>
      <dgm:t>
        <a:bodyPr/>
        <a:lstStyle/>
        <a:p>
          <a:r>
            <a:rPr lang="en-US" b="1" dirty="0"/>
            <a:t>What it is:</a:t>
          </a:r>
          <a:br>
            <a:rPr lang="en-US" dirty="0"/>
          </a:br>
          <a:r>
            <a:rPr lang="en-US" dirty="0"/>
            <a:t>Growing a thin layer of </a:t>
          </a:r>
          <a:r>
            <a:rPr lang="en-US" b="1" dirty="0"/>
            <a:t>silicon dioxide (</a:t>
          </a:r>
          <a:r>
            <a:rPr lang="en-US" b="1" dirty="0" err="1"/>
            <a:t>SiO</a:t>
          </a:r>
          <a:r>
            <a:rPr lang="en-US" b="1" dirty="0"/>
            <a:t>₂)</a:t>
          </a:r>
          <a:r>
            <a:rPr lang="en-US" dirty="0"/>
            <a:t> on silicon wafer.</a:t>
          </a:r>
        </a:p>
      </dgm:t>
    </dgm:pt>
    <dgm:pt modelId="{E7BB9207-2D02-4267-A301-07DDA3F01DBA}" type="parTrans" cxnId="{4D567C54-58B8-4E4E-A562-7D95B436DC89}">
      <dgm:prSet/>
      <dgm:spPr/>
      <dgm:t>
        <a:bodyPr/>
        <a:lstStyle/>
        <a:p>
          <a:endParaRPr lang="en-US"/>
        </a:p>
      </dgm:t>
    </dgm:pt>
    <dgm:pt modelId="{2ABA488E-9016-4F8D-BC34-D15CB174B7D7}" type="sibTrans" cxnId="{4D567C54-58B8-4E4E-A562-7D95B436DC89}">
      <dgm:prSet/>
      <dgm:spPr/>
      <dgm:t>
        <a:bodyPr/>
        <a:lstStyle/>
        <a:p>
          <a:endParaRPr lang="en-US"/>
        </a:p>
      </dgm:t>
    </dgm:pt>
    <dgm:pt modelId="{B17B3AF9-93C5-4803-9B61-ADFCB9AFCAEF}">
      <dgm:prSet/>
      <dgm:spPr/>
      <dgm:t>
        <a:bodyPr/>
        <a:lstStyle/>
        <a:p>
          <a:r>
            <a:rPr lang="en-US" b="1"/>
            <a:t>Types:</a:t>
          </a:r>
          <a:endParaRPr lang="en-US"/>
        </a:p>
      </dgm:t>
    </dgm:pt>
    <dgm:pt modelId="{9939944A-B296-4A70-A43F-07238B499B1D}" type="parTrans" cxnId="{3DA8F7ED-6AC4-4667-B1B7-30B1F006E567}">
      <dgm:prSet/>
      <dgm:spPr/>
      <dgm:t>
        <a:bodyPr/>
        <a:lstStyle/>
        <a:p>
          <a:endParaRPr lang="en-US"/>
        </a:p>
      </dgm:t>
    </dgm:pt>
    <dgm:pt modelId="{3444166F-6009-48D4-BB3B-56ED71EC226C}" type="sibTrans" cxnId="{3DA8F7ED-6AC4-4667-B1B7-30B1F006E567}">
      <dgm:prSet/>
      <dgm:spPr/>
      <dgm:t>
        <a:bodyPr/>
        <a:lstStyle/>
        <a:p>
          <a:endParaRPr lang="en-US"/>
        </a:p>
      </dgm:t>
    </dgm:pt>
    <dgm:pt modelId="{D6B4E735-EE92-4856-B6F0-6F8D65D5623B}">
      <dgm:prSet/>
      <dgm:spPr/>
      <dgm:t>
        <a:bodyPr/>
        <a:lstStyle/>
        <a:p>
          <a:r>
            <a:rPr lang="en-US" b="1"/>
            <a:t>Field oxide</a:t>
          </a:r>
          <a:r>
            <a:rPr lang="en-US"/>
            <a:t> (thick, for isolation).</a:t>
          </a:r>
        </a:p>
      </dgm:t>
    </dgm:pt>
    <dgm:pt modelId="{2BBBAC57-CA51-4E36-8083-DD153DE9E34D}" type="parTrans" cxnId="{9A875EF3-F8E0-4F5A-BCD1-E623BB867E61}">
      <dgm:prSet/>
      <dgm:spPr/>
      <dgm:t>
        <a:bodyPr/>
        <a:lstStyle/>
        <a:p>
          <a:endParaRPr lang="en-US"/>
        </a:p>
      </dgm:t>
    </dgm:pt>
    <dgm:pt modelId="{A656601C-EF96-466E-9296-CB92524FE1B7}" type="sibTrans" cxnId="{9A875EF3-F8E0-4F5A-BCD1-E623BB867E61}">
      <dgm:prSet/>
      <dgm:spPr/>
      <dgm:t>
        <a:bodyPr/>
        <a:lstStyle/>
        <a:p>
          <a:endParaRPr lang="en-US"/>
        </a:p>
      </dgm:t>
    </dgm:pt>
    <dgm:pt modelId="{AA8EC27B-3AA5-4602-AF20-95F3E9F8C7E4}">
      <dgm:prSet/>
      <dgm:spPr/>
      <dgm:t>
        <a:bodyPr/>
        <a:lstStyle/>
        <a:p>
          <a:r>
            <a:rPr lang="en-US" b="1"/>
            <a:t>Gate oxide</a:t>
          </a:r>
          <a:r>
            <a:rPr lang="en-US"/>
            <a:t> (thin, under MOS gate).</a:t>
          </a:r>
        </a:p>
      </dgm:t>
    </dgm:pt>
    <dgm:pt modelId="{1BC105E5-A5B4-40C4-AAD4-CD0C43EA5631}" type="parTrans" cxnId="{196DAA02-C864-48E1-9081-C95ED47F2699}">
      <dgm:prSet/>
      <dgm:spPr/>
      <dgm:t>
        <a:bodyPr/>
        <a:lstStyle/>
        <a:p>
          <a:endParaRPr lang="en-US"/>
        </a:p>
      </dgm:t>
    </dgm:pt>
    <dgm:pt modelId="{9784EF0A-E382-4DBE-A170-443223F02BA1}" type="sibTrans" cxnId="{196DAA02-C864-48E1-9081-C95ED47F2699}">
      <dgm:prSet/>
      <dgm:spPr/>
      <dgm:t>
        <a:bodyPr/>
        <a:lstStyle/>
        <a:p>
          <a:endParaRPr lang="en-US"/>
        </a:p>
      </dgm:t>
    </dgm:pt>
    <dgm:pt modelId="{2AF403BC-03F0-4D3F-8CBD-EB6CA9364019}">
      <dgm:prSet/>
      <dgm:spPr/>
      <dgm:t>
        <a:bodyPr/>
        <a:lstStyle/>
        <a:p>
          <a:r>
            <a:rPr lang="en-US" b="1"/>
            <a:t>Methods:</a:t>
          </a:r>
          <a:endParaRPr lang="en-US"/>
        </a:p>
      </dgm:t>
    </dgm:pt>
    <dgm:pt modelId="{E9536783-6108-4979-9FAC-D86CB6BCEB13}" type="parTrans" cxnId="{EE3EF2CA-E8E2-4182-A58F-376B880752BB}">
      <dgm:prSet/>
      <dgm:spPr/>
      <dgm:t>
        <a:bodyPr/>
        <a:lstStyle/>
        <a:p>
          <a:endParaRPr lang="en-US"/>
        </a:p>
      </dgm:t>
    </dgm:pt>
    <dgm:pt modelId="{ECD2A178-D595-424F-A075-7A12A3945C6C}" type="sibTrans" cxnId="{EE3EF2CA-E8E2-4182-A58F-376B880752BB}">
      <dgm:prSet/>
      <dgm:spPr/>
      <dgm:t>
        <a:bodyPr/>
        <a:lstStyle/>
        <a:p>
          <a:endParaRPr lang="en-US"/>
        </a:p>
      </dgm:t>
    </dgm:pt>
    <dgm:pt modelId="{96F6DED7-61CA-46D3-A49D-DC90FA99F758}">
      <dgm:prSet/>
      <dgm:spPr/>
      <dgm:t>
        <a:bodyPr/>
        <a:lstStyle/>
        <a:p>
          <a:r>
            <a:rPr lang="en-US" b="1"/>
            <a:t>Thermal oxidation:</a:t>
          </a:r>
          <a:r>
            <a:rPr lang="en-US"/>
            <a:t> Heat silicon wafer in oxygen/steam → oxide grows.</a:t>
          </a:r>
        </a:p>
      </dgm:t>
    </dgm:pt>
    <dgm:pt modelId="{7E40A71D-C07F-4472-843C-B6ACB8827631}" type="parTrans" cxnId="{3016EA48-B855-4E89-9887-4465F31A8BEC}">
      <dgm:prSet/>
      <dgm:spPr/>
      <dgm:t>
        <a:bodyPr/>
        <a:lstStyle/>
        <a:p>
          <a:endParaRPr lang="en-US"/>
        </a:p>
      </dgm:t>
    </dgm:pt>
    <dgm:pt modelId="{FADB5054-AE11-4394-8FBB-9968251922AA}" type="sibTrans" cxnId="{3016EA48-B855-4E89-9887-4465F31A8BEC}">
      <dgm:prSet/>
      <dgm:spPr/>
      <dgm:t>
        <a:bodyPr/>
        <a:lstStyle/>
        <a:p>
          <a:endParaRPr lang="en-US"/>
        </a:p>
      </dgm:t>
    </dgm:pt>
    <dgm:pt modelId="{5E3BAA7F-EAEE-4220-948A-32133A9F1A3A}">
      <dgm:prSet/>
      <dgm:spPr/>
      <dgm:t>
        <a:bodyPr/>
        <a:lstStyle/>
        <a:p>
          <a:r>
            <a:rPr lang="en-US" b="1"/>
            <a:t>Uses:</a:t>
          </a:r>
          <a:endParaRPr lang="en-US"/>
        </a:p>
      </dgm:t>
    </dgm:pt>
    <dgm:pt modelId="{462733A0-C1E7-471C-9BD9-21497453A16E}" type="parTrans" cxnId="{4F08A729-207E-4E37-BEBB-24C4BD736338}">
      <dgm:prSet/>
      <dgm:spPr/>
      <dgm:t>
        <a:bodyPr/>
        <a:lstStyle/>
        <a:p>
          <a:endParaRPr lang="en-US"/>
        </a:p>
      </dgm:t>
    </dgm:pt>
    <dgm:pt modelId="{1B65A22B-0225-453D-BD3F-61031167C7F7}" type="sibTrans" cxnId="{4F08A729-207E-4E37-BEBB-24C4BD736338}">
      <dgm:prSet/>
      <dgm:spPr/>
      <dgm:t>
        <a:bodyPr/>
        <a:lstStyle/>
        <a:p>
          <a:endParaRPr lang="en-US"/>
        </a:p>
      </dgm:t>
    </dgm:pt>
    <dgm:pt modelId="{09317C63-252E-47D5-A2F1-8D5BB3D684B4}">
      <dgm:prSet/>
      <dgm:spPr/>
      <dgm:t>
        <a:bodyPr/>
        <a:lstStyle/>
        <a:p>
          <a:r>
            <a:rPr lang="en-US"/>
            <a:t>Insulating layer.</a:t>
          </a:r>
        </a:p>
      </dgm:t>
    </dgm:pt>
    <dgm:pt modelId="{EDB0EF2D-15AD-4F5A-9BAE-AD115419D201}" type="parTrans" cxnId="{8CD2D979-2061-41CE-86FC-67762841A57C}">
      <dgm:prSet/>
      <dgm:spPr/>
      <dgm:t>
        <a:bodyPr/>
        <a:lstStyle/>
        <a:p>
          <a:endParaRPr lang="en-US"/>
        </a:p>
      </dgm:t>
    </dgm:pt>
    <dgm:pt modelId="{2CA2D18B-B60C-42F3-A322-DC291B051BF5}" type="sibTrans" cxnId="{8CD2D979-2061-41CE-86FC-67762841A57C}">
      <dgm:prSet/>
      <dgm:spPr/>
      <dgm:t>
        <a:bodyPr/>
        <a:lstStyle/>
        <a:p>
          <a:endParaRPr lang="en-US"/>
        </a:p>
      </dgm:t>
    </dgm:pt>
    <dgm:pt modelId="{34A1513F-8EE7-4950-835D-3D52271E20B3}">
      <dgm:prSet/>
      <dgm:spPr/>
      <dgm:t>
        <a:bodyPr/>
        <a:lstStyle/>
        <a:p>
          <a:r>
            <a:rPr lang="en-US"/>
            <a:t>Gate dielectric.</a:t>
          </a:r>
        </a:p>
      </dgm:t>
    </dgm:pt>
    <dgm:pt modelId="{28527B64-260C-42CB-A883-EB4B66DDB26A}" type="parTrans" cxnId="{D7829CDE-BE12-4324-9D33-7ED93EF064EF}">
      <dgm:prSet/>
      <dgm:spPr/>
      <dgm:t>
        <a:bodyPr/>
        <a:lstStyle/>
        <a:p>
          <a:endParaRPr lang="en-US"/>
        </a:p>
      </dgm:t>
    </dgm:pt>
    <dgm:pt modelId="{E963515D-9467-4399-BA21-288D7A0E681F}" type="sibTrans" cxnId="{D7829CDE-BE12-4324-9D33-7ED93EF064EF}">
      <dgm:prSet/>
      <dgm:spPr/>
      <dgm:t>
        <a:bodyPr/>
        <a:lstStyle/>
        <a:p>
          <a:endParaRPr lang="en-US"/>
        </a:p>
      </dgm:t>
    </dgm:pt>
    <dgm:pt modelId="{7E8CF56D-4C1A-4D54-9C53-AF0952020824}">
      <dgm:prSet/>
      <dgm:spPr/>
      <dgm:t>
        <a:bodyPr/>
        <a:lstStyle/>
        <a:p>
          <a:r>
            <a:rPr lang="en-US"/>
            <a:t>Masking material for diffusion/implantation.</a:t>
          </a:r>
        </a:p>
      </dgm:t>
    </dgm:pt>
    <dgm:pt modelId="{581A639E-F985-4D4F-9A74-463805B85399}" type="parTrans" cxnId="{CEBBF452-1EC9-42BB-AE40-00AEE3C73E3E}">
      <dgm:prSet/>
      <dgm:spPr/>
      <dgm:t>
        <a:bodyPr/>
        <a:lstStyle/>
        <a:p>
          <a:endParaRPr lang="en-US"/>
        </a:p>
      </dgm:t>
    </dgm:pt>
    <dgm:pt modelId="{AF16CDC5-379F-4F8E-9DC1-D38402C0710C}" type="sibTrans" cxnId="{CEBBF452-1EC9-42BB-AE40-00AEE3C73E3E}">
      <dgm:prSet/>
      <dgm:spPr/>
      <dgm:t>
        <a:bodyPr/>
        <a:lstStyle/>
        <a:p>
          <a:endParaRPr lang="en-US"/>
        </a:p>
      </dgm:t>
    </dgm:pt>
    <dgm:pt modelId="{56FAAF24-3C8F-4B35-A930-8AD34FA10D8B}" type="pres">
      <dgm:prSet presAssocID="{8901896A-5B80-4E86-85AA-32A8BD937442}" presName="outerComposite" presStyleCnt="0">
        <dgm:presLayoutVars>
          <dgm:chMax val="5"/>
          <dgm:dir/>
          <dgm:resizeHandles val="exact"/>
        </dgm:presLayoutVars>
      </dgm:prSet>
      <dgm:spPr/>
    </dgm:pt>
    <dgm:pt modelId="{8266BBD5-C428-4CDB-A1C3-26F4FFB01D5E}" type="pres">
      <dgm:prSet presAssocID="{8901896A-5B80-4E86-85AA-32A8BD937442}" presName="dummyMaxCanvas" presStyleCnt="0">
        <dgm:presLayoutVars/>
      </dgm:prSet>
      <dgm:spPr/>
    </dgm:pt>
    <dgm:pt modelId="{3386D8B7-B3C6-4BEF-A6F2-2A25A50AFCEB}" type="pres">
      <dgm:prSet presAssocID="{8901896A-5B80-4E86-85AA-32A8BD937442}" presName="FourNodes_1" presStyleLbl="node1" presStyleIdx="0" presStyleCnt="4">
        <dgm:presLayoutVars>
          <dgm:bulletEnabled val="1"/>
        </dgm:presLayoutVars>
      </dgm:prSet>
      <dgm:spPr/>
    </dgm:pt>
    <dgm:pt modelId="{2F1807D8-E55C-4274-BCE3-B21B9111AC49}" type="pres">
      <dgm:prSet presAssocID="{8901896A-5B80-4E86-85AA-32A8BD937442}" presName="FourNodes_2" presStyleLbl="node1" presStyleIdx="1" presStyleCnt="4">
        <dgm:presLayoutVars>
          <dgm:bulletEnabled val="1"/>
        </dgm:presLayoutVars>
      </dgm:prSet>
      <dgm:spPr/>
    </dgm:pt>
    <dgm:pt modelId="{931A6B01-3362-4788-B8E2-500D4BB377AD}" type="pres">
      <dgm:prSet presAssocID="{8901896A-5B80-4E86-85AA-32A8BD937442}" presName="FourNodes_3" presStyleLbl="node1" presStyleIdx="2" presStyleCnt="4">
        <dgm:presLayoutVars>
          <dgm:bulletEnabled val="1"/>
        </dgm:presLayoutVars>
      </dgm:prSet>
      <dgm:spPr/>
    </dgm:pt>
    <dgm:pt modelId="{40365BC1-F116-4B79-8162-361FB0F3E368}" type="pres">
      <dgm:prSet presAssocID="{8901896A-5B80-4E86-85AA-32A8BD937442}" presName="FourNodes_4" presStyleLbl="node1" presStyleIdx="3" presStyleCnt="4">
        <dgm:presLayoutVars>
          <dgm:bulletEnabled val="1"/>
        </dgm:presLayoutVars>
      </dgm:prSet>
      <dgm:spPr/>
    </dgm:pt>
    <dgm:pt modelId="{EDD3270E-B715-4591-9F30-EBF22AA9C6EA}" type="pres">
      <dgm:prSet presAssocID="{8901896A-5B80-4E86-85AA-32A8BD937442}" presName="FourConn_1-2" presStyleLbl="fgAccFollowNode1" presStyleIdx="0" presStyleCnt="3">
        <dgm:presLayoutVars>
          <dgm:bulletEnabled val="1"/>
        </dgm:presLayoutVars>
      </dgm:prSet>
      <dgm:spPr/>
    </dgm:pt>
    <dgm:pt modelId="{FDF2B7BD-E49D-41C3-970A-15E56135566A}" type="pres">
      <dgm:prSet presAssocID="{8901896A-5B80-4E86-85AA-32A8BD937442}" presName="FourConn_2-3" presStyleLbl="fgAccFollowNode1" presStyleIdx="1" presStyleCnt="3">
        <dgm:presLayoutVars>
          <dgm:bulletEnabled val="1"/>
        </dgm:presLayoutVars>
      </dgm:prSet>
      <dgm:spPr/>
    </dgm:pt>
    <dgm:pt modelId="{EB25D7CD-44FF-40B9-B097-38BC625EBDB6}" type="pres">
      <dgm:prSet presAssocID="{8901896A-5B80-4E86-85AA-32A8BD937442}" presName="FourConn_3-4" presStyleLbl="fgAccFollowNode1" presStyleIdx="2" presStyleCnt="3">
        <dgm:presLayoutVars>
          <dgm:bulletEnabled val="1"/>
        </dgm:presLayoutVars>
      </dgm:prSet>
      <dgm:spPr/>
    </dgm:pt>
    <dgm:pt modelId="{BB82CF04-DF07-4133-BBC5-361C078BB917}" type="pres">
      <dgm:prSet presAssocID="{8901896A-5B80-4E86-85AA-32A8BD937442}" presName="FourNodes_1_text" presStyleLbl="node1" presStyleIdx="3" presStyleCnt="4">
        <dgm:presLayoutVars>
          <dgm:bulletEnabled val="1"/>
        </dgm:presLayoutVars>
      </dgm:prSet>
      <dgm:spPr/>
    </dgm:pt>
    <dgm:pt modelId="{D6F9EC0D-0863-4361-9691-AE2AE8A78BB6}" type="pres">
      <dgm:prSet presAssocID="{8901896A-5B80-4E86-85AA-32A8BD937442}" presName="FourNodes_2_text" presStyleLbl="node1" presStyleIdx="3" presStyleCnt="4">
        <dgm:presLayoutVars>
          <dgm:bulletEnabled val="1"/>
        </dgm:presLayoutVars>
      </dgm:prSet>
      <dgm:spPr/>
    </dgm:pt>
    <dgm:pt modelId="{8DE8C7B9-79A8-4C02-9B9B-0009555EF3C1}" type="pres">
      <dgm:prSet presAssocID="{8901896A-5B80-4E86-85AA-32A8BD937442}" presName="FourNodes_3_text" presStyleLbl="node1" presStyleIdx="3" presStyleCnt="4">
        <dgm:presLayoutVars>
          <dgm:bulletEnabled val="1"/>
        </dgm:presLayoutVars>
      </dgm:prSet>
      <dgm:spPr/>
    </dgm:pt>
    <dgm:pt modelId="{6699F7F2-9278-426E-87B1-07FD802F5F3C}" type="pres">
      <dgm:prSet presAssocID="{8901896A-5B80-4E86-85AA-32A8BD93744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96DAA02-C864-48E1-9081-C95ED47F2699}" srcId="{B17B3AF9-93C5-4803-9B61-ADFCB9AFCAEF}" destId="{AA8EC27B-3AA5-4602-AF20-95F3E9F8C7E4}" srcOrd="1" destOrd="0" parTransId="{1BC105E5-A5B4-40C4-AAD4-CD0C43EA5631}" sibTransId="{9784EF0A-E382-4DBE-A170-443223F02BA1}"/>
    <dgm:cxn modelId="{15B97A03-614F-4D7F-91C4-B0B6E2F95942}" type="presOf" srcId="{BB3D37DD-A136-49F9-B96B-A5FFA03D486F}" destId="{BB82CF04-DF07-4133-BBC5-361C078BB917}" srcOrd="1" destOrd="0" presId="urn:microsoft.com/office/officeart/2005/8/layout/vProcess5"/>
    <dgm:cxn modelId="{780ABE07-9FBF-4157-837A-EB3BC970B95A}" type="presOf" srcId="{7E8CF56D-4C1A-4D54-9C53-AF0952020824}" destId="{6699F7F2-9278-426E-87B1-07FD802F5F3C}" srcOrd="1" destOrd="3" presId="urn:microsoft.com/office/officeart/2005/8/layout/vProcess5"/>
    <dgm:cxn modelId="{9700DC0B-AEDA-4B28-9624-1CB3CE20E987}" type="presOf" srcId="{7E8CF56D-4C1A-4D54-9C53-AF0952020824}" destId="{40365BC1-F116-4B79-8162-361FB0F3E368}" srcOrd="0" destOrd="3" presId="urn:microsoft.com/office/officeart/2005/8/layout/vProcess5"/>
    <dgm:cxn modelId="{76F3EB14-D115-4588-BEE4-02A89BC423C7}" type="presOf" srcId="{09317C63-252E-47D5-A2F1-8D5BB3D684B4}" destId="{40365BC1-F116-4B79-8162-361FB0F3E368}" srcOrd="0" destOrd="1" presId="urn:microsoft.com/office/officeart/2005/8/layout/vProcess5"/>
    <dgm:cxn modelId="{65FF5C16-D5BE-42AA-9146-0BECFFDE4EFB}" type="presOf" srcId="{5E3BAA7F-EAEE-4220-948A-32133A9F1A3A}" destId="{40365BC1-F116-4B79-8162-361FB0F3E368}" srcOrd="0" destOrd="0" presId="urn:microsoft.com/office/officeart/2005/8/layout/vProcess5"/>
    <dgm:cxn modelId="{4F08A729-207E-4E37-BEBB-24C4BD736338}" srcId="{8901896A-5B80-4E86-85AA-32A8BD937442}" destId="{5E3BAA7F-EAEE-4220-948A-32133A9F1A3A}" srcOrd="3" destOrd="0" parTransId="{462733A0-C1E7-471C-9BD9-21497453A16E}" sibTransId="{1B65A22B-0225-453D-BD3F-61031167C7F7}"/>
    <dgm:cxn modelId="{22079631-C14B-441F-8B1B-C423FAF30F0C}" type="presOf" srcId="{2AF403BC-03F0-4D3F-8CBD-EB6CA9364019}" destId="{8DE8C7B9-79A8-4C02-9B9B-0009555EF3C1}" srcOrd="1" destOrd="0" presId="urn:microsoft.com/office/officeart/2005/8/layout/vProcess5"/>
    <dgm:cxn modelId="{2B721D63-CB04-40BB-9749-9B512FAA1A0C}" type="presOf" srcId="{D6B4E735-EE92-4856-B6F0-6F8D65D5623B}" destId="{2F1807D8-E55C-4274-BCE3-B21B9111AC49}" srcOrd="0" destOrd="1" presId="urn:microsoft.com/office/officeart/2005/8/layout/vProcess5"/>
    <dgm:cxn modelId="{0EC45944-E29E-4F2C-9441-F37D9A610025}" type="presOf" srcId="{96F6DED7-61CA-46D3-A49D-DC90FA99F758}" destId="{931A6B01-3362-4788-B8E2-500D4BB377AD}" srcOrd="0" destOrd="1" presId="urn:microsoft.com/office/officeart/2005/8/layout/vProcess5"/>
    <dgm:cxn modelId="{3016EA48-B855-4E89-9887-4465F31A8BEC}" srcId="{2AF403BC-03F0-4D3F-8CBD-EB6CA9364019}" destId="{96F6DED7-61CA-46D3-A49D-DC90FA99F758}" srcOrd="0" destOrd="0" parTransId="{7E40A71D-C07F-4472-843C-B6ACB8827631}" sibTransId="{FADB5054-AE11-4394-8FBB-9968251922AA}"/>
    <dgm:cxn modelId="{4EFC7A52-C294-472D-8914-D114B1F00439}" type="presOf" srcId="{B17B3AF9-93C5-4803-9B61-ADFCB9AFCAEF}" destId="{D6F9EC0D-0863-4361-9691-AE2AE8A78BB6}" srcOrd="1" destOrd="0" presId="urn:microsoft.com/office/officeart/2005/8/layout/vProcess5"/>
    <dgm:cxn modelId="{CEBBF452-1EC9-42BB-AE40-00AEE3C73E3E}" srcId="{5E3BAA7F-EAEE-4220-948A-32133A9F1A3A}" destId="{7E8CF56D-4C1A-4D54-9C53-AF0952020824}" srcOrd="2" destOrd="0" parTransId="{581A639E-F985-4D4F-9A74-463805B85399}" sibTransId="{AF16CDC5-379F-4F8E-9DC1-D38402C0710C}"/>
    <dgm:cxn modelId="{4D567C54-58B8-4E4E-A562-7D95B436DC89}" srcId="{8901896A-5B80-4E86-85AA-32A8BD937442}" destId="{BB3D37DD-A136-49F9-B96B-A5FFA03D486F}" srcOrd="0" destOrd="0" parTransId="{E7BB9207-2D02-4267-A301-07DDA3F01DBA}" sibTransId="{2ABA488E-9016-4F8D-BC34-D15CB174B7D7}"/>
    <dgm:cxn modelId="{5611B775-8099-4E19-A3FC-817B18C2B6D0}" type="presOf" srcId="{09317C63-252E-47D5-A2F1-8D5BB3D684B4}" destId="{6699F7F2-9278-426E-87B1-07FD802F5F3C}" srcOrd="1" destOrd="1" presId="urn:microsoft.com/office/officeart/2005/8/layout/vProcess5"/>
    <dgm:cxn modelId="{8CD2D979-2061-41CE-86FC-67762841A57C}" srcId="{5E3BAA7F-EAEE-4220-948A-32133A9F1A3A}" destId="{09317C63-252E-47D5-A2F1-8D5BB3D684B4}" srcOrd="0" destOrd="0" parTransId="{EDB0EF2D-15AD-4F5A-9BAE-AD115419D201}" sibTransId="{2CA2D18B-B60C-42F3-A322-DC291B051BF5}"/>
    <dgm:cxn modelId="{F2E25A7D-12C6-4201-9716-76EAA5E051E1}" type="presOf" srcId="{D6B4E735-EE92-4856-B6F0-6F8D65D5623B}" destId="{D6F9EC0D-0863-4361-9691-AE2AE8A78BB6}" srcOrd="1" destOrd="1" presId="urn:microsoft.com/office/officeart/2005/8/layout/vProcess5"/>
    <dgm:cxn modelId="{543FF082-9447-4308-A8E9-38B93E8D7DFD}" type="presOf" srcId="{3444166F-6009-48D4-BB3B-56ED71EC226C}" destId="{FDF2B7BD-E49D-41C3-970A-15E56135566A}" srcOrd="0" destOrd="0" presId="urn:microsoft.com/office/officeart/2005/8/layout/vProcess5"/>
    <dgm:cxn modelId="{2DBFFE87-FB66-4793-843D-358ED2EC5FDE}" type="presOf" srcId="{BB3D37DD-A136-49F9-B96B-A5FFA03D486F}" destId="{3386D8B7-B3C6-4BEF-A6F2-2A25A50AFCEB}" srcOrd="0" destOrd="0" presId="urn:microsoft.com/office/officeart/2005/8/layout/vProcess5"/>
    <dgm:cxn modelId="{92240A93-DF31-450D-BF4F-437CF027FFC0}" type="presOf" srcId="{34A1513F-8EE7-4950-835D-3D52271E20B3}" destId="{6699F7F2-9278-426E-87B1-07FD802F5F3C}" srcOrd="1" destOrd="2" presId="urn:microsoft.com/office/officeart/2005/8/layout/vProcess5"/>
    <dgm:cxn modelId="{2BE6229B-5B6A-462A-8ACA-3AA1B3392388}" type="presOf" srcId="{AA8EC27B-3AA5-4602-AF20-95F3E9F8C7E4}" destId="{2F1807D8-E55C-4274-BCE3-B21B9111AC49}" srcOrd="0" destOrd="2" presId="urn:microsoft.com/office/officeart/2005/8/layout/vProcess5"/>
    <dgm:cxn modelId="{1B0088AE-B74E-497F-A9F3-ABAD03FD3D2D}" type="presOf" srcId="{34A1513F-8EE7-4950-835D-3D52271E20B3}" destId="{40365BC1-F116-4B79-8162-361FB0F3E368}" srcOrd="0" destOrd="2" presId="urn:microsoft.com/office/officeart/2005/8/layout/vProcess5"/>
    <dgm:cxn modelId="{3B433DB8-2D5E-4F23-B960-37F1A31634AB}" type="presOf" srcId="{B17B3AF9-93C5-4803-9B61-ADFCB9AFCAEF}" destId="{2F1807D8-E55C-4274-BCE3-B21B9111AC49}" srcOrd="0" destOrd="0" presId="urn:microsoft.com/office/officeart/2005/8/layout/vProcess5"/>
    <dgm:cxn modelId="{FB6B63BA-95CD-4EB4-92F7-1F9175969DD1}" type="presOf" srcId="{2ABA488E-9016-4F8D-BC34-D15CB174B7D7}" destId="{EDD3270E-B715-4591-9F30-EBF22AA9C6EA}" srcOrd="0" destOrd="0" presId="urn:microsoft.com/office/officeart/2005/8/layout/vProcess5"/>
    <dgm:cxn modelId="{4332E4BE-116B-446E-83C3-9490FE804AE9}" type="presOf" srcId="{5E3BAA7F-EAEE-4220-948A-32133A9F1A3A}" destId="{6699F7F2-9278-426E-87B1-07FD802F5F3C}" srcOrd="1" destOrd="0" presId="urn:microsoft.com/office/officeart/2005/8/layout/vProcess5"/>
    <dgm:cxn modelId="{EF823EC1-4B56-465E-ABA2-8F1B637A8793}" type="presOf" srcId="{2AF403BC-03F0-4D3F-8CBD-EB6CA9364019}" destId="{931A6B01-3362-4788-B8E2-500D4BB377AD}" srcOrd="0" destOrd="0" presId="urn:microsoft.com/office/officeart/2005/8/layout/vProcess5"/>
    <dgm:cxn modelId="{EE3EF2CA-E8E2-4182-A58F-376B880752BB}" srcId="{8901896A-5B80-4E86-85AA-32A8BD937442}" destId="{2AF403BC-03F0-4D3F-8CBD-EB6CA9364019}" srcOrd="2" destOrd="0" parTransId="{E9536783-6108-4979-9FAC-D86CB6BCEB13}" sibTransId="{ECD2A178-D595-424F-A075-7A12A3945C6C}"/>
    <dgm:cxn modelId="{3475D2D2-7AD7-4305-BDAB-169847DA7AD1}" type="presOf" srcId="{AA8EC27B-3AA5-4602-AF20-95F3E9F8C7E4}" destId="{D6F9EC0D-0863-4361-9691-AE2AE8A78BB6}" srcOrd="1" destOrd="2" presId="urn:microsoft.com/office/officeart/2005/8/layout/vProcess5"/>
    <dgm:cxn modelId="{D7829CDE-BE12-4324-9D33-7ED93EF064EF}" srcId="{5E3BAA7F-EAEE-4220-948A-32133A9F1A3A}" destId="{34A1513F-8EE7-4950-835D-3D52271E20B3}" srcOrd="1" destOrd="0" parTransId="{28527B64-260C-42CB-A883-EB4B66DDB26A}" sibTransId="{E963515D-9467-4399-BA21-288D7A0E681F}"/>
    <dgm:cxn modelId="{27A784E9-743F-441D-9DCA-F3C8EA9EF90A}" type="presOf" srcId="{96F6DED7-61CA-46D3-A49D-DC90FA99F758}" destId="{8DE8C7B9-79A8-4C02-9B9B-0009555EF3C1}" srcOrd="1" destOrd="1" presId="urn:microsoft.com/office/officeart/2005/8/layout/vProcess5"/>
    <dgm:cxn modelId="{07BB9EEA-2494-4CE9-BC51-62C06B987D2E}" type="presOf" srcId="{8901896A-5B80-4E86-85AA-32A8BD937442}" destId="{56FAAF24-3C8F-4B35-A930-8AD34FA10D8B}" srcOrd="0" destOrd="0" presId="urn:microsoft.com/office/officeart/2005/8/layout/vProcess5"/>
    <dgm:cxn modelId="{DB8BE7EA-8F94-428D-A518-717EADF496CE}" type="presOf" srcId="{ECD2A178-D595-424F-A075-7A12A3945C6C}" destId="{EB25D7CD-44FF-40B9-B097-38BC625EBDB6}" srcOrd="0" destOrd="0" presId="urn:microsoft.com/office/officeart/2005/8/layout/vProcess5"/>
    <dgm:cxn modelId="{3DA8F7ED-6AC4-4667-B1B7-30B1F006E567}" srcId="{8901896A-5B80-4E86-85AA-32A8BD937442}" destId="{B17B3AF9-93C5-4803-9B61-ADFCB9AFCAEF}" srcOrd="1" destOrd="0" parTransId="{9939944A-B296-4A70-A43F-07238B499B1D}" sibTransId="{3444166F-6009-48D4-BB3B-56ED71EC226C}"/>
    <dgm:cxn modelId="{9A875EF3-F8E0-4F5A-BCD1-E623BB867E61}" srcId="{B17B3AF9-93C5-4803-9B61-ADFCB9AFCAEF}" destId="{D6B4E735-EE92-4856-B6F0-6F8D65D5623B}" srcOrd="0" destOrd="0" parTransId="{2BBBAC57-CA51-4E36-8083-DD153DE9E34D}" sibTransId="{A656601C-EF96-466E-9296-CB92524FE1B7}"/>
    <dgm:cxn modelId="{EC84B5CE-FA21-4C65-BC97-692DFB47D531}" type="presParOf" srcId="{56FAAF24-3C8F-4B35-A930-8AD34FA10D8B}" destId="{8266BBD5-C428-4CDB-A1C3-26F4FFB01D5E}" srcOrd="0" destOrd="0" presId="urn:microsoft.com/office/officeart/2005/8/layout/vProcess5"/>
    <dgm:cxn modelId="{E003E7D0-843F-40EF-ACC1-6516EFCFA716}" type="presParOf" srcId="{56FAAF24-3C8F-4B35-A930-8AD34FA10D8B}" destId="{3386D8B7-B3C6-4BEF-A6F2-2A25A50AFCEB}" srcOrd="1" destOrd="0" presId="urn:microsoft.com/office/officeart/2005/8/layout/vProcess5"/>
    <dgm:cxn modelId="{6BF6448F-D8F0-4E01-8F60-2CA396ABDDDF}" type="presParOf" srcId="{56FAAF24-3C8F-4B35-A930-8AD34FA10D8B}" destId="{2F1807D8-E55C-4274-BCE3-B21B9111AC49}" srcOrd="2" destOrd="0" presId="urn:microsoft.com/office/officeart/2005/8/layout/vProcess5"/>
    <dgm:cxn modelId="{B74DFDEA-E990-4600-824F-F8C535BD981D}" type="presParOf" srcId="{56FAAF24-3C8F-4B35-A930-8AD34FA10D8B}" destId="{931A6B01-3362-4788-B8E2-500D4BB377AD}" srcOrd="3" destOrd="0" presId="urn:microsoft.com/office/officeart/2005/8/layout/vProcess5"/>
    <dgm:cxn modelId="{866D32CD-3980-47D5-B1F3-FD5933DF9E6E}" type="presParOf" srcId="{56FAAF24-3C8F-4B35-A930-8AD34FA10D8B}" destId="{40365BC1-F116-4B79-8162-361FB0F3E368}" srcOrd="4" destOrd="0" presId="urn:microsoft.com/office/officeart/2005/8/layout/vProcess5"/>
    <dgm:cxn modelId="{2B05763F-E259-4BA0-8F4E-A00E6ED7242C}" type="presParOf" srcId="{56FAAF24-3C8F-4B35-A930-8AD34FA10D8B}" destId="{EDD3270E-B715-4591-9F30-EBF22AA9C6EA}" srcOrd="5" destOrd="0" presId="urn:microsoft.com/office/officeart/2005/8/layout/vProcess5"/>
    <dgm:cxn modelId="{0D075696-4621-4D52-BCA5-F29FB1765A4B}" type="presParOf" srcId="{56FAAF24-3C8F-4B35-A930-8AD34FA10D8B}" destId="{FDF2B7BD-E49D-41C3-970A-15E56135566A}" srcOrd="6" destOrd="0" presId="urn:microsoft.com/office/officeart/2005/8/layout/vProcess5"/>
    <dgm:cxn modelId="{B72D53A4-7336-4D5F-8974-091A8D11596B}" type="presParOf" srcId="{56FAAF24-3C8F-4B35-A930-8AD34FA10D8B}" destId="{EB25D7CD-44FF-40B9-B097-38BC625EBDB6}" srcOrd="7" destOrd="0" presId="urn:microsoft.com/office/officeart/2005/8/layout/vProcess5"/>
    <dgm:cxn modelId="{589C2301-9E25-460F-BAFF-60E3000ED0DB}" type="presParOf" srcId="{56FAAF24-3C8F-4B35-A930-8AD34FA10D8B}" destId="{BB82CF04-DF07-4133-BBC5-361C078BB917}" srcOrd="8" destOrd="0" presId="urn:microsoft.com/office/officeart/2005/8/layout/vProcess5"/>
    <dgm:cxn modelId="{964C1832-7901-4C52-8A9B-E61A907DF478}" type="presParOf" srcId="{56FAAF24-3C8F-4B35-A930-8AD34FA10D8B}" destId="{D6F9EC0D-0863-4361-9691-AE2AE8A78BB6}" srcOrd="9" destOrd="0" presId="urn:microsoft.com/office/officeart/2005/8/layout/vProcess5"/>
    <dgm:cxn modelId="{B8518265-246A-4F1A-9E29-F089527B7609}" type="presParOf" srcId="{56FAAF24-3C8F-4B35-A930-8AD34FA10D8B}" destId="{8DE8C7B9-79A8-4C02-9B9B-0009555EF3C1}" srcOrd="10" destOrd="0" presId="urn:microsoft.com/office/officeart/2005/8/layout/vProcess5"/>
    <dgm:cxn modelId="{A404828C-4EDA-4338-AEEF-BED5E24E8986}" type="presParOf" srcId="{56FAAF24-3C8F-4B35-A930-8AD34FA10D8B}" destId="{6699F7F2-9278-426E-87B1-07FD802F5F3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09D35AE-0C69-4E14-8B9C-98AC622ACE8E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DFC6520-2CD4-4C38-9580-67801B488423}">
      <dgm:prSet/>
      <dgm:spPr/>
      <dgm:t>
        <a:bodyPr/>
        <a:lstStyle/>
        <a:p>
          <a:r>
            <a:rPr lang="en-US" b="1"/>
            <a:t>Definition:</a:t>
          </a:r>
          <a:br>
            <a:rPr lang="en-US"/>
          </a:br>
          <a:r>
            <a:rPr lang="en-US"/>
            <a:t>Special mask used to </a:t>
          </a:r>
          <a:r>
            <a:rPr lang="en-US" b="1"/>
            <a:t>define active areas</a:t>
          </a:r>
          <a:r>
            <a:rPr lang="en-US"/>
            <a:t> (where transistors will be formed) and isolate them from each other.</a:t>
          </a:r>
        </a:p>
      </dgm:t>
    </dgm:pt>
    <dgm:pt modelId="{B7EFCFE4-510A-4CEF-81F9-1E45B08608F3}" type="parTrans" cxnId="{AC446AD0-9210-4FEB-8507-C509A768A6B1}">
      <dgm:prSet/>
      <dgm:spPr/>
      <dgm:t>
        <a:bodyPr/>
        <a:lstStyle/>
        <a:p>
          <a:endParaRPr lang="en-US"/>
        </a:p>
      </dgm:t>
    </dgm:pt>
    <dgm:pt modelId="{129B8D89-E0CF-45D5-B1C6-BEA677FC6CEF}" type="sibTrans" cxnId="{AC446AD0-9210-4FEB-8507-C509A768A6B1}">
      <dgm:prSet/>
      <dgm:spPr/>
      <dgm:t>
        <a:bodyPr/>
        <a:lstStyle/>
        <a:p>
          <a:endParaRPr lang="en-US"/>
        </a:p>
      </dgm:t>
    </dgm:pt>
    <dgm:pt modelId="{EE20F6E5-E59E-4A39-A732-2751D6E87C45}">
      <dgm:prSet/>
      <dgm:spPr/>
      <dgm:t>
        <a:bodyPr/>
        <a:lstStyle/>
        <a:p>
          <a:r>
            <a:rPr lang="en-US" b="1"/>
            <a:t>Process:</a:t>
          </a:r>
          <a:endParaRPr lang="en-US"/>
        </a:p>
      </dgm:t>
    </dgm:pt>
    <dgm:pt modelId="{4735641C-05CE-4086-8C2E-4D176648FD47}" type="parTrans" cxnId="{7B52592C-C156-403F-9A96-756E1C363567}">
      <dgm:prSet/>
      <dgm:spPr/>
      <dgm:t>
        <a:bodyPr/>
        <a:lstStyle/>
        <a:p>
          <a:endParaRPr lang="en-US"/>
        </a:p>
      </dgm:t>
    </dgm:pt>
    <dgm:pt modelId="{0848D4EA-7A10-4F1B-89D4-8221FE30427F}" type="sibTrans" cxnId="{7B52592C-C156-403F-9A96-756E1C363567}">
      <dgm:prSet/>
      <dgm:spPr/>
      <dgm:t>
        <a:bodyPr/>
        <a:lstStyle/>
        <a:p>
          <a:endParaRPr lang="en-US"/>
        </a:p>
      </dgm:t>
    </dgm:pt>
    <dgm:pt modelId="{03DCB0B5-AA40-4FEC-A24E-5DA466A48F30}">
      <dgm:prSet/>
      <dgm:spPr/>
      <dgm:t>
        <a:bodyPr/>
        <a:lstStyle/>
        <a:p>
          <a:r>
            <a:rPr lang="en-US"/>
            <a:t>Use </a:t>
          </a:r>
          <a:r>
            <a:rPr lang="en-US" b="1"/>
            <a:t>isolation oxide</a:t>
          </a:r>
          <a:r>
            <a:rPr lang="en-US"/>
            <a:t> (thick SiO₂) in regions where no transistor is needed.</a:t>
          </a:r>
        </a:p>
      </dgm:t>
    </dgm:pt>
    <dgm:pt modelId="{94E21A77-7BEB-4527-9688-C183DD46FBEF}" type="parTrans" cxnId="{D7F7BD96-04A8-4191-A1D7-3B59C2E58060}">
      <dgm:prSet/>
      <dgm:spPr/>
      <dgm:t>
        <a:bodyPr/>
        <a:lstStyle/>
        <a:p>
          <a:endParaRPr lang="en-US"/>
        </a:p>
      </dgm:t>
    </dgm:pt>
    <dgm:pt modelId="{622BEDAD-5CED-41E7-BD50-123895519D1E}" type="sibTrans" cxnId="{D7F7BD96-04A8-4191-A1D7-3B59C2E58060}">
      <dgm:prSet/>
      <dgm:spPr/>
      <dgm:t>
        <a:bodyPr/>
        <a:lstStyle/>
        <a:p>
          <a:endParaRPr lang="en-US"/>
        </a:p>
      </dgm:t>
    </dgm:pt>
    <dgm:pt modelId="{88005224-9D26-428E-8F1B-258CEFB4BE7F}">
      <dgm:prSet/>
      <dgm:spPr/>
      <dgm:t>
        <a:bodyPr/>
        <a:lstStyle/>
        <a:p>
          <a:r>
            <a:rPr lang="en-US"/>
            <a:t>Only “active” regions (thin oxide) are left open for MOSFET fabrication.</a:t>
          </a:r>
        </a:p>
      </dgm:t>
    </dgm:pt>
    <dgm:pt modelId="{AAFD8B6A-B18B-4B1A-8BEF-39E1CC114F2A}" type="parTrans" cxnId="{B6C9D039-3637-4F14-A3D2-DADC67520A79}">
      <dgm:prSet/>
      <dgm:spPr/>
      <dgm:t>
        <a:bodyPr/>
        <a:lstStyle/>
        <a:p>
          <a:endParaRPr lang="en-US"/>
        </a:p>
      </dgm:t>
    </dgm:pt>
    <dgm:pt modelId="{4D783A48-44C0-4A65-8D4D-075D01C0A16F}" type="sibTrans" cxnId="{B6C9D039-3637-4F14-A3D2-DADC67520A79}">
      <dgm:prSet/>
      <dgm:spPr/>
      <dgm:t>
        <a:bodyPr/>
        <a:lstStyle/>
        <a:p>
          <a:endParaRPr lang="en-US"/>
        </a:p>
      </dgm:t>
    </dgm:pt>
    <dgm:pt modelId="{C261DC29-D3CD-48CE-9E56-9B7C151EFAD5}">
      <dgm:prSet/>
      <dgm:spPr/>
      <dgm:t>
        <a:bodyPr/>
        <a:lstStyle/>
        <a:p>
          <a:r>
            <a:rPr lang="en-US" b="1"/>
            <a:t>Purpose:</a:t>
          </a:r>
          <a:endParaRPr lang="en-US"/>
        </a:p>
      </dgm:t>
    </dgm:pt>
    <dgm:pt modelId="{A497F7AD-B137-4E2C-8346-639CD8057068}" type="parTrans" cxnId="{02623800-4A52-4AE3-A551-D01562BED2BF}">
      <dgm:prSet/>
      <dgm:spPr/>
      <dgm:t>
        <a:bodyPr/>
        <a:lstStyle/>
        <a:p>
          <a:endParaRPr lang="en-US"/>
        </a:p>
      </dgm:t>
    </dgm:pt>
    <dgm:pt modelId="{9DCDB59A-D520-41C2-AFC3-3B6F1B751B6A}" type="sibTrans" cxnId="{02623800-4A52-4AE3-A551-D01562BED2BF}">
      <dgm:prSet/>
      <dgm:spPr/>
      <dgm:t>
        <a:bodyPr/>
        <a:lstStyle/>
        <a:p>
          <a:endParaRPr lang="en-US"/>
        </a:p>
      </dgm:t>
    </dgm:pt>
    <dgm:pt modelId="{8EB4DD00-7953-454B-96E3-33C48E0AE3F1}">
      <dgm:prSet/>
      <dgm:spPr/>
      <dgm:t>
        <a:bodyPr/>
        <a:lstStyle/>
        <a:p>
          <a:r>
            <a:rPr lang="en-US"/>
            <a:t>Prevents interaction between nearby transistors.</a:t>
          </a:r>
        </a:p>
      </dgm:t>
    </dgm:pt>
    <dgm:pt modelId="{9875A330-C3A4-462A-91D5-0D078E2213AF}" type="parTrans" cxnId="{F780FE12-60FB-4173-BFF9-6AC78C64C7C1}">
      <dgm:prSet/>
      <dgm:spPr/>
      <dgm:t>
        <a:bodyPr/>
        <a:lstStyle/>
        <a:p>
          <a:endParaRPr lang="en-US"/>
        </a:p>
      </dgm:t>
    </dgm:pt>
    <dgm:pt modelId="{D1B21728-5E48-4518-930A-48DA3DAB671E}" type="sibTrans" cxnId="{F780FE12-60FB-4173-BFF9-6AC78C64C7C1}">
      <dgm:prSet/>
      <dgm:spPr/>
      <dgm:t>
        <a:bodyPr/>
        <a:lstStyle/>
        <a:p>
          <a:endParaRPr lang="en-US"/>
        </a:p>
      </dgm:t>
    </dgm:pt>
    <dgm:pt modelId="{8411FD37-2F97-40A7-A637-8B312DF03C96}">
      <dgm:prSet/>
      <dgm:spPr/>
      <dgm:t>
        <a:bodyPr/>
        <a:lstStyle/>
        <a:p>
          <a:r>
            <a:rPr lang="en-US"/>
            <a:t>Ensures reliability and avoids leakage.</a:t>
          </a:r>
        </a:p>
      </dgm:t>
    </dgm:pt>
    <dgm:pt modelId="{9A5A1496-84FE-47A7-82E4-EAB7A3BDA5DA}" type="parTrans" cxnId="{870B5447-BB72-4462-85A0-E222A9F217B3}">
      <dgm:prSet/>
      <dgm:spPr/>
      <dgm:t>
        <a:bodyPr/>
        <a:lstStyle/>
        <a:p>
          <a:endParaRPr lang="en-US"/>
        </a:p>
      </dgm:t>
    </dgm:pt>
    <dgm:pt modelId="{F6C03A40-CDE3-4600-A31D-F29015B450CC}" type="sibTrans" cxnId="{870B5447-BB72-4462-85A0-E222A9F217B3}">
      <dgm:prSet/>
      <dgm:spPr/>
      <dgm:t>
        <a:bodyPr/>
        <a:lstStyle/>
        <a:p>
          <a:endParaRPr lang="en-US"/>
        </a:p>
      </dgm:t>
    </dgm:pt>
    <dgm:pt modelId="{F65FE6B4-F24D-4EA1-94C3-CFE0DC1756F0}" type="pres">
      <dgm:prSet presAssocID="{809D35AE-0C69-4E14-8B9C-98AC622ACE8E}" presName="Name0" presStyleCnt="0">
        <dgm:presLayoutVars>
          <dgm:dir/>
          <dgm:animLvl val="lvl"/>
          <dgm:resizeHandles val="exact"/>
        </dgm:presLayoutVars>
      </dgm:prSet>
      <dgm:spPr/>
    </dgm:pt>
    <dgm:pt modelId="{CA87820E-BBE3-46C1-B548-5555972903A6}" type="pres">
      <dgm:prSet presAssocID="{EDFC6520-2CD4-4C38-9580-67801B488423}" presName="linNode" presStyleCnt="0"/>
      <dgm:spPr/>
    </dgm:pt>
    <dgm:pt modelId="{00B6C0D3-F57A-491B-ACD1-9CB8E71FB8C6}" type="pres">
      <dgm:prSet presAssocID="{EDFC6520-2CD4-4C38-9580-67801B488423}" presName="parentText" presStyleLbl="node1" presStyleIdx="0" presStyleCnt="3" custScaleX="277778">
        <dgm:presLayoutVars>
          <dgm:chMax val="1"/>
          <dgm:bulletEnabled val="1"/>
        </dgm:presLayoutVars>
      </dgm:prSet>
      <dgm:spPr/>
    </dgm:pt>
    <dgm:pt modelId="{CEB4912F-0B00-4F26-805B-50E661BB68DC}" type="pres">
      <dgm:prSet presAssocID="{129B8D89-E0CF-45D5-B1C6-BEA677FC6CEF}" presName="sp" presStyleCnt="0"/>
      <dgm:spPr/>
    </dgm:pt>
    <dgm:pt modelId="{9C1110AB-71CB-4231-B736-017C44E8CB03}" type="pres">
      <dgm:prSet presAssocID="{EE20F6E5-E59E-4A39-A732-2751D6E87C45}" presName="linNode" presStyleCnt="0"/>
      <dgm:spPr/>
    </dgm:pt>
    <dgm:pt modelId="{C0018DA1-316E-4272-A61A-BCF030DD80D0}" type="pres">
      <dgm:prSet presAssocID="{EE20F6E5-E59E-4A39-A732-2751D6E87C4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106E289-4A3E-4DB4-9083-A3813005EE81}" type="pres">
      <dgm:prSet presAssocID="{EE20F6E5-E59E-4A39-A732-2751D6E87C45}" presName="descendantText" presStyleLbl="alignAccFollowNode1" presStyleIdx="0" presStyleCnt="2">
        <dgm:presLayoutVars>
          <dgm:bulletEnabled val="1"/>
        </dgm:presLayoutVars>
      </dgm:prSet>
      <dgm:spPr/>
    </dgm:pt>
    <dgm:pt modelId="{568B1696-D3B0-4F57-9748-B41633E1A1CB}" type="pres">
      <dgm:prSet presAssocID="{0848D4EA-7A10-4F1B-89D4-8221FE30427F}" presName="sp" presStyleCnt="0"/>
      <dgm:spPr/>
    </dgm:pt>
    <dgm:pt modelId="{32044F6F-9C94-4751-8E26-1527E187A9AE}" type="pres">
      <dgm:prSet presAssocID="{C261DC29-D3CD-48CE-9E56-9B7C151EFAD5}" presName="linNode" presStyleCnt="0"/>
      <dgm:spPr/>
    </dgm:pt>
    <dgm:pt modelId="{D7EE353A-B821-4DB3-B59C-81C1D7923AA6}" type="pres">
      <dgm:prSet presAssocID="{C261DC29-D3CD-48CE-9E56-9B7C151EFAD5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D8CD34E-9D06-46C1-A6C1-ABA0BEC7C308}" type="pres">
      <dgm:prSet presAssocID="{C261DC29-D3CD-48CE-9E56-9B7C151EFAD5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2623800-4A52-4AE3-A551-D01562BED2BF}" srcId="{809D35AE-0C69-4E14-8B9C-98AC622ACE8E}" destId="{C261DC29-D3CD-48CE-9E56-9B7C151EFAD5}" srcOrd="2" destOrd="0" parTransId="{A497F7AD-B137-4E2C-8346-639CD8057068}" sibTransId="{9DCDB59A-D520-41C2-AFC3-3B6F1B751B6A}"/>
    <dgm:cxn modelId="{F780FE12-60FB-4173-BFF9-6AC78C64C7C1}" srcId="{C261DC29-D3CD-48CE-9E56-9B7C151EFAD5}" destId="{8EB4DD00-7953-454B-96E3-33C48E0AE3F1}" srcOrd="0" destOrd="0" parTransId="{9875A330-C3A4-462A-91D5-0D078E2213AF}" sibTransId="{D1B21728-5E48-4518-930A-48DA3DAB671E}"/>
    <dgm:cxn modelId="{CA4EC429-48F3-405D-96F2-AC0F03760E96}" type="presOf" srcId="{809D35AE-0C69-4E14-8B9C-98AC622ACE8E}" destId="{F65FE6B4-F24D-4EA1-94C3-CFE0DC1756F0}" srcOrd="0" destOrd="0" presId="urn:microsoft.com/office/officeart/2005/8/layout/vList5"/>
    <dgm:cxn modelId="{7B52592C-C156-403F-9A96-756E1C363567}" srcId="{809D35AE-0C69-4E14-8B9C-98AC622ACE8E}" destId="{EE20F6E5-E59E-4A39-A732-2751D6E87C45}" srcOrd="1" destOrd="0" parTransId="{4735641C-05CE-4086-8C2E-4D176648FD47}" sibTransId="{0848D4EA-7A10-4F1B-89D4-8221FE30427F}"/>
    <dgm:cxn modelId="{B6C9D039-3637-4F14-A3D2-DADC67520A79}" srcId="{EE20F6E5-E59E-4A39-A732-2751D6E87C45}" destId="{88005224-9D26-428E-8F1B-258CEFB4BE7F}" srcOrd="1" destOrd="0" parTransId="{AAFD8B6A-B18B-4B1A-8BEF-39E1CC114F2A}" sibTransId="{4D783A48-44C0-4A65-8D4D-075D01C0A16F}"/>
    <dgm:cxn modelId="{870B5447-BB72-4462-85A0-E222A9F217B3}" srcId="{C261DC29-D3CD-48CE-9E56-9B7C151EFAD5}" destId="{8411FD37-2F97-40A7-A637-8B312DF03C96}" srcOrd="1" destOrd="0" parTransId="{9A5A1496-84FE-47A7-82E4-EAB7A3BDA5DA}" sibTransId="{F6C03A40-CDE3-4600-A31D-F29015B450CC}"/>
    <dgm:cxn modelId="{EEED7447-ACED-4C35-B034-B844C17FEC81}" type="presOf" srcId="{88005224-9D26-428E-8F1B-258CEFB4BE7F}" destId="{7106E289-4A3E-4DB4-9083-A3813005EE81}" srcOrd="0" destOrd="1" presId="urn:microsoft.com/office/officeart/2005/8/layout/vList5"/>
    <dgm:cxn modelId="{4584E44D-986D-4B2E-BCFC-FBDB34BBD6BB}" type="presOf" srcId="{8411FD37-2F97-40A7-A637-8B312DF03C96}" destId="{9D8CD34E-9D06-46C1-A6C1-ABA0BEC7C308}" srcOrd="0" destOrd="1" presId="urn:microsoft.com/office/officeart/2005/8/layout/vList5"/>
    <dgm:cxn modelId="{907ADD8D-4ADC-450C-884A-B8571DAF1C50}" type="presOf" srcId="{EDFC6520-2CD4-4C38-9580-67801B488423}" destId="{00B6C0D3-F57A-491B-ACD1-9CB8E71FB8C6}" srcOrd="0" destOrd="0" presId="urn:microsoft.com/office/officeart/2005/8/layout/vList5"/>
    <dgm:cxn modelId="{D7F7BD96-04A8-4191-A1D7-3B59C2E58060}" srcId="{EE20F6E5-E59E-4A39-A732-2751D6E87C45}" destId="{03DCB0B5-AA40-4FEC-A24E-5DA466A48F30}" srcOrd="0" destOrd="0" parTransId="{94E21A77-7BEB-4527-9688-C183DD46FBEF}" sibTransId="{622BEDAD-5CED-41E7-BD50-123895519D1E}"/>
    <dgm:cxn modelId="{C8F941C9-276C-4AB7-BF33-C7C793CAFB42}" type="presOf" srcId="{EE20F6E5-E59E-4A39-A732-2751D6E87C45}" destId="{C0018DA1-316E-4272-A61A-BCF030DD80D0}" srcOrd="0" destOrd="0" presId="urn:microsoft.com/office/officeart/2005/8/layout/vList5"/>
    <dgm:cxn modelId="{AC446AD0-9210-4FEB-8507-C509A768A6B1}" srcId="{809D35AE-0C69-4E14-8B9C-98AC622ACE8E}" destId="{EDFC6520-2CD4-4C38-9580-67801B488423}" srcOrd="0" destOrd="0" parTransId="{B7EFCFE4-510A-4CEF-81F9-1E45B08608F3}" sibTransId="{129B8D89-E0CF-45D5-B1C6-BEA677FC6CEF}"/>
    <dgm:cxn modelId="{D58243DB-83EE-4810-B55F-5C86DC41DA57}" type="presOf" srcId="{03DCB0B5-AA40-4FEC-A24E-5DA466A48F30}" destId="{7106E289-4A3E-4DB4-9083-A3813005EE81}" srcOrd="0" destOrd="0" presId="urn:microsoft.com/office/officeart/2005/8/layout/vList5"/>
    <dgm:cxn modelId="{9854D5E1-1CFB-4D00-9C4D-E2175F58CA99}" type="presOf" srcId="{C261DC29-D3CD-48CE-9E56-9B7C151EFAD5}" destId="{D7EE353A-B821-4DB3-B59C-81C1D7923AA6}" srcOrd="0" destOrd="0" presId="urn:microsoft.com/office/officeart/2005/8/layout/vList5"/>
    <dgm:cxn modelId="{977924F7-BCF1-4B07-A273-65C183405BDC}" type="presOf" srcId="{8EB4DD00-7953-454B-96E3-33C48E0AE3F1}" destId="{9D8CD34E-9D06-46C1-A6C1-ABA0BEC7C308}" srcOrd="0" destOrd="0" presId="urn:microsoft.com/office/officeart/2005/8/layout/vList5"/>
    <dgm:cxn modelId="{55AD0EF0-6193-4F4D-98EC-696CF5EB571C}" type="presParOf" srcId="{F65FE6B4-F24D-4EA1-94C3-CFE0DC1756F0}" destId="{CA87820E-BBE3-46C1-B548-5555972903A6}" srcOrd="0" destOrd="0" presId="urn:microsoft.com/office/officeart/2005/8/layout/vList5"/>
    <dgm:cxn modelId="{CA0EE4F3-C1F2-4346-B175-BCFDBD5C9516}" type="presParOf" srcId="{CA87820E-BBE3-46C1-B548-5555972903A6}" destId="{00B6C0D3-F57A-491B-ACD1-9CB8E71FB8C6}" srcOrd="0" destOrd="0" presId="urn:microsoft.com/office/officeart/2005/8/layout/vList5"/>
    <dgm:cxn modelId="{2E85C2EE-0DFC-4CAE-A010-EA015AFCD040}" type="presParOf" srcId="{F65FE6B4-F24D-4EA1-94C3-CFE0DC1756F0}" destId="{CEB4912F-0B00-4F26-805B-50E661BB68DC}" srcOrd="1" destOrd="0" presId="urn:microsoft.com/office/officeart/2005/8/layout/vList5"/>
    <dgm:cxn modelId="{BF7078D9-0364-4EDD-9128-88A574FA8D56}" type="presParOf" srcId="{F65FE6B4-F24D-4EA1-94C3-CFE0DC1756F0}" destId="{9C1110AB-71CB-4231-B736-017C44E8CB03}" srcOrd="2" destOrd="0" presId="urn:microsoft.com/office/officeart/2005/8/layout/vList5"/>
    <dgm:cxn modelId="{049BEDAB-1336-40D2-B2F0-575C4FD3646C}" type="presParOf" srcId="{9C1110AB-71CB-4231-B736-017C44E8CB03}" destId="{C0018DA1-316E-4272-A61A-BCF030DD80D0}" srcOrd="0" destOrd="0" presId="urn:microsoft.com/office/officeart/2005/8/layout/vList5"/>
    <dgm:cxn modelId="{04632A97-66A3-4D44-A121-F575D7092DE6}" type="presParOf" srcId="{9C1110AB-71CB-4231-B736-017C44E8CB03}" destId="{7106E289-4A3E-4DB4-9083-A3813005EE81}" srcOrd="1" destOrd="0" presId="urn:microsoft.com/office/officeart/2005/8/layout/vList5"/>
    <dgm:cxn modelId="{CF7C6CD2-3F0C-45A3-A7B7-B0FC90268A82}" type="presParOf" srcId="{F65FE6B4-F24D-4EA1-94C3-CFE0DC1756F0}" destId="{568B1696-D3B0-4F57-9748-B41633E1A1CB}" srcOrd="3" destOrd="0" presId="urn:microsoft.com/office/officeart/2005/8/layout/vList5"/>
    <dgm:cxn modelId="{00AB5A60-7F3F-4657-B2F8-81CEFE438564}" type="presParOf" srcId="{F65FE6B4-F24D-4EA1-94C3-CFE0DC1756F0}" destId="{32044F6F-9C94-4751-8E26-1527E187A9AE}" srcOrd="4" destOrd="0" presId="urn:microsoft.com/office/officeart/2005/8/layout/vList5"/>
    <dgm:cxn modelId="{471ADD39-36C7-4BD4-BC73-77D9E8FD2DC5}" type="presParOf" srcId="{32044F6F-9C94-4751-8E26-1527E187A9AE}" destId="{D7EE353A-B821-4DB3-B59C-81C1D7923AA6}" srcOrd="0" destOrd="0" presId="urn:microsoft.com/office/officeart/2005/8/layout/vList5"/>
    <dgm:cxn modelId="{4C1A14B7-0D61-4C4C-862D-55A55DA77DE2}" type="presParOf" srcId="{32044F6F-9C94-4751-8E26-1527E187A9AE}" destId="{9D8CD34E-9D06-46C1-A6C1-ABA0BEC7C30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5025B0-4CEC-4C41-9AD3-6F93C62F119D}">
      <dsp:nvSpPr>
        <dsp:cNvPr id="0" name=""/>
        <dsp:cNvSpPr/>
      </dsp:nvSpPr>
      <dsp:spPr>
        <a:xfrm>
          <a:off x="0" y="0"/>
          <a:ext cx="10506456" cy="45849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7804" tIns="0" rIns="103780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Course teacher: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Mubasshar-Ul-Ishraq Tamim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Lecturer, Department of CSE.</a:t>
          </a:r>
        </a:p>
      </dsp:txBody>
      <dsp:txXfrm>
        <a:off x="0" y="1833978"/>
        <a:ext cx="10506456" cy="2750967"/>
      </dsp:txXfrm>
    </dsp:sp>
    <dsp:sp modelId="{FC9E7094-76E2-4658-B7A8-17635EB07056}">
      <dsp:nvSpPr>
        <dsp:cNvPr id="0" name=""/>
        <dsp:cNvSpPr/>
      </dsp:nvSpPr>
      <dsp:spPr>
        <a:xfrm>
          <a:off x="0" y="0"/>
          <a:ext cx="10506456" cy="183397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7804" tIns="165100" rIns="103780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 dirty="0"/>
            <a:t>Mid-Term</a:t>
          </a:r>
        </a:p>
      </dsp:txBody>
      <dsp:txXfrm>
        <a:off x="0" y="0"/>
        <a:ext cx="10506456" cy="18339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C75A8-02E9-4A53-A0B1-1F6CE779FAF9}">
      <dsp:nvSpPr>
        <dsp:cNvPr id="0" name=""/>
        <dsp:cNvSpPr/>
      </dsp:nvSpPr>
      <dsp:spPr>
        <a:xfrm>
          <a:off x="0" y="3156146"/>
          <a:ext cx="10927829" cy="103591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Analogy:</a:t>
          </a:r>
          <a:br>
            <a:rPr lang="en-US" sz="1800" kern="1200"/>
          </a:br>
          <a:r>
            <a:rPr lang="en-US" sz="1800" kern="1200"/>
            <a:t>Imagine trying to run through a crowded street → you move slower because of frequent collisions.</a:t>
          </a:r>
        </a:p>
      </dsp:txBody>
      <dsp:txXfrm>
        <a:off x="0" y="3156146"/>
        <a:ext cx="10927829" cy="1035917"/>
      </dsp:txXfrm>
    </dsp:sp>
    <dsp:sp modelId="{5CE909D4-FAA0-4AFA-AD15-1705952CACB5}">
      <dsp:nvSpPr>
        <dsp:cNvPr id="0" name=""/>
        <dsp:cNvSpPr/>
      </dsp:nvSpPr>
      <dsp:spPr>
        <a:xfrm rot="10800000">
          <a:off x="0" y="1578443"/>
          <a:ext cx="10927829" cy="1593241"/>
        </a:xfrm>
        <a:prstGeom prst="upArrowCallou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Effect:</a:t>
          </a:r>
          <a:endParaRPr lang="en-US" sz="1800" kern="1200"/>
        </a:p>
      </dsp:txBody>
      <dsp:txXfrm rot="-10800000">
        <a:off x="0" y="1578443"/>
        <a:ext cx="10927829" cy="559227"/>
      </dsp:txXfrm>
    </dsp:sp>
    <dsp:sp modelId="{9BF8CCBE-19E5-42A2-84B7-38092DFCD63A}">
      <dsp:nvSpPr>
        <dsp:cNvPr id="0" name=""/>
        <dsp:cNvSpPr/>
      </dsp:nvSpPr>
      <dsp:spPr>
        <a:xfrm>
          <a:off x="0" y="2137671"/>
          <a:ext cx="5463914" cy="47637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Reduces drain current.</a:t>
          </a:r>
        </a:p>
      </dsp:txBody>
      <dsp:txXfrm>
        <a:off x="0" y="2137671"/>
        <a:ext cx="5463914" cy="476379"/>
      </dsp:txXfrm>
    </dsp:sp>
    <dsp:sp modelId="{14A17201-2D4A-4904-9A88-F2F93C711EF3}">
      <dsp:nvSpPr>
        <dsp:cNvPr id="0" name=""/>
        <dsp:cNvSpPr/>
      </dsp:nvSpPr>
      <dsp:spPr>
        <a:xfrm>
          <a:off x="5463914" y="2137671"/>
          <a:ext cx="5463914" cy="47637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Lowers the speed of the transistor.</a:t>
          </a:r>
        </a:p>
      </dsp:txBody>
      <dsp:txXfrm>
        <a:off x="5463914" y="2137671"/>
        <a:ext cx="5463914" cy="476379"/>
      </dsp:txXfrm>
    </dsp:sp>
    <dsp:sp modelId="{1A0E763B-8760-4905-9CF9-977F03F4528A}">
      <dsp:nvSpPr>
        <dsp:cNvPr id="0" name=""/>
        <dsp:cNvSpPr/>
      </dsp:nvSpPr>
      <dsp:spPr>
        <a:xfrm rot="10800000">
          <a:off x="0" y="741"/>
          <a:ext cx="10927829" cy="1593241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Mobility = how easily electrons/holes move through the channel.</a:t>
          </a:r>
          <a:br>
            <a:rPr lang="en-US" sz="1800" kern="1200"/>
          </a:br>
          <a:r>
            <a:rPr lang="en-US" sz="1800" kern="1200"/>
            <a:t>In short-channel MOSFETs, strong electric fields are present in the channel near the gate.</a:t>
          </a:r>
          <a:br>
            <a:rPr lang="en-US" sz="1800" kern="1200"/>
          </a:br>
          <a:r>
            <a:rPr lang="en-US" sz="1800" kern="1200"/>
            <a:t>These high fields scatter carriers (electrons/holes), making them move slower.</a:t>
          </a:r>
        </a:p>
      </dsp:txBody>
      <dsp:txXfrm rot="10800000">
        <a:off x="0" y="741"/>
        <a:ext cx="10927829" cy="10352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BFEBD9-6F19-443C-BEA1-1947264FE278}">
      <dsp:nvSpPr>
        <dsp:cNvPr id="0" name=""/>
        <dsp:cNvSpPr/>
      </dsp:nvSpPr>
      <dsp:spPr>
        <a:xfrm>
          <a:off x="-209835" y="8740"/>
          <a:ext cx="6364224" cy="15703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7C51BA-F2EE-40D1-8E91-235C578BEAF7}">
      <dsp:nvSpPr>
        <dsp:cNvPr id="0" name=""/>
        <dsp:cNvSpPr/>
      </dsp:nvSpPr>
      <dsp:spPr>
        <a:xfrm>
          <a:off x="265206" y="362077"/>
          <a:ext cx="863712" cy="8637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9C92B-3FB4-4D97-BC9F-86EC7AEC836C}">
      <dsp:nvSpPr>
        <dsp:cNvPr id="0" name=""/>
        <dsp:cNvSpPr/>
      </dsp:nvSpPr>
      <dsp:spPr>
        <a:xfrm>
          <a:off x="1603960" y="8740"/>
          <a:ext cx="4546880" cy="1570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199" tIns="166199" rIns="166199" bIns="16619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Even when </a:t>
          </a:r>
          <a:r>
            <a:rPr lang="en-US" sz="2000" b="1" kern="1200"/>
            <a:t>Vgs &lt; Vth</a:t>
          </a:r>
          <a:r>
            <a:rPr lang="en-US" sz="2000" kern="1200"/>
            <a:t> (transistor should be OFF), some small current still flows from drain to source.</a:t>
          </a:r>
          <a:br>
            <a:rPr lang="en-US" sz="2000" kern="1200"/>
          </a:br>
          <a:r>
            <a:rPr lang="en-US" sz="2000" kern="1200"/>
            <a:t>This is called </a:t>
          </a:r>
          <a:r>
            <a:rPr lang="en-US" sz="2000" b="1" kern="1200"/>
            <a:t>subthreshold leakage</a:t>
          </a:r>
          <a:r>
            <a:rPr lang="en-US" sz="2000" kern="1200"/>
            <a:t>.</a:t>
          </a:r>
        </a:p>
      </dsp:txBody>
      <dsp:txXfrm>
        <a:off x="1603960" y="8740"/>
        <a:ext cx="4546880" cy="1570386"/>
      </dsp:txXfrm>
    </dsp:sp>
    <dsp:sp modelId="{66571115-69AB-4438-AC3A-6F8757DFBF63}">
      <dsp:nvSpPr>
        <dsp:cNvPr id="0" name=""/>
        <dsp:cNvSpPr/>
      </dsp:nvSpPr>
      <dsp:spPr>
        <a:xfrm>
          <a:off x="-209835" y="1971722"/>
          <a:ext cx="6364224" cy="15703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DE6B74-6860-4F7E-8B6B-C6BC2DF9A049}">
      <dsp:nvSpPr>
        <dsp:cNvPr id="0" name=""/>
        <dsp:cNvSpPr/>
      </dsp:nvSpPr>
      <dsp:spPr>
        <a:xfrm>
          <a:off x="265206" y="2325059"/>
          <a:ext cx="863712" cy="8637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64854-E5A3-4191-8372-4DB02B17E1B5}">
      <dsp:nvSpPr>
        <dsp:cNvPr id="0" name=""/>
        <dsp:cNvSpPr/>
      </dsp:nvSpPr>
      <dsp:spPr>
        <a:xfrm>
          <a:off x="1603960" y="1971722"/>
          <a:ext cx="4546880" cy="1570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199" tIns="166199" rIns="166199" bIns="16619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Why it happens:</a:t>
          </a:r>
          <a:br>
            <a:rPr lang="en-US" sz="2000" kern="1200"/>
          </a:br>
          <a:r>
            <a:rPr lang="en-US" sz="2000" kern="1200"/>
            <a:t>Short channel → weaker gate control → carriers sneak through.</a:t>
          </a:r>
        </a:p>
      </dsp:txBody>
      <dsp:txXfrm>
        <a:off x="1603960" y="1971722"/>
        <a:ext cx="4546880" cy="1570386"/>
      </dsp:txXfrm>
    </dsp:sp>
    <dsp:sp modelId="{9F084BF5-BCEC-4B99-9B73-090221E5F567}">
      <dsp:nvSpPr>
        <dsp:cNvPr id="0" name=""/>
        <dsp:cNvSpPr/>
      </dsp:nvSpPr>
      <dsp:spPr>
        <a:xfrm>
          <a:off x="-209835" y="3934705"/>
          <a:ext cx="6364224" cy="157038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02286-8E7B-439B-9BD6-7FC7C2877EBB}">
      <dsp:nvSpPr>
        <dsp:cNvPr id="0" name=""/>
        <dsp:cNvSpPr/>
      </dsp:nvSpPr>
      <dsp:spPr>
        <a:xfrm>
          <a:off x="265206" y="4288042"/>
          <a:ext cx="863712" cy="8637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38853-05BF-4C80-A0CC-5824E0F15D2C}">
      <dsp:nvSpPr>
        <dsp:cNvPr id="0" name=""/>
        <dsp:cNvSpPr/>
      </dsp:nvSpPr>
      <dsp:spPr>
        <a:xfrm>
          <a:off x="1603960" y="3934705"/>
          <a:ext cx="2863900" cy="1570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199" tIns="166199" rIns="166199" bIns="16619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Effect:</a:t>
          </a:r>
          <a:endParaRPr lang="en-US" sz="2000" kern="1200"/>
        </a:p>
      </dsp:txBody>
      <dsp:txXfrm>
        <a:off x="1603960" y="3934705"/>
        <a:ext cx="2863900" cy="1570386"/>
      </dsp:txXfrm>
    </dsp:sp>
    <dsp:sp modelId="{2AC238F0-5D33-4C38-AB3B-3C3E26F6A932}">
      <dsp:nvSpPr>
        <dsp:cNvPr id="0" name=""/>
        <dsp:cNvSpPr/>
      </dsp:nvSpPr>
      <dsp:spPr>
        <a:xfrm>
          <a:off x="4044642" y="3934705"/>
          <a:ext cx="2529416" cy="1570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199" tIns="166199" rIns="166199" bIns="166199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Wasted power in OFF state.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Increases standby power consumption in chips.</a:t>
          </a:r>
        </a:p>
      </dsp:txBody>
      <dsp:txXfrm>
        <a:off x="4044642" y="3934705"/>
        <a:ext cx="2529416" cy="15703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4BB436-6F02-4F73-B9F6-517ED417922C}">
      <dsp:nvSpPr>
        <dsp:cNvPr id="0" name=""/>
        <dsp:cNvSpPr/>
      </dsp:nvSpPr>
      <dsp:spPr>
        <a:xfrm>
          <a:off x="8215" y="0"/>
          <a:ext cx="5832871" cy="4357524"/>
        </a:xfrm>
        <a:prstGeom prst="homePlate">
          <a:avLst>
            <a:gd name="adj" fmla="val 2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71" tIns="76200" rIns="823083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Threshold Voltage (Vth) is the minimum voltage required at the gate to form a conducting channel.</a:t>
          </a:r>
          <a:br>
            <a:rPr lang="en-US" sz="3000" kern="1200" dirty="0"/>
          </a:br>
          <a:r>
            <a:rPr lang="en-US" sz="3000" kern="1200" dirty="0"/>
            <a:t>In short-channel MOSFETs, Vth does not stay constant → it changes with channel length and drain voltage.</a:t>
          </a:r>
        </a:p>
      </dsp:txBody>
      <dsp:txXfrm>
        <a:off x="8215" y="0"/>
        <a:ext cx="5288181" cy="4357524"/>
      </dsp:txXfrm>
    </dsp:sp>
    <dsp:sp modelId="{7ED9DED1-B9BC-4722-879E-9C0C51DEEC14}">
      <dsp:nvSpPr>
        <dsp:cNvPr id="0" name=""/>
        <dsp:cNvSpPr/>
      </dsp:nvSpPr>
      <dsp:spPr>
        <a:xfrm>
          <a:off x="4674512" y="0"/>
          <a:ext cx="5832871" cy="4357524"/>
        </a:xfrm>
        <a:prstGeom prst="chevron">
          <a:avLst>
            <a:gd name="adj" fmla="val 2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71" tIns="76200" rIns="205771" bIns="762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Effect:</a:t>
          </a:r>
          <a:endParaRPr lang="en-US" sz="30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Harder to design stable circuits.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Vth may reduce (device turns ON too easily) or increase (hard to switch ON).</a:t>
          </a:r>
        </a:p>
      </dsp:txBody>
      <dsp:txXfrm>
        <a:off x="5763893" y="0"/>
        <a:ext cx="3654109" cy="43575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D310F2-EEB3-4BA1-8908-78CD1533D686}">
      <dsp:nvSpPr>
        <dsp:cNvPr id="0" name=""/>
        <dsp:cNvSpPr/>
      </dsp:nvSpPr>
      <dsp:spPr>
        <a:xfrm>
          <a:off x="-258709" y="713834"/>
          <a:ext cx="10515600" cy="13021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B0C73-24C1-441F-8C7A-8FF0A8AE8E80}">
      <dsp:nvSpPr>
        <dsp:cNvPr id="0" name=""/>
        <dsp:cNvSpPr/>
      </dsp:nvSpPr>
      <dsp:spPr>
        <a:xfrm>
          <a:off x="135193" y="1006819"/>
          <a:ext cx="716187" cy="716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DF638F-F498-497B-901E-69DB6021482A}">
      <dsp:nvSpPr>
        <dsp:cNvPr id="0" name=""/>
        <dsp:cNvSpPr/>
      </dsp:nvSpPr>
      <dsp:spPr>
        <a:xfrm>
          <a:off x="1245283" y="713834"/>
          <a:ext cx="9008665" cy="1302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12" tIns="137812" rIns="137812" bIns="13781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What it means:</a:t>
          </a:r>
          <a:br>
            <a:rPr lang="en-US" sz="1800" kern="1200"/>
          </a:br>
          <a:r>
            <a:rPr lang="en-US" sz="1800" kern="1200"/>
            <a:t>When channel is very short, the depletion region from the drain side extends all the way to the source side.</a:t>
          </a:r>
          <a:br>
            <a:rPr lang="en-US" sz="1800" kern="1200"/>
          </a:br>
          <a:r>
            <a:rPr lang="en-US" sz="1800" kern="1200"/>
            <a:t>This creates a direct path for current, bypassing the gate control.</a:t>
          </a:r>
        </a:p>
      </dsp:txBody>
      <dsp:txXfrm>
        <a:off x="1245283" y="713834"/>
        <a:ext cx="9008665" cy="1302158"/>
      </dsp:txXfrm>
    </dsp:sp>
    <dsp:sp modelId="{433D0174-646C-4FFD-BE69-AB0995EA7970}">
      <dsp:nvSpPr>
        <dsp:cNvPr id="0" name=""/>
        <dsp:cNvSpPr/>
      </dsp:nvSpPr>
      <dsp:spPr>
        <a:xfrm>
          <a:off x="-258709" y="2477190"/>
          <a:ext cx="10515600" cy="13021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4A249C-AD87-44DF-BCA1-BDBB29E6B2A5}">
      <dsp:nvSpPr>
        <dsp:cNvPr id="0" name=""/>
        <dsp:cNvSpPr/>
      </dsp:nvSpPr>
      <dsp:spPr>
        <a:xfrm>
          <a:off x="135193" y="2634517"/>
          <a:ext cx="716187" cy="716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BDAEE-5E69-478A-B8DD-99B8A5C6A40D}">
      <dsp:nvSpPr>
        <dsp:cNvPr id="0" name=""/>
        <dsp:cNvSpPr/>
      </dsp:nvSpPr>
      <dsp:spPr>
        <a:xfrm>
          <a:off x="1245283" y="2341531"/>
          <a:ext cx="4732020" cy="1302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12" tIns="137812" rIns="137812" bIns="13781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Effect:</a:t>
          </a:r>
          <a:endParaRPr lang="en-US" sz="1800" kern="1200"/>
        </a:p>
      </dsp:txBody>
      <dsp:txXfrm>
        <a:off x="1245283" y="2341531"/>
        <a:ext cx="4732020" cy="1302158"/>
      </dsp:txXfrm>
    </dsp:sp>
    <dsp:sp modelId="{7BDD04FC-8584-4059-B477-30E1DDC6B552}">
      <dsp:nvSpPr>
        <dsp:cNvPr id="0" name=""/>
        <dsp:cNvSpPr/>
      </dsp:nvSpPr>
      <dsp:spPr>
        <a:xfrm>
          <a:off x="5456942" y="2341531"/>
          <a:ext cx="5317367" cy="1302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12" tIns="137812" rIns="137812" bIns="13781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Device cannot turn OFF properly.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Leakage current becomes very large.</a:t>
          </a:r>
        </a:p>
      </dsp:txBody>
      <dsp:txXfrm>
        <a:off x="5456942" y="2341531"/>
        <a:ext cx="5317367" cy="13021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50AC1E-E3F8-4D0F-A6C9-216BC1AA20D5}">
      <dsp:nvSpPr>
        <dsp:cNvPr id="0" name=""/>
        <dsp:cNvSpPr/>
      </dsp:nvSpPr>
      <dsp:spPr>
        <a:xfrm>
          <a:off x="0" y="0"/>
          <a:ext cx="8938260" cy="12482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What it means:</a:t>
          </a:r>
          <a:br>
            <a:rPr lang="en-US" sz="1800" kern="1200"/>
          </a:br>
          <a:r>
            <a:rPr lang="en-US" sz="1800" kern="1200"/>
            <a:t>In short-channel MOSFETs, carriers (electrons/holes) get accelerated to very high energy due to strong electric fields near the drain.</a:t>
          </a:r>
          <a:br>
            <a:rPr lang="en-US" sz="1800" kern="1200"/>
          </a:br>
          <a:r>
            <a:rPr lang="en-US" sz="1800" kern="1200"/>
            <a:t>These high-energy carriers are called </a:t>
          </a:r>
          <a:r>
            <a:rPr lang="en-US" sz="1800" b="1" kern="1200"/>
            <a:t>hot carriers</a:t>
          </a:r>
          <a:r>
            <a:rPr lang="en-US" sz="1800" kern="1200"/>
            <a:t>.</a:t>
          </a:r>
        </a:p>
      </dsp:txBody>
      <dsp:txXfrm>
        <a:off x="36560" y="36560"/>
        <a:ext cx="7591299" cy="1175131"/>
      </dsp:txXfrm>
    </dsp:sp>
    <dsp:sp modelId="{D4D382A4-6DBA-461B-96F6-DE3A9B1E248E}">
      <dsp:nvSpPr>
        <dsp:cNvPr id="0" name=""/>
        <dsp:cNvSpPr/>
      </dsp:nvSpPr>
      <dsp:spPr>
        <a:xfrm>
          <a:off x="788669" y="1456292"/>
          <a:ext cx="8938260" cy="124825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Effect: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They can get trapped in the gate oxide.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This degrades performance over time (shifts Vth, reduces mobility).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Long-term reliability problem.</a:t>
          </a:r>
        </a:p>
      </dsp:txBody>
      <dsp:txXfrm>
        <a:off x="825229" y="1492852"/>
        <a:ext cx="7265106" cy="1175131"/>
      </dsp:txXfrm>
    </dsp:sp>
    <dsp:sp modelId="{7753BB2D-C306-4FA1-936C-F13149036AAF}">
      <dsp:nvSpPr>
        <dsp:cNvPr id="0" name=""/>
        <dsp:cNvSpPr/>
      </dsp:nvSpPr>
      <dsp:spPr>
        <a:xfrm>
          <a:off x="1577339" y="2912585"/>
          <a:ext cx="8938260" cy="124825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Analogy:</a:t>
          </a:r>
          <a:br>
            <a:rPr lang="en-US" sz="1800" kern="1200"/>
          </a:br>
          <a:r>
            <a:rPr lang="en-US" sz="1800" kern="1200"/>
            <a:t>Like over-speeding cars on a highway → some crash into barriers (oxide), damaging the road.</a:t>
          </a:r>
        </a:p>
      </dsp:txBody>
      <dsp:txXfrm>
        <a:off x="1613899" y="2949145"/>
        <a:ext cx="7265106" cy="1175131"/>
      </dsp:txXfrm>
    </dsp:sp>
    <dsp:sp modelId="{C52CFECA-20EC-4613-9238-A25D90EAD0BF}">
      <dsp:nvSpPr>
        <dsp:cNvPr id="0" name=""/>
        <dsp:cNvSpPr/>
      </dsp:nvSpPr>
      <dsp:spPr>
        <a:xfrm>
          <a:off x="8126896" y="946590"/>
          <a:ext cx="811363" cy="81136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309453" y="946590"/>
        <a:ext cx="446249" cy="610551"/>
      </dsp:txXfrm>
    </dsp:sp>
    <dsp:sp modelId="{B8AAD6C5-DDD2-413F-9E03-DC5CDE0FAAAB}">
      <dsp:nvSpPr>
        <dsp:cNvPr id="0" name=""/>
        <dsp:cNvSpPr/>
      </dsp:nvSpPr>
      <dsp:spPr>
        <a:xfrm>
          <a:off x="8915566" y="2394561"/>
          <a:ext cx="811363" cy="81136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98123" y="2394561"/>
        <a:ext cx="446249" cy="61055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810A5-0B40-473E-BE0E-5FFDFFF521EC}">
      <dsp:nvSpPr>
        <dsp:cNvPr id="0" name=""/>
        <dsp:cNvSpPr/>
      </dsp:nvSpPr>
      <dsp:spPr>
        <a:xfrm>
          <a:off x="0" y="314918"/>
          <a:ext cx="6364224" cy="15701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What it means:</a:t>
          </a:r>
          <a:br>
            <a:rPr lang="en-US" sz="2200" kern="1200"/>
          </a:br>
          <a:r>
            <a:rPr lang="en-US" sz="2200" kern="1200"/>
            <a:t>At the interface between the silicon and gate oxide, there can be </a:t>
          </a:r>
          <a:r>
            <a:rPr lang="en-US" sz="2200" b="1" kern="1200"/>
            <a:t>trapped charges</a:t>
          </a:r>
          <a:r>
            <a:rPr lang="en-US" sz="2200" kern="1200"/>
            <a:t> or </a:t>
          </a:r>
          <a:r>
            <a:rPr lang="en-US" sz="2200" b="1" kern="1200"/>
            <a:t>defects</a:t>
          </a:r>
          <a:r>
            <a:rPr lang="en-US" sz="2200" kern="1200"/>
            <a:t>.</a:t>
          </a:r>
          <a:br>
            <a:rPr lang="en-US" sz="2200" kern="1200"/>
          </a:br>
          <a:r>
            <a:rPr lang="en-US" sz="2200" kern="1200"/>
            <a:t>These interact with carriers in the channel.</a:t>
          </a:r>
        </a:p>
      </dsp:txBody>
      <dsp:txXfrm>
        <a:off x="76648" y="391566"/>
        <a:ext cx="6210928" cy="1416844"/>
      </dsp:txXfrm>
    </dsp:sp>
    <dsp:sp modelId="{63759E54-E875-46E7-823C-AA5E6E72E7F8}">
      <dsp:nvSpPr>
        <dsp:cNvPr id="0" name=""/>
        <dsp:cNvSpPr/>
      </dsp:nvSpPr>
      <dsp:spPr>
        <a:xfrm>
          <a:off x="0" y="1948418"/>
          <a:ext cx="6364224" cy="792324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Effect:</a:t>
          </a:r>
          <a:endParaRPr lang="en-US" sz="2200" kern="1200"/>
        </a:p>
      </dsp:txBody>
      <dsp:txXfrm>
        <a:off x="38678" y="1987096"/>
        <a:ext cx="6286868" cy="714968"/>
      </dsp:txXfrm>
    </dsp:sp>
    <dsp:sp modelId="{1D6D9A87-2027-4467-9072-D2D20E69D5DC}">
      <dsp:nvSpPr>
        <dsp:cNvPr id="0" name=""/>
        <dsp:cNvSpPr/>
      </dsp:nvSpPr>
      <dsp:spPr>
        <a:xfrm>
          <a:off x="0" y="2740743"/>
          <a:ext cx="6364224" cy="888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Reduces mobility.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Causes instability in threshold voltage.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Leads to noise and unreliable operation.</a:t>
          </a:r>
        </a:p>
      </dsp:txBody>
      <dsp:txXfrm>
        <a:off x="0" y="2740743"/>
        <a:ext cx="6364224" cy="888030"/>
      </dsp:txXfrm>
    </dsp:sp>
    <dsp:sp modelId="{243CB758-71AC-481B-9137-6E47CE6A7C61}">
      <dsp:nvSpPr>
        <dsp:cNvPr id="0" name=""/>
        <dsp:cNvSpPr/>
      </dsp:nvSpPr>
      <dsp:spPr>
        <a:xfrm>
          <a:off x="0" y="3628773"/>
          <a:ext cx="6364224" cy="15701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Analogy:</a:t>
          </a:r>
          <a:br>
            <a:rPr lang="en-US" sz="2200" kern="1200"/>
          </a:br>
          <a:r>
            <a:rPr lang="en-US" sz="2200" kern="1200"/>
            <a:t>Imagine walking on a sticky floor – you get slowed down because of traps (charges).</a:t>
          </a:r>
        </a:p>
      </dsp:txBody>
      <dsp:txXfrm>
        <a:off x="76648" y="3705421"/>
        <a:ext cx="6210928" cy="141684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7CB21C-3B51-4BC7-B061-95EE22542C81}">
      <dsp:nvSpPr>
        <dsp:cNvPr id="0" name=""/>
        <dsp:cNvSpPr/>
      </dsp:nvSpPr>
      <dsp:spPr>
        <a:xfrm>
          <a:off x="0" y="254754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General Flow:</a:t>
          </a:r>
          <a:endParaRPr lang="en-US" sz="2700" kern="1200"/>
        </a:p>
      </dsp:txBody>
      <dsp:txXfrm>
        <a:off x="32384" y="287138"/>
        <a:ext cx="10450832" cy="598621"/>
      </dsp:txXfrm>
    </dsp:sp>
    <dsp:sp modelId="{4646BF68-F3DB-4828-9E93-39CACE15633D}">
      <dsp:nvSpPr>
        <dsp:cNvPr id="0" name=""/>
        <dsp:cNvSpPr/>
      </dsp:nvSpPr>
      <dsp:spPr>
        <a:xfrm>
          <a:off x="0" y="918144"/>
          <a:ext cx="10515600" cy="2515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Oxide Growth</a:t>
          </a:r>
          <a:r>
            <a:rPr lang="en-US" sz="2100" kern="1200"/>
            <a:t> (silicon dioxide layer grown on wafer).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Photolithography</a:t>
          </a:r>
          <a:r>
            <a:rPr lang="en-US" sz="2100" kern="1200"/>
            <a:t> (to define patterns).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Etching</a:t>
          </a:r>
          <a:r>
            <a:rPr lang="en-US" sz="2100" kern="1200"/>
            <a:t> (remove unwanted layers).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Doping/Ion implantation</a:t>
          </a:r>
          <a:r>
            <a:rPr lang="en-US" sz="2100" kern="1200"/>
            <a:t> (to make n-type or p-type regions).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Deposition</a:t>
          </a:r>
          <a:r>
            <a:rPr lang="en-US" sz="2100" kern="1200"/>
            <a:t> (adding materials like polysilicon, metals).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Metallization</a:t>
          </a:r>
          <a:r>
            <a:rPr lang="en-US" sz="2100" kern="1200"/>
            <a:t> (wiring interconnections).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Passivation</a:t>
          </a:r>
          <a:r>
            <a:rPr lang="en-US" sz="2100" kern="1200"/>
            <a:t> (final protective layer).</a:t>
          </a:r>
        </a:p>
      </dsp:txBody>
      <dsp:txXfrm>
        <a:off x="0" y="918144"/>
        <a:ext cx="10515600" cy="2515050"/>
      </dsp:txXfrm>
    </dsp:sp>
    <dsp:sp modelId="{0540E235-17EB-462B-B3F4-4369AE5C72DE}">
      <dsp:nvSpPr>
        <dsp:cNvPr id="0" name=""/>
        <dsp:cNvSpPr/>
      </dsp:nvSpPr>
      <dsp:spPr>
        <a:xfrm>
          <a:off x="0" y="3433194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Goal:</a:t>
          </a:r>
          <a:r>
            <a:rPr lang="en-US" sz="2700" kern="1200"/>
            <a:t> Build millions of MOSFETs and connect them to form circuits.</a:t>
          </a:r>
        </a:p>
      </dsp:txBody>
      <dsp:txXfrm>
        <a:off x="32384" y="3465578"/>
        <a:ext cx="10450832" cy="59862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669FE9-C85E-4222-A5E0-B10051BBAD43}">
      <dsp:nvSpPr>
        <dsp:cNvPr id="0" name=""/>
        <dsp:cNvSpPr/>
      </dsp:nvSpPr>
      <dsp:spPr>
        <a:xfrm>
          <a:off x="0" y="2124"/>
          <a:ext cx="10505339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Unwanted capacitances formed in MOS transistors due to overlaps and junctions.</a:t>
          </a:r>
        </a:p>
      </dsp:txBody>
      <dsp:txXfrm>
        <a:off x="68454" y="70578"/>
        <a:ext cx="10368431" cy="1265378"/>
      </dsp:txXfrm>
    </dsp:sp>
    <dsp:sp modelId="{37437798-1823-4A74-9F5E-A19502EFDAF2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/>
            <a:t>Gate-to-source capacitance (Cgs).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/>
            <a:t>Gate-to-drain capacitance (Cgd).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/>
            <a:t>Drain-to-substrate junction capacitance (Cdb).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/>
            <a:t>Source-to-substrate junction capacitance (Csb).</a:t>
          </a:r>
          <a:endParaRPr lang="en-US" sz="1500" kern="1200"/>
        </a:p>
      </dsp:txBody>
      <dsp:txXfrm rot="-5400000">
        <a:off x="3785616" y="1669517"/>
        <a:ext cx="6675221" cy="1012303"/>
      </dsp:txXfrm>
    </dsp:sp>
    <dsp:sp modelId="{129CD8E0-B291-4CD0-8E83-88FEE31D2041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Types:</a:t>
          </a:r>
          <a:endParaRPr lang="en-US" sz="3600" kern="1200" dirty="0"/>
        </a:p>
      </dsp:txBody>
      <dsp:txXfrm>
        <a:off x="68454" y="1542979"/>
        <a:ext cx="3648708" cy="1265378"/>
      </dsp:txXfrm>
    </dsp:sp>
    <dsp:sp modelId="{36A31ADC-479D-4639-8E16-BDDE322ED856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Slows down switching speed.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Increases power consumption.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Limits maximum frequency.</a:t>
          </a:r>
        </a:p>
      </dsp:txBody>
      <dsp:txXfrm rot="-5400000">
        <a:off x="3785616" y="3141918"/>
        <a:ext cx="6675221" cy="1012303"/>
      </dsp:txXfrm>
    </dsp:sp>
    <dsp:sp modelId="{B7C3F45B-12D0-4CCA-81FC-C61892EC7591}">
      <dsp:nvSpPr>
        <dsp:cNvPr id="0" name=""/>
        <dsp:cNvSpPr/>
      </dsp:nvSpPr>
      <dsp:spPr>
        <a:xfrm>
          <a:off x="0" y="2917745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Effect:</a:t>
          </a:r>
          <a:endParaRPr lang="en-US" sz="3600" kern="1200" dirty="0"/>
        </a:p>
      </dsp:txBody>
      <dsp:txXfrm>
        <a:off x="68454" y="2986199"/>
        <a:ext cx="3648708" cy="126537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16E2D7-9826-483C-BB63-8EF375BCFA8C}">
      <dsp:nvSpPr>
        <dsp:cNvPr id="0" name=""/>
        <dsp:cNvSpPr/>
      </dsp:nvSpPr>
      <dsp:spPr>
        <a:xfrm>
          <a:off x="3638884" y="2019814"/>
          <a:ext cx="1291217" cy="6145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8765"/>
              </a:lnTo>
              <a:lnTo>
                <a:pt x="1291217" y="418765"/>
              </a:lnTo>
              <a:lnTo>
                <a:pt x="1291217" y="61450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0021F8-3E38-45E1-9654-4F68E1F7A7FC}">
      <dsp:nvSpPr>
        <dsp:cNvPr id="0" name=""/>
        <dsp:cNvSpPr/>
      </dsp:nvSpPr>
      <dsp:spPr>
        <a:xfrm>
          <a:off x="2347667" y="2019814"/>
          <a:ext cx="1291217" cy="614501"/>
        </a:xfrm>
        <a:custGeom>
          <a:avLst/>
          <a:gdLst/>
          <a:ahLst/>
          <a:cxnLst/>
          <a:rect l="0" t="0" r="0" b="0"/>
          <a:pathLst>
            <a:path>
              <a:moveTo>
                <a:pt x="1291217" y="0"/>
              </a:moveTo>
              <a:lnTo>
                <a:pt x="1291217" y="418765"/>
              </a:lnTo>
              <a:lnTo>
                <a:pt x="0" y="418765"/>
              </a:lnTo>
              <a:lnTo>
                <a:pt x="0" y="61450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FAB0A5-7CF1-413F-9F10-7E1E7D686F67}">
      <dsp:nvSpPr>
        <dsp:cNvPr id="0" name=""/>
        <dsp:cNvSpPr/>
      </dsp:nvSpPr>
      <dsp:spPr>
        <a:xfrm>
          <a:off x="0" y="678122"/>
          <a:ext cx="2112900" cy="1341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B6DB194-7AF8-44FE-8278-9D359652B449}">
      <dsp:nvSpPr>
        <dsp:cNvPr id="0" name=""/>
        <dsp:cNvSpPr/>
      </dsp:nvSpPr>
      <dsp:spPr>
        <a:xfrm>
          <a:off x="234766" y="901150"/>
          <a:ext cx="2112900" cy="1341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Definition:</a:t>
          </a:r>
          <a:r>
            <a:rPr lang="en-US" sz="1400" kern="1200"/>
            <a:t> A heavily doped region created under field oxide areas (outside the channel region).</a:t>
          </a:r>
        </a:p>
      </dsp:txBody>
      <dsp:txXfrm>
        <a:off x="274063" y="940447"/>
        <a:ext cx="2034306" cy="1263097"/>
      </dsp:txXfrm>
    </dsp:sp>
    <dsp:sp modelId="{93BCCD6B-316B-4A56-8881-A7B93DC2AD38}">
      <dsp:nvSpPr>
        <dsp:cNvPr id="0" name=""/>
        <dsp:cNvSpPr/>
      </dsp:nvSpPr>
      <dsp:spPr>
        <a:xfrm>
          <a:off x="2582434" y="678122"/>
          <a:ext cx="2112900" cy="1341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2DEFE0-84D0-4783-8F18-643B8AEC0818}">
      <dsp:nvSpPr>
        <dsp:cNvPr id="0" name=""/>
        <dsp:cNvSpPr/>
      </dsp:nvSpPr>
      <dsp:spPr>
        <a:xfrm>
          <a:off x="2817201" y="901150"/>
          <a:ext cx="2112900" cy="1341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Purpose:</a:t>
          </a:r>
          <a:endParaRPr lang="en-US" sz="1400" kern="1200"/>
        </a:p>
      </dsp:txBody>
      <dsp:txXfrm>
        <a:off x="2856498" y="940447"/>
        <a:ext cx="2034306" cy="1263097"/>
      </dsp:txXfrm>
    </dsp:sp>
    <dsp:sp modelId="{D7CB88BF-4DE9-4D74-9D28-B89B08BB6A8B}">
      <dsp:nvSpPr>
        <dsp:cNvPr id="0" name=""/>
        <dsp:cNvSpPr/>
      </dsp:nvSpPr>
      <dsp:spPr>
        <a:xfrm>
          <a:off x="1291217" y="2634316"/>
          <a:ext cx="2112900" cy="1341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445D53-E502-46CB-8206-BEEAC2297B5C}">
      <dsp:nvSpPr>
        <dsp:cNvPr id="0" name=""/>
        <dsp:cNvSpPr/>
      </dsp:nvSpPr>
      <dsp:spPr>
        <a:xfrm>
          <a:off x="1525983" y="2857344"/>
          <a:ext cx="2112900" cy="1341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Prevents </a:t>
          </a:r>
          <a:r>
            <a:rPr lang="en-US" sz="1400" b="1" kern="1200"/>
            <a:t>inversion layer leakage</a:t>
          </a:r>
          <a:r>
            <a:rPr lang="en-US" sz="1400" kern="1200"/>
            <a:t> outside the intended channel.</a:t>
          </a:r>
        </a:p>
      </dsp:txBody>
      <dsp:txXfrm>
        <a:off x="1565280" y="2896641"/>
        <a:ext cx="2034306" cy="1263097"/>
      </dsp:txXfrm>
    </dsp:sp>
    <dsp:sp modelId="{840CDCDE-BF12-4ACA-8554-AF86F5AD9F78}">
      <dsp:nvSpPr>
        <dsp:cNvPr id="0" name=""/>
        <dsp:cNvSpPr/>
      </dsp:nvSpPr>
      <dsp:spPr>
        <a:xfrm>
          <a:off x="3873651" y="2634316"/>
          <a:ext cx="2112900" cy="1341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C7C00E0-7163-4976-90E7-D4E5C8546253}">
      <dsp:nvSpPr>
        <dsp:cNvPr id="0" name=""/>
        <dsp:cNvSpPr/>
      </dsp:nvSpPr>
      <dsp:spPr>
        <a:xfrm>
          <a:off x="4108418" y="2857344"/>
          <a:ext cx="2112900" cy="1341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Stops parasitic channels from forming between source and drain.</a:t>
          </a:r>
        </a:p>
      </dsp:txBody>
      <dsp:txXfrm>
        <a:off x="4147715" y="2896641"/>
        <a:ext cx="2034306" cy="1263097"/>
      </dsp:txXfrm>
    </dsp:sp>
    <dsp:sp modelId="{2AA6C4FE-1C33-48F7-BED4-7AACE3AE029B}">
      <dsp:nvSpPr>
        <dsp:cNvPr id="0" name=""/>
        <dsp:cNvSpPr/>
      </dsp:nvSpPr>
      <dsp:spPr>
        <a:xfrm>
          <a:off x="5164868" y="678122"/>
          <a:ext cx="2112900" cy="1341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D038DEC-624A-4F84-BECA-EF25913BB811}">
      <dsp:nvSpPr>
        <dsp:cNvPr id="0" name=""/>
        <dsp:cNvSpPr/>
      </dsp:nvSpPr>
      <dsp:spPr>
        <a:xfrm>
          <a:off x="5399635" y="901150"/>
          <a:ext cx="2112900" cy="1341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Analogy:</a:t>
          </a:r>
          <a:r>
            <a:rPr lang="en-US" sz="1400" kern="1200"/>
            <a:t> Like putting barriers so current flows only in the proper path.</a:t>
          </a:r>
        </a:p>
      </dsp:txBody>
      <dsp:txXfrm>
        <a:off x="5438932" y="940447"/>
        <a:ext cx="2034306" cy="126309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19EEDE-A93A-4CB0-9467-2EB49DAE5EFA}">
      <dsp:nvSpPr>
        <dsp:cNvPr id="0" name=""/>
        <dsp:cNvSpPr/>
      </dsp:nvSpPr>
      <dsp:spPr>
        <a:xfrm>
          <a:off x="0" y="2408761"/>
          <a:ext cx="6949595" cy="15804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Why polysilicon?</a:t>
          </a:r>
          <a:endParaRPr lang="en-US" sz="2200" kern="1200"/>
        </a:p>
      </dsp:txBody>
      <dsp:txXfrm>
        <a:off x="0" y="2408761"/>
        <a:ext cx="6949595" cy="853420"/>
      </dsp:txXfrm>
    </dsp:sp>
    <dsp:sp modelId="{22B68EDB-B7CA-4B7A-8566-92975B2C83B0}">
      <dsp:nvSpPr>
        <dsp:cNvPr id="0" name=""/>
        <dsp:cNvSpPr/>
      </dsp:nvSpPr>
      <dsp:spPr>
        <a:xfrm>
          <a:off x="3393" y="3230574"/>
          <a:ext cx="2314269" cy="72698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Used as </a:t>
          </a:r>
          <a:r>
            <a:rPr lang="en-US" sz="1600" b="1" kern="1200"/>
            <a:t>gate material</a:t>
          </a:r>
          <a:r>
            <a:rPr lang="en-US" sz="1600" kern="1200"/>
            <a:t>.</a:t>
          </a:r>
        </a:p>
      </dsp:txBody>
      <dsp:txXfrm>
        <a:off x="3393" y="3230574"/>
        <a:ext cx="2314269" cy="726987"/>
      </dsp:txXfrm>
    </dsp:sp>
    <dsp:sp modelId="{B49CDB9E-E121-4185-9AE8-9D0114D8CD6D}">
      <dsp:nvSpPr>
        <dsp:cNvPr id="0" name=""/>
        <dsp:cNvSpPr/>
      </dsp:nvSpPr>
      <dsp:spPr>
        <a:xfrm>
          <a:off x="2317662" y="3230574"/>
          <a:ext cx="2314269" cy="72698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Can act as </a:t>
          </a:r>
          <a:r>
            <a:rPr lang="en-US" sz="1600" b="1" kern="1200"/>
            <a:t>resistors</a:t>
          </a:r>
          <a:r>
            <a:rPr lang="en-US" sz="1600" kern="1200"/>
            <a:t> or interconnects.</a:t>
          </a:r>
        </a:p>
      </dsp:txBody>
      <dsp:txXfrm>
        <a:off x="2317662" y="3230574"/>
        <a:ext cx="2314269" cy="726987"/>
      </dsp:txXfrm>
    </dsp:sp>
    <dsp:sp modelId="{49818E83-4EF4-46DC-8E77-974020EAE09C}">
      <dsp:nvSpPr>
        <dsp:cNvPr id="0" name=""/>
        <dsp:cNvSpPr/>
      </dsp:nvSpPr>
      <dsp:spPr>
        <a:xfrm>
          <a:off x="4631932" y="3230574"/>
          <a:ext cx="2314269" cy="72698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Works well in high-temperature processes.</a:t>
          </a:r>
        </a:p>
      </dsp:txBody>
      <dsp:txXfrm>
        <a:off x="4631932" y="3230574"/>
        <a:ext cx="2314269" cy="726987"/>
      </dsp:txXfrm>
    </dsp:sp>
    <dsp:sp modelId="{C3A4BCEA-A0F0-42B9-9248-BA03D1ABC202}">
      <dsp:nvSpPr>
        <dsp:cNvPr id="0" name=""/>
        <dsp:cNvSpPr/>
      </dsp:nvSpPr>
      <dsp:spPr>
        <a:xfrm rot="10800000">
          <a:off x="0" y="0"/>
          <a:ext cx="6949595" cy="2430668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What it is:</a:t>
          </a:r>
          <a:br>
            <a:rPr lang="en-US" sz="2200" kern="1200"/>
          </a:br>
          <a:r>
            <a:rPr lang="en-US" sz="2200" kern="1200"/>
            <a:t>A process of depositing a thin film of polysilicon (polycrystalline silicon) on the wafer using </a:t>
          </a:r>
          <a:r>
            <a:rPr lang="en-US" sz="2200" b="1" kern="1200"/>
            <a:t>Chemical Vapor Deposition (CVD).</a:t>
          </a:r>
          <a:endParaRPr lang="en-US" sz="2200" kern="1200"/>
        </a:p>
      </dsp:txBody>
      <dsp:txXfrm rot="10800000">
        <a:off x="0" y="0"/>
        <a:ext cx="6949595" cy="157937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86D8B7-B3C6-4BEF-A6F2-2A25A50AFCEB}">
      <dsp:nvSpPr>
        <dsp:cNvPr id="0" name=""/>
        <dsp:cNvSpPr/>
      </dsp:nvSpPr>
      <dsp:spPr>
        <a:xfrm>
          <a:off x="0" y="0"/>
          <a:ext cx="8134502" cy="8786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What it is:</a:t>
          </a:r>
          <a:br>
            <a:rPr lang="en-US" sz="1300" kern="1200" dirty="0"/>
          </a:br>
          <a:r>
            <a:rPr lang="en-US" sz="1300" kern="1200" dirty="0"/>
            <a:t>Growing a thin layer of </a:t>
          </a:r>
          <a:r>
            <a:rPr lang="en-US" sz="1300" b="1" kern="1200" dirty="0"/>
            <a:t>silicon dioxide (</a:t>
          </a:r>
          <a:r>
            <a:rPr lang="en-US" sz="1300" b="1" kern="1200" dirty="0" err="1"/>
            <a:t>SiO</a:t>
          </a:r>
          <a:r>
            <a:rPr lang="en-US" sz="1300" b="1" kern="1200" dirty="0"/>
            <a:t>₂)</a:t>
          </a:r>
          <a:r>
            <a:rPr lang="en-US" sz="1300" kern="1200" dirty="0"/>
            <a:t> on silicon wafer.</a:t>
          </a:r>
        </a:p>
      </dsp:txBody>
      <dsp:txXfrm>
        <a:off x="25735" y="25735"/>
        <a:ext cx="7112112" cy="827190"/>
      </dsp:txXfrm>
    </dsp:sp>
    <dsp:sp modelId="{2F1807D8-E55C-4274-BCE3-B21B9111AC49}">
      <dsp:nvSpPr>
        <dsp:cNvPr id="0" name=""/>
        <dsp:cNvSpPr/>
      </dsp:nvSpPr>
      <dsp:spPr>
        <a:xfrm>
          <a:off x="681264" y="1038416"/>
          <a:ext cx="8134502" cy="8786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Types:</a:t>
          </a:r>
          <a:endParaRPr lang="en-US" sz="13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/>
            <a:t>Field oxide</a:t>
          </a:r>
          <a:r>
            <a:rPr lang="en-US" sz="1000" kern="1200"/>
            <a:t> (thick, for isolation).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/>
            <a:t>Gate oxide</a:t>
          </a:r>
          <a:r>
            <a:rPr lang="en-US" sz="1000" kern="1200"/>
            <a:t> (thin, under MOS gate).</a:t>
          </a:r>
        </a:p>
      </dsp:txBody>
      <dsp:txXfrm>
        <a:off x="706999" y="1064151"/>
        <a:ext cx="6830638" cy="827190"/>
      </dsp:txXfrm>
    </dsp:sp>
    <dsp:sp modelId="{931A6B01-3362-4788-B8E2-500D4BB377AD}">
      <dsp:nvSpPr>
        <dsp:cNvPr id="0" name=""/>
        <dsp:cNvSpPr/>
      </dsp:nvSpPr>
      <dsp:spPr>
        <a:xfrm>
          <a:off x="1352361" y="2076833"/>
          <a:ext cx="8134502" cy="8786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Methods:</a:t>
          </a:r>
          <a:endParaRPr lang="en-US" sz="13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/>
            <a:t>Thermal oxidation:</a:t>
          </a:r>
          <a:r>
            <a:rPr lang="en-US" sz="1000" kern="1200"/>
            <a:t> Heat silicon wafer in oxygen/steam → oxide grows.</a:t>
          </a:r>
        </a:p>
      </dsp:txBody>
      <dsp:txXfrm>
        <a:off x="1378096" y="2102568"/>
        <a:ext cx="6840806" cy="827190"/>
      </dsp:txXfrm>
    </dsp:sp>
    <dsp:sp modelId="{40365BC1-F116-4B79-8162-361FB0F3E368}">
      <dsp:nvSpPr>
        <dsp:cNvPr id="0" name=""/>
        <dsp:cNvSpPr/>
      </dsp:nvSpPr>
      <dsp:spPr>
        <a:xfrm>
          <a:off x="2033625" y="3115249"/>
          <a:ext cx="8134502" cy="87866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Uses:</a:t>
          </a:r>
          <a:endParaRPr lang="en-US" sz="13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Insulating layer.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Gate dielectric.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Masking material for diffusion/implantation.</a:t>
          </a:r>
        </a:p>
      </dsp:txBody>
      <dsp:txXfrm>
        <a:off x="2059360" y="3140984"/>
        <a:ext cx="6830638" cy="827190"/>
      </dsp:txXfrm>
    </dsp:sp>
    <dsp:sp modelId="{EDD3270E-B715-4591-9F30-EBF22AA9C6EA}">
      <dsp:nvSpPr>
        <dsp:cNvPr id="0" name=""/>
        <dsp:cNvSpPr/>
      </dsp:nvSpPr>
      <dsp:spPr>
        <a:xfrm>
          <a:off x="7563373" y="672973"/>
          <a:ext cx="571129" cy="5711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691877" y="672973"/>
        <a:ext cx="314121" cy="429775"/>
      </dsp:txXfrm>
    </dsp:sp>
    <dsp:sp modelId="{FDF2B7BD-E49D-41C3-970A-15E56135566A}">
      <dsp:nvSpPr>
        <dsp:cNvPr id="0" name=""/>
        <dsp:cNvSpPr/>
      </dsp:nvSpPr>
      <dsp:spPr>
        <a:xfrm>
          <a:off x="8244637" y="1711390"/>
          <a:ext cx="571129" cy="57112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373141" y="1711390"/>
        <a:ext cx="314121" cy="429775"/>
      </dsp:txXfrm>
    </dsp:sp>
    <dsp:sp modelId="{EB25D7CD-44FF-40B9-B097-38BC625EBDB6}">
      <dsp:nvSpPr>
        <dsp:cNvPr id="0" name=""/>
        <dsp:cNvSpPr/>
      </dsp:nvSpPr>
      <dsp:spPr>
        <a:xfrm>
          <a:off x="8915734" y="2749807"/>
          <a:ext cx="571129" cy="57112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044238" y="2749807"/>
        <a:ext cx="314121" cy="42977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B6C0D3-F57A-491B-ACD1-9CB8E71FB8C6}">
      <dsp:nvSpPr>
        <dsp:cNvPr id="0" name=""/>
        <dsp:cNvSpPr/>
      </dsp:nvSpPr>
      <dsp:spPr>
        <a:xfrm>
          <a:off x="0" y="2692"/>
          <a:ext cx="6358014" cy="17769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Definition:</a:t>
          </a:r>
          <a:br>
            <a:rPr lang="en-US" sz="2600" kern="1200"/>
          </a:br>
          <a:r>
            <a:rPr lang="en-US" sz="2600" kern="1200"/>
            <a:t>Special mask used to </a:t>
          </a:r>
          <a:r>
            <a:rPr lang="en-US" sz="2600" b="1" kern="1200"/>
            <a:t>define active areas</a:t>
          </a:r>
          <a:r>
            <a:rPr lang="en-US" sz="2600" kern="1200"/>
            <a:t> (where transistors will be formed) and isolate them from each other.</a:t>
          </a:r>
        </a:p>
      </dsp:txBody>
      <dsp:txXfrm>
        <a:off x="86742" y="89434"/>
        <a:ext cx="6184530" cy="1603434"/>
      </dsp:txXfrm>
    </dsp:sp>
    <dsp:sp modelId="{7106E289-4A3E-4DB4-9083-A3813005EE81}">
      <dsp:nvSpPr>
        <dsp:cNvPr id="0" name=""/>
        <dsp:cNvSpPr/>
      </dsp:nvSpPr>
      <dsp:spPr>
        <a:xfrm rot="5400000">
          <a:off x="3616904" y="720364"/>
          <a:ext cx="1421534" cy="407310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Use </a:t>
          </a:r>
          <a:r>
            <a:rPr lang="en-US" sz="1700" b="1" kern="1200"/>
            <a:t>isolation oxide</a:t>
          </a:r>
          <a:r>
            <a:rPr lang="en-US" sz="1700" kern="1200"/>
            <a:t> (thick SiO₂) in regions where no transistor is needed.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Only “active” regions (thin oxide) are left open for MOSFET fabrication.</a:t>
          </a:r>
        </a:p>
      </dsp:txBody>
      <dsp:txXfrm rot="-5400000">
        <a:off x="2291120" y="2115542"/>
        <a:ext cx="4003709" cy="1282746"/>
      </dsp:txXfrm>
    </dsp:sp>
    <dsp:sp modelId="{C0018DA1-316E-4272-A61A-BCF030DD80D0}">
      <dsp:nvSpPr>
        <dsp:cNvPr id="0" name=""/>
        <dsp:cNvSpPr/>
      </dsp:nvSpPr>
      <dsp:spPr>
        <a:xfrm>
          <a:off x="0" y="1868456"/>
          <a:ext cx="2291120" cy="1776918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Process:</a:t>
          </a:r>
          <a:endParaRPr lang="en-US" sz="2600" kern="1200"/>
        </a:p>
      </dsp:txBody>
      <dsp:txXfrm>
        <a:off x="86742" y="1955198"/>
        <a:ext cx="2117636" cy="1603434"/>
      </dsp:txXfrm>
    </dsp:sp>
    <dsp:sp modelId="{9D8CD34E-9D06-46C1-A6C1-ABA0BEC7C308}">
      <dsp:nvSpPr>
        <dsp:cNvPr id="0" name=""/>
        <dsp:cNvSpPr/>
      </dsp:nvSpPr>
      <dsp:spPr>
        <a:xfrm rot="5400000">
          <a:off x="3616904" y="2586128"/>
          <a:ext cx="1421534" cy="4073103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Prevents interaction between nearby transistors.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Ensures reliability and avoids leakage.</a:t>
          </a:r>
        </a:p>
      </dsp:txBody>
      <dsp:txXfrm rot="-5400000">
        <a:off x="2291120" y="3981306"/>
        <a:ext cx="4003709" cy="1282746"/>
      </dsp:txXfrm>
    </dsp:sp>
    <dsp:sp modelId="{D7EE353A-B821-4DB3-B59C-81C1D7923AA6}">
      <dsp:nvSpPr>
        <dsp:cNvPr id="0" name=""/>
        <dsp:cNvSpPr/>
      </dsp:nvSpPr>
      <dsp:spPr>
        <a:xfrm>
          <a:off x="0" y="3734221"/>
          <a:ext cx="2291120" cy="1776918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Purpose:</a:t>
          </a:r>
          <a:endParaRPr lang="en-US" sz="2600" kern="1200"/>
        </a:p>
      </dsp:txBody>
      <dsp:txXfrm>
        <a:off x="86742" y="3820963"/>
        <a:ext cx="2117636" cy="16034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7:13:26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1148 24575,'34'-1'0,"114"6"0,-128-2 0,0 0 0,-1 1 0,1 1 0,-1 1 0,28 12 0,-18-3 0,0 2 0,-1 0 0,-1 2 0,-1 1 0,0 1 0,35 39 0,120 161 0,-160-194 0,-5-11 0,-16-16 0,0 0 0,1 0 0,-1 1 0,0-1 0,1 0 0,-1 0 0,0 0 0,1 0 0,-1 0 0,0 0 0,1 0 0,-1 0 0,0 0 0,1 0 0,-1 0 0,0 0 0,1 0 0,-1 0 0,0 0 0,1 0 0,-1 0 0,1 0 0,-1 0 0,0-1 0,0 1 0,1 0 0,0 0 0,0-3 0,1 1 0,-1 0 0,0-1 0,0 1 0,0-1 0,0 1 0,0-1 0,0 1 0,0-5 0,6-16 0,19-37 0,67-113 0,52-43 0,-65 100 0,170-244 0,-211 301 0,-29 41 0,1 0 0,1 1 0,1 1 0,21-22 0,280-224 0,-146 127 0,-69 64-1365,-80 59-5461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7:13:41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1 245 24575,'69'1'0,"77"-3"0,-71-11 0,-51 8 0,36-3 0,-17 4 0,76-18 0,-43 6 0,92-3 0,-47 7 0,1 7 0,-88 5 0,0-1 0,48-8 0,-4-12 0,-55 14 0,0 1 0,1 0 0,31-2 0,238 8 0,-14 0 0,-158-13 0,24-1 0,-43 15 0,-48 0 0,-1-2 0,71-10 0,-27 0 0,0 4 0,134 7 0,74-3 0,220-21 0,-32 25-1365,-467-1-5461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7:13:44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24575,'649'0'0,"-464"13"0,-11 1 0,868-12 0,-502-4 0,758 2 0,-1118-14 0,-12 0 0,781 13 0,-459 3 0,-298-2-1365,-169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7:13:47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24575,'982'0'0,"-796"-13"0,-24 0 0,747 10 0,-465 6 0,526-3-1365,-948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50E6-236B-714C-E996-7CC19FFA3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E77D5-982D-17B4-B4AF-CC7D5415C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32E19-0AC9-65FA-7DBA-90D631E2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E044-F1B9-4413-A3B5-9977A5FB4F9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424CA-4A66-FBFB-0499-FC1213AE6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BC8B0-0575-C466-8B45-D2B6E0A2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E828-920F-4F0A-B459-9C1F105EF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261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C9BF3-631F-0A6F-58F5-805C3295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20B6-470C-0583-039D-BA21B24FE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F0493-0DCC-5C94-6DBC-5DCB413F5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E044-F1B9-4413-A3B5-9977A5FB4F9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F1F1-B45A-CAB8-E234-AF61E1B2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79083-5C25-DD5D-55FF-0C8AA701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E828-920F-4F0A-B459-9C1F105EF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60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8898F-E5FF-C682-9297-29A99A870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57A82-8597-8F0E-BE6F-2E5B0007D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EFA8E-5B20-3BD5-5D36-072E61D54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E044-F1B9-4413-A3B5-9977A5FB4F9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A0219-FB27-7A9E-0C82-E3BAB5FC3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526AD-5C54-2C4D-D832-2DDCF6EE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E828-920F-4F0A-B459-9C1F105EF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5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76DC5-1321-C478-BEB2-D3F2D9C9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F7F0-5699-5591-9A69-7540BB377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5AE38-930C-E2E7-6209-02039E934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4BE16-A774-B7B2-690C-F68FC6646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E044-F1B9-4413-A3B5-9977A5FB4F9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57382-ABEF-3B52-EEE6-C74AEF78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87338-9ED4-2A08-692B-827658C0B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E828-920F-4F0A-B459-9C1F105EF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9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91C0C-FAB3-B1DC-F619-E2BB57C83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A0196-614B-C093-F6D4-5195A718C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62CD6-1D0C-A0F1-670F-5B7C08808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C0C33-A197-04D4-E7A8-96E088888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0C14ED-16DA-CA97-B19C-257D82E918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E5AC25-DDDD-DC53-7514-EFF66C3B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E044-F1B9-4413-A3B5-9977A5FB4F9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A216E-B5F5-169B-4902-031A2B1EB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CF31D-4503-DA3B-0EE7-60C759AED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E828-920F-4F0A-B459-9C1F105EF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6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EDEE6-ADE1-063B-8458-D47A40EC5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E22336-700C-1B25-8F02-47E2352D1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E044-F1B9-4413-A3B5-9977A5FB4F9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4CB95-4AD9-0250-4806-A93A3A520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909EB-7FBD-C25C-549D-B773392C6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E828-920F-4F0A-B459-9C1F105EF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5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2DD6AC-CE20-ADEC-BB2B-E58C80221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E044-F1B9-4413-A3B5-9977A5FB4F9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F00B6-BEDC-6949-EC00-654FCD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DD760-6BBA-394F-106A-A4098E5DB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E828-920F-4F0A-B459-9C1F105EF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87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BDD5C-07B3-F805-C92B-A6B5F21DB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720AD-B8B4-0ED5-EAD1-4738A1BD0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84732-71CE-EF35-C147-A314D566D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C17C1-C5AD-7F79-538F-EA6FA55CB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E044-F1B9-4413-A3B5-9977A5FB4F9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32F10-43D0-7E85-B52D-A3D3EB8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003CD-DDD2-1386-477E-98A650AC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E828-920F-4F0A-B459-9C1F105EF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1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3575E-872C-2D74-CBFF-8D44193AE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9C6D0A-45E6-67C9-5B21-0227818A84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24C68-A038-A961-E723-925CBDFC1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64E4E-1947-BAE2-ED7C-E870208DC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E044-F1B9-4413-A3B5-9977A5FB4F9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CD38E-23DB-BCD3-3048-E35EAE1D3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244F7-4F3F-DB94-F67F-E5D8FBFD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E828-920F-4F0A-B459-9C1F105EF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8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C91A9-FDF7-9368-45C9-6C8E2C8A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1824B-8832-0B57-4DD9-621EF73EA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3270E-E634-E0F4-3238-2B4E3FE1E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E044-F1B9-4413-A3B5-9977A5FB4F9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CAC5D-2421-1876-ABE7-DD03CF4D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31513-F069-9254-08ED-D4A24A8E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E828-920F-4F0A-B459-9C1F105EF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0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BDC09E-FB96-6E49-5D56-21E7FBD42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1BBFC-FBBA-7CF7-DD33-167287D04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40634-A1EA-4C9A-0126-58A95B214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E044-F1B9-4413-A3B5-9977A5FB4F9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75B18-B1EF-BA80-411D-BDFF5D8FB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52E7A-5C8A-024A-0003-06E61AC35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E828-920F-4F0A-B459-9C1F105EF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52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635C5-C489-F021-7CD2-4BECBD1AA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ADE01-61D1-AA82-9E0E-D1FB726D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685F4-D224-FA64-F6D4-25F5A3C95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0E044-F1B9-4413-A3B5-9977A5FB4F9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D1412-CDF7-D55C-F619-E9B6B2582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75638-8797-5BA8-78F5-857E013F2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4E828-920F-4F0A-B459-9C1F105EF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4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0.png"/><Relationship Id="rId9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31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D60AA-4352-46A4-9A9D-1A0C2AF3C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r>
              <a:rPr lang="en-US" b="1"/>
              <a:t>VLSI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A4D5A2-247D-024D-D98F-AFBA2D93F2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2301345"/>
              </p:ext>
            </p:extLst>
          </p:nvPr>
        </p:nvGraphicFramePr>
        <p:xfrm>
          <a:off x="838200" y="1650222"/>
          <a:ext cx="10506456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0897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1B5213-846B-478A-DA45-DF6870AEB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0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Motivation of the Course 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07EF5-1F8A-1C70-E3B9-AA93A008B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140085"/>
            <a:ext cx="4646905" cy="3613149"/>
          </a:xfrm>
        </p:spPr>
        <p:txBody>
          <a:bodyPr anchor="ctr">
            <a:noAutofit/>
          </a:bodyPr>
          <a:lstStyle/>
          <a:p>
            <a:pPr marL="0" indent="0" algn="just">
              <a:buNone/>
            </a:pPr>
            <a:r>
              <a:rPr lang="en-US" sz="1600" dirty="0"/>
              <a:t>Think about early </a:t>
            </a:r>
            <a:r>
              <a:rPr lang="en-US" sz="1600" b="1" dirty="0"/>
              <a:t>computers</a:t>
            </a:r>
            <a:r>
              <a:rPr lang="en-US" sz="1600" dirty="0"/>
              <a:t> – they were </a:t>
            </a:r>
            <a:r>
              <a:rPr lang="en-US" sz="1600" b="1" dirty="0"/>
              <a:t>huge</a:t>
            </a:r>
            <a:r>
              <a:rPr lang="en-US" sz="1600" dirty="0"/>
              <a:t> machines, filling entire rooms, and could only do very </a:t>
            </a:r>
            <a:r>
              <a:rPr lang="en-US" sz="1600" b="1" dirty="0"/>
              <a:t>simple</a:t>
            </a:r>
            <a:r>
              <a:rPr lang="en-US" sz="1600" dirty="0"/>
              <a:t> </a:t>
            </a:r>
            <a:r>
              <a:rPr lang="en-US" sz="1600" b="1" dirty="0"/>
              <a:t>calculations</a:t>
            </a:r>
            <a:r>
              <a:rPr lang="en-US" sz="1600" dirty="0"/>
              <a:t>. At that time, each chip had only a few transistors. But </a:t>
            </a:r>
            <a:r>
              <a:rPr lang="en-US" sz="1600" b="1" dirty="0"/>
              <a:t>today</a:t>
            </a:r>
            <a:r>
              <a:rPr lang="en-US" sz="1600" dirty="0"/>
              <a:t>, a single </a:t>
            </a:r>
            <a:r>
              <a:rPr lang="en-US" sz="1600" b="1" dirty="0"/>
              <a:t>smartphone</a:t>
            </a:r>
            <a:r>
              <a:rPr lang="en-US" sz="1600" dirty="0"/>
              <a:t> </a:t>
            </a:r>
            <a:r>
              <a:rPr lang="en-US" sz="1600" b="1" dirty="0"/>
              <a:t>chip</a:t>
            </a:r>
            <a:r>
              <a:rPr lang="en-US" sz="1600" dirty="0"/>
              <a:t> has </a:t>
            </a:r>
            <a:r>
              <a:rPr lang="en-US" sz="1600" b="1" dirty="0"/>
              <a:t>billions of transistors</a:t>
            </a:r>
            <a:r>
              <a:rPr lang="en-US" sz="1600" dirty="0"/>
              <a:t>. So the motivation is clear:</a:t>
            </a:r>
          </a:p>
          <a:p>
            <a:pPr marL="0" indent="0" algn="just">
              <a:buNone/>
            </a:pPr>
            <a:r>
              <a:rPr lang="en-US" sz="1600" dirty="0"/>
              <a:t>We want </a:t>
            </a:r>
            <a:r>
              <a:rPr lang="en-US" sz="1600" b="1" dirty="0"/>
              <a:t>smaller devices</a:t>
            </a:r>
            <a:r>
              <a:rPr lang="en-US" sz="1600" dirty="0"/>
              <a:t>.</a:t>
            </a:r>
          </a:p>
          <a:p>
            <a:pPr marL="0" indent="0" algn="just">
              <a:buNone/>
            </a:pPr>
            <a:r>
              <a:rPr lang="en-US" sz="1600" dirty="0"/>
              <a:t>We want </a:t>
            </a:r>
            <a:r>
              <a:rPr lang="en-US" sz="1600" b="1" dirty="0"/>
              <a:t>faster performance</a:t>
            </a:r>
            <a:r>
              <a:rPr lang="en-US" sz="1600" dirty="0"/>
              <a:t>.</a:t>
            </a:r>
          </a:p>
          <a:p>
            <a:pPr marL="0" indent="0" algn="just">
              <a:buNone/>
            </a:pPr>
            <a:r>
              <a:rPr lang="en-US" sz="1600" dirty="0"/>
              <a:t>We want </a:t>
            </a:r>
            <a:r>
              <a:rPr lang="en-US" sz="1600" b="1" dirty="0"/>
              <a:t>less power consumption</a:t>
            </a:r>
            <a:r>
              <a:rPr lang="en-US" sz="1600" dirty="0"/>
              <a:t>.</a:t>
            </a:r>
          </a:p>
          <a:p>
            <a:pPr marL="0" indent="0" algn="just">
              <a:buNone/>
            </a:pPr>
            <a:r>
              <a:rPr lang="en-US" sz="1600" dirty="0"/>
              <a:t>And, most importantly, we want all of this at a </a:t>
            </a:r>
            <a:r>
              <a:rPr lang="en-US" sz="1600" b="1" dirty="0"/>
              <a:t>lower cost</a:t>
            </a:r>
            <a:r>
              <a:rPr lang="en-US" sz="1600" dirty="0"/>
              <a:t>.</a:t>
            </a:r>
          </a:p>
          <a:p>
            <a:pPr marL="0" indent="0" algn="just">
              <a:buNone/>
            </a:pPr>
            <a:r>
              <a:rPr lang="en-US" sz="1600" dirty="0"/>
              <a:t>This is only possible because of </a:t>
            </a:r>
            <a:r>
              <a:rPr lang="en-US" sz="1600" b="1" dirty="0"/>
              <a:t>VLSI technology</a:t>
            </a:r>
            <a:r>
              <a:rPr lang="en-US" sz="1600" dirty="0"/>
              <a:t> – where we can put millions and billions of transistors on a single chip.</a:t>
            </a:r>
          </a:p>
          <a:p>
            <a:pPr algn="just"/>
            <a:r>
              <a:rPr lang="en-US" sz="1600" dirty="0"/>
              <a:t>Example: The Intel 4004 chip in 1971 had </a:t>
            </a:r>
            <a:r>
              <a:rPr lang="en-US" sz="1600" b="1" dirty="0"/>
              <a:t>2300 transistors</a:t>
            </a:r>
            <a:r>
              <a:rPr lang="en-US" sz="1600" dirty="0"/>
              <a:t>. A modern Intel Core i7 has </a:t>
            </a:r>
            <a:r>
              <a:rPr lang="en-US" sz="1600" b="1" dirty="0"/>
              <a:t>billions of transistors</a:t>
            </a:r>
            <a:r>
              <a:rPr lang="en-US" sz="1600" dirty="0"/>
              <a:t>. That is the power of VLSI.”</a:t>
            </a:r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B8A97C73-87AF-4E6C-A413-1F025F164F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16" r="4384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82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48E9-8E45-6AA4-FA27-9D19E7CE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4D43E-F229-6BE9-F85F-28A0CFC70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54554"/>
          </a:xfrm>
        </p:spPr>
        <p:txBody>
          <a:bodyPr>
            <a:normAutofit/>
          </a:bodyPr>
          <a:lstStyle/>
          <a:p>
            <a:r>
              <a:rPr lang="en-US" sz="2400" b="1" dirty="0"/>
              <a:t>VLSI (Very Large Scale integration) </a:t>
            </a:r>
            <a:r>
              <a:rPr lang="en-US" sz="2400" dirty="0"/>
              <a:t>is a </a:t>
            </a:r>
            <a:r>
              <a:rPr lang="en-US" sz="2400" b="1" dirty="0"/>
              <a:t>process</a:t>
            </a:r>
            <a:r>
              <a:rPr lang="en-US" sz="2400" dirty="0"/>
              <a:t> of </a:t>
            </a:r>
            <a:r>
              <a:rPr lang="en-US" sz="2400" b="1" dirty="0"/>
              <a:t>integrating</a:t>
            </a:r>
            <a:r>
              <a:rPr lang="en-US" sz="2400" dirty="0"/>
              <a:t> hundreds or </a:t>
            </a:r>
            <a:r>
              <a:rPr lang="en-US" sz="2400" b="1" dirty="0"/>
              <a:t>thousands</a:t>
            </a:r>
            <a:r>
              <a:rPr lang="en-US" sz="2400" dirty="0"/>
              <a:t> of </a:t>
            </a:r>
            <a:r>
              <a:rPr lang="en-US" sz="2400" b="1" dirty="0"/>
              <a:t>transistors</a:t>
            </a:r>
            <a:r>
              <a:rPr lang="en-US" sz="2400" dirty="0"/>
              <a:t> onto a </a:t>
            </a:r>
            <a:r>
              <a:rPr lang="en-US" sz="2400" b="1" dirty="0"/>
              <a:t>single</a:t>
            </a:r>
            <a:r>
              <a:rPr lang="en-US" sz="2400" dirty="0"/>
              <a:t> </a:t>
            </a:r>
            <a:r>
              <a:rPr lang="en-US" sz="2400" b="1" dirty="0"/>
              <a:t>silicon</a:t>
            </a:r>
            <a:r>
              <a:rPr lang="en-US" sz="2400" dirty="0"/>
              <a:t> semiconductor microchip.</a:t>
            </a:r>
          </a:p>
          <a:p>
            <a:r>
              <a:rPr lang="en-US" sz="2400" dirty="0"/>
              <a:t> In present years, contemporary VLSI technology Complex digital systems can now be realized on a single silicon chip.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187B84-672A-E8F3-ABDF-3EE15516B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949" y="3730456"/>
            <a:ext cx="4893013" cy="24465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2DB6C5D-2EE4-8218-CCF2-8FCEBDB8D70C}"/>
                  </a:ext>
                </a:extLst>
              </p14:cNvPr>
              <p14:cNvContentPartPr/>
              <p14:nvPr/>
            </p14:nvContentPartPr>
            <p14:xfrm>
              <a:off x="252544" y="1593605"/>
              <a:ext cx="760680" cy="585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2DB6C5D-2EE4-8218-CCF2-8FCEBDB8D7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544" y="1584599"/>
                <a:ext cx="778320" cy="6030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C7A761A-71FA-3228-DA91-EAD0FB93B900}"/>
                  </a:ext>
                </a:extLst>
              </p14:cNvPr>
              <p14:cNvContentPartPr/>
              <p14:nvPr/>
            </p14:nvContentPartPr>
            <p14:xfrm>
              <a:off x="3034570" y="2479925"/>
              <a:ext cx="1555920" cy="88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C7A761A-71FA-3228-DA91-EAD0FB93B90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25930" y="2470925"/>
                <a:ext cx="15735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DDE146E-3461-0096-DC56-554BB2970440}"/>
                  </a:ext>
                </a:extLst>
              </p14:cNvPr>
              <p14:cNvContentPartPr/>
              <p14:nvPr/>
            </p14:nvContentPartPr>
            <p14:xfrm>
              <a:off x="5155330" y="2489285"/>
              <a:ext cx="2120760" cy="11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DDE146E-3461-0096-DC56-554BB29704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46330" y="2480645"/>
                <a:ext cx="21384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C04439D-17D3-CA7A-4CE9-43DF1484D6DA}"/>
                  </a:ext>
                </a:extLst>
              </p14:cNvPr>
              <p14:cNvContentPartPr/>
              <p14:nvPr/>
            </p14:nvContentPartPr>
            <p14:xfrm>
              <a:off x="9192010" y="2499005"/>
              <a:ext cx="1323360" cy="10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C04439D-17D3-CA7A-4CE9-43DF1484D6D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83370" y="2490005"/>
                <a:ext cx="1341000" cy="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5109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79F6BE-A34F-C6D1-3063-F8E7E2D2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VLSI Advantage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5DBB5-9A52-DC67-4F8B-79A0BE5B6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fontAlgn="base"/>
            <a:r>
              <a:rPr lang="en-US" sz="1800" b="1"/>
              <a:t>The Advantages of VLSI technology</a:t>
            </a:r>
          </a:p>
          <a:p>
            <a:pPr fontAlgn="base"/>
            <a:r>
              <a:rPr lang="en-US" sz="1800" b="1"/>
              <a:t>Compact Size:</a:t>
            </a:r>
            <a:r>
              <a:rPr lang="en-US" sz="1800"/>
              <a:t> Traditional circuits are significantly greater than VLSI circuits because of </a:t>
            </a:r>
            <a:r>
              <a:rPr lang="en-US" sz="1800" b="1"/>
              <a:t>electronic</a:t>
            </a:r>
            <a:r>
              <a:rPr lang="en-US" sz="1800"/>
              <a:t> </a:t>
            </a:r>
            <a:r>
              <a:rPr lang="en-US" sz="1800" b="1"/>
              <a:t>circuits</a:t>
            </a:r>
            <a:r>
              <a:rPr lang="en-US" sz="1800"/>
              <a:t> are created to ensure the computation of digital logic circuits.</a:t>
            </a:r>
          </a:p>
          <a:p>
            <a:pPr fontAlgn="base"/>
            <a:r>
              <a:rPr lang="en-US" sz="1800" b="1"/>
              <a:t>Consumes less Power:</a:t>
            </a:r>
            <a:r>
              <a:rPr lang="en-US" sz="1800"/>
              <a:t> VLSI circuits are better than Traditional circuits because VLSI circuits are eco-friendly. This is necessary for the battery life saving.</a:t>
            </a:r>
          </a:p>
          <a:p>
            <a:pPr fontAlgn="base"/>
            <a:r>
              <a:rPr lang="en-US" sz="1800" b="1"/>
              <a:t>High performance:</a:t>
            </a:r>
            <a:r>
              <a:rPr lang="en-US" sz="1800"/>
              <a:t> By adding the high number of transistors on a chip so to accomplish VLSI circuits are high speeds with they perform complex tasks.</a:t>
            </a:r>
          </a:p>
          <a:p>
            <a:pPr fontAlgn="base"/>
            <a:r>
              <a:rPr lang="en-US" sz="1800" b="1"/>
              <a:t>Cost-Effectiveness:</a:t>
            </a:r>
            <a:r>
              <a:rPr lang="en-US" sz="1800"/>
              <a:t> By using VLSI technology, electronic circuits which are complicated that they are executed in large quantity. All the features and various components are implemented on a single chip. Electronic circuits are used and implemented because of their easy accessibility.</a:t>
            </a:r>
          </a:p>
          <a:p>
            <a:pPr fontAlgn="base"/>
            <a:r>
              <a:rPr lang="en-US" sz="1800" b="1"/>
              <a:t>Increased Reliability:</a:t>
            </a:r>
            <a:r>
              <a:rPr lang="en-US" sz="1800"/>
              <a:t> Comparing to discrete devices, some short link and better manufacturing capabilities used by VLSI circuits because of their better reliability in terms of errors and failures.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30061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5CCE57-ED0D-4953-6DDA-B604FA3C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Electronics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7ED1B-58E4-7FB3-A4C4-63AC75B67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200"/>
              <a:t>A </a:t>
            </a:r>
            <a:r>
              <a:rPr lang="en-US" sz="2200" b="1"/>
              <a:t>system</a:t>
            </a:r>
            <a:r>
              <a:rPr lang="en-US" sz="2200"/>
              <a:t> is simply a collection of parts working together to perform a task.</a:t>
            </a:r>
          </a:p>
          <a:p>
            <a:r>
              <a:rPr lang="en-US" sz="2200"/>
              <a:t> Example 1: A </a:t>
            </a:r>
            <a:r>
              <a:rPr lang="en-US" sz="2200" b="1"/>
              <a:t>computer system</a:t>
            </a:r>
            <a:r>
              <a:rPr lang="en-US" sz="2200"/>
              <a:t> has input, CPU, memory, and output.</a:t>
            </a:r>
            <a:br>
              <a:rPr lang="en-US" sz="2200"/>
            </a:br>
            <a:r>
              <a:rPr lang="en-US" sz="2200"/>
              <a:t> Example 2: Our </a:t>
            </a:r>
            <a:r>
              <a:rPr lang="en-US" sz="2200" b="1"/>
              <a:t>human body</a:t>
            </a:r>
            <a:r>
              <a:rPr lang="en-US" sz="2200"/>
              <a:t> is also a system: heart, lungs, brain – all working together.</a:t>
            </a:r>
          </a:p>
          <a:p>
            <a:r>
              <a:rPr lang="en-US" sz="2200"/>
              <a:t>In electronics, we also use this hierarchy:</a:t>
            </a:r>
          </a:p>
          <a:p>
            <a:r>
              <a:rPr lang="en-US" sz="2200" b="1"/>
              <a:t>System</a:t>
            </a:r>
            <a:r>
              <a:rPr lang="en-US" sz="2200"/>
              <a:t> → like a smartphone.</a:t>
            </a:r>
          </a:p>
          <a:p>
            <a:r>
              <a:rPr lang="en-US" sz="2200" b="1"/>
              <a:t>Subsystem</a:t>
            </a:r>
            <a:r>
              <a:rPr lang="en-US" sz="2200"/>
              <a:t> → like the camera or processor.</a:t>
            </a:r>
          </a:p>
          <a:p>
            <a:r>
              <a:rPr lang="en-US" sz="2200" b="1"/>
              <a:t>Modules</a:t>
            </a:r>
            <a:r>
              <a:rPr lang="en-US" sz="2200"/>
              <a:t> → like an adder circuit inside the processor.</a:t>
            </a:r>
          </a:p>
          <a:p>
            <a:r>
              <a:rPr lang="en-US" sz="2200" b="1"/>
              <a:t>Circuits</a:t>
            </a:r>
            <a:r>
              <a:rPr lang="en-US" sz="2200"/>
              <a:t> → made of logic gates.</a:t>
            </a:r>
          </a:p>
          <a:p>
            <a:r>
              <a:rPr lang="en-US" sz="2200" b="1"/>
              <a:t>Devices</a:t>
            </a:r>
            <a:r>
              <a:rPr lang="en-US" sz="2200"/>
              <a:t> → the actual MOS transistors.”</a:t>
            </a:r>
          </a:p>
          <a:p>
            <a:endParaRPr lang="en-US" sz="2200" b="1"/>
          </a:p>
          <a:p>
            <a:r>
              <a:rPr lang="en-US" sz="2200"/>
              <a:t>                                     Input → Processing → Output.</a:t>
            </a:r>
          </a:p>
        </p:txBody>
      </p:sp>
    </p:spTree>
    <p:extLst>
      <p:ext uri="{BB962C8B-B14F-4D97-AF65-F5344CB8AC3E}">
        <p14:creationId xmlns:p14="http://schemas.microsoft.com/office/powerpoint/2010/main" val="2566156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16888-9091-B9FB-27ED-1D62BFEF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Design Abstraction Levels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10966-26D4-05F3-FA3F-723B68EE8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br>
              <a:rPr lang="en-US" sz="1900" dirty="0"/>
            </a:br>
            <a:r>
              <a:rPr lang="en-US" sz="1900" dirty="0"/>
              <a:t>Engineers design chips, they don’t start by directly drawing transistors.</a:t>
            </a:r>
            <a:br>
              <a:rPr lang="en-US" sz="1900" dirty="0"/>
            </a:br>
            <a:r>
              <a:rPr lang="en-US" sz="1900" dirty="0"/>
              <a:t>They design in </a:t>
            </a:r>
            <a:r>
              <a:rPr lang="en-US" sz="1900" b="1" dirty="0"/>
              <a:t>levels of abstraction</a:t>
            </a:r>
            <a:r>
              <a:rPr lang="en-US" sz="1900" dirty="0"/>
              <a:t>.</a:t>
            </a:r>
          </a:p>
          <a:p>
            <a:r>
              <a:rPr lang="en-US" sz="1900" b="1" dirty="0"/>
              <a:t>System Level</a:t>
            </a:r>
            <a:r>
              <a:rPr lang="en-US" sz="1900" dirty="0"/>
              <a:t> → Decide the functions. Example: A calculator should add, subtract, multiply.</a:t>
            </a:r>
          </a:p>
          <a:p>
            <a:r>
              <a:rPr lang="en-US" sz="1900" b="1" dirty="0"/>
              <a:t>Algorithm Level</a:t>
            </a:r>
            <a:r>
              <a:rPr lang="en-US" sz="1900" dirty="0"/>
              <a:t> → How will addition be done?</a:t>
            </a:r>
          </a:p>
          <a:p>
            <a:r>
              <a:rPr lang="en-US" sz="1900" b="1" dirty="0"/>
              <a:t>RTL Level (Register Transfer Level)</a:t>
            </a:r>
            <a:r>
              <a:rPr lang="en-US" sz="1900" dirty="0"/>
              <a:t> → Use registers, transfer data.</a:t>
            </a:r>
          </a:p>
          <a:p>
            <a:r>
              <a:rPr lang="en-US" sz="1900" b="1" dirty="0"/>
              <a:t>Gate Level</a:t>
            </a:r>
            <a:r>
              <a:rPr lang="en-US" sz="1900" dirty="0"/>
              <a:t> → Represent with AND, OR, NOT gates.</a:t>
            </a:r>
          </a:p>
          <a:p>
            <a:r>
              <a:rPr lang="en-US" sz="1900" b="1" dirty="0"/>
              <a:t>Transistor Level</a:t>
            </a:r>
            <a:r>
              <a:rPr lang="en-US" sz="1900" dirty="0"/>
              <a:t> → Convert gates into MOSFETs.</a:t>
            </a:r>
          </a:p>
          <a:p>
            <a:r>
              <a:rPr lang="en-US" sz="1900" b="1" dirty="0"/>
              <a:t>Physical/Layout Level</a:t>
            </a:r>
            <a:r>
              <a:rPr lang="en-US" sz="1900" dirty="0"/>
              <a:t> → Draw the actual design on silicon.</a:t>
            </a:r>
          </a:p>
          <a:p>
            <a:endParaRPr lang="en-US" sz="1900" dirty="0"/>
          </a:p>
          <a:p>
            <a:pPr marL="0" indent="0">
              <a:buNone/>
            </a:pPr>
            <a:r>
              <a:rPr lang="en-US" sz="1900" dirty="0"/>
              <a:t>Ex: Think of building a house. First, you decide the purpose of rooms (system). Then, you make a floor plan (algorithm). Then you design walls and doors (RTL). Finally, you build with bricks (transistors).”</a:t>
            </a:r>
          </a:p>
          <a:p>
            <a:endParaRPr lang="en-US" sz="1900" dirty="0"/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378099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E657A-20A4-BB63-1696-33AEC7730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Delay and Interconnect Issues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2B698-DE55-C63B-466C-1ABF1C14F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br>
              <a:rPr lang="en-US" sz="1700" dirty="0"/>
            </a:br>
            <a:r>
              <a:rPr lang="en-US" sz="1700" dirty="0"/>
              <a:t>In digital circuits, signals take time to move. This time is called </a:t>
            </a:r>
            <a:r>
              <a:rPr lang="en-US" sz="1700" b="1" dirty="0"/>
              <a:t>delay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r>
              <a:rPr lang="en-US" sz="1700" dirty="0"/>
              <a:t>In older circuits, the delay mostly came from the transistor itself. But in modern VLSI, the main problem is </a:t>
            </a:r>
            <a:r>
              <a:rPr lang="en-US" sz="1700" b="1" dirty="0"/>
              <a:t>interconnects</a:t>
            </a:r>
            <a:r>
              <a:rPr lang="en-US" sz="1700" dirty="0"/>
              <a:t> – the wires that connect transistors.</a:t>
            </a:r>
          </a:p>
          <a:p>
            <a:pPr marL="0" indent="0">
              <a:buNone/>
            </a:pPr>
            <a:r>
              <a:rPr lang="en-US" sz="1700" dirty="0"/>
              <a:t>These wires have:</a:t>
            </a:r>
          </a:p>
          <a:p>
            <a:r>
              <a:rPr lang="en-US" sz="1700" b="1" dirty="0"/>
              <a:t>Resistance (R)</a:t>
            </a:r>
            <a:endParaRPr lang="en-US" sz="1700" dirty="0"/>
          </a:p>
          <a:p>
            <a:r>
              <a:rPr lang="en-US" sz="1700" b="1" dirty="0"/>
              <a:t>Capacitance (C)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So, the delay ≈ R × C.</a:t>
            </a:r>
          </a:p>
          <a:p>
            <a:pPr marL="0" indent="0">
              <a:buNone/>
            </a:pPr>
            <a:r>
              <a:rPr lang="en-US" sz="1700" dirty="0"/>
              <a:t>Example: Imagine you are driving on a road. If the road is narrow (high resistance) and there are too many cars (high capacitance), traffic will move very slowly.</a:t>
            </a:r>
          </a:p>
          <a:p>
            <a:pPr marL="0" indent="0">
              <a:buNone/>
            </a:pPr>
            <a:r>
              <a:rPr lang="en-US" sz="1700" dirty="0"/>
              <a:t>That’s exactly what happens with interconnects – they slow down signals.</a:t>
            </a:r>
          </a:p>
          <a:p>
            <a:pPr marL="0" indent="0">
              <a:buNone/>
            </a:pPr>
            <a:r>
              <a:rPr lang="en-US" sz="1700" dirty="0"/>
              <a:t>Other issues:</a:t>
            </a:r>
          </a:p>
          <a:p>
            <a:pPr marL="0" indent="0">
              <a:buNone/>
            </a:pPr>
            <a:r>
              <a:rPr lang="en-US" sz="1700" b="1" dirty="0"/>
              <a:t>Crosstalk noise</a:t>
            </a:r>
            <a:r>
              <a:rPr lang="en-US" sz="1700" dirty="0"/>
              <a:t>: when one signal disturbs another.</a:t>
            </a:r>
          </a:p>
          <a:p>
            <a:pPr marL="0" indent="0">
              <a:buNone/>
            </a:pPr>
            <a:r>
              <a:rPr lang="en-US" sz="1700" b="1" dirty="0"/>
              <a:t>High power consumption</a:t>
            </a:r>
            <a:r>
              <a:rPr lang="en-US" sz="1700" dirty="0"/>
              <a:t>.”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578995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464358-E4BA-7B64-A0AC-19517D26F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MOS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D03E8-139A-A99D-CA5F-C9904013B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What is MOS?</a:t>
            </a:r>
          </a:p>
          <a:p>
            <a:pPr marL="0" indent="0">
              <a:buNone/>
            </a:pPr>
            <a:r>
              <a:rPr lang="en-US" sz="2000" dirty="0"/>
              <a:t>MOS is a structure used to make the </a:t>
            </a:r>
            <a:r>
              <a:rPr lang="en-US" sz="2000" b="1" dirty="0"/>
              <a:t>MOSFET (Metal-Oxide-Semiconductor Field Effect Transistor)</a:t>
            </a:r>
            <a:r>
              <a:rPr lang="en-US" sz="2000" dirty="0"/>
              <a:t>, the most important device in </a:t>
            </a:r>
            <a:r>
              <a:rPr lang="en-US" sz="2000" b="1" dirty="0"/>
              <a:t>VLSI design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It is the </a:t>
            </a:r>
            <a:r>
              <a:rPr lang="en-US" sz="2000" b="1" dirty="0"/>
              <a:t>building block of modern digital circuits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All processors, memory chips, and logic circuits are made from </a:t>
            </a:r>
            <a:r>
              <a:rPr lang="en-US" sz="2000" b="1" dirty="0"/>
              <a:t>MOSFETs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1071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2EF5A-7041-55E0-2768-48D6DB3A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3200"/>
              <a:t>Structure of MOS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05B1A-E820-CAB2-5170-F1D039F95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116800"/>
            <a:ext cx="4544762" cy="3602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The MOS structure has three main parts:</a:t>
            </a:r>
          </a:p>
          <a:p>
            <a:r>
              <a:rPr lang="en-US" sz="1900" b="1" dirty="0"/>
              <a:t>Metal (Gate):</a:t>
            </a:r>
            <a:endParaRPr lang="en-US" sz="1900" dirty="0"/>
          </a:p>
          <a:p>
            <a:pPr lvl="1"/>
            <a:r>
              <a:rPr lang="en-US" sz="1900" dirty="0"/>
              <a:t>A thin layer of metal (or polysilicon in modern chips).</a:t>
            </a:r>
          </a:p>
          <a:p>
            <a:pPr lvl="1"/>
            <a:r>
              <a:rPr lang="en-US" sz="1900" dirty="0"/>
              <a:t>Acts like the </a:t>
            </a:r>
            <a:r>
              <a:rPr lang="en-US" sz="1900" b="1" dirty="0"/>
              <a:t>switch handle</a:t>
            </a:r>
            <a:r>
              <a:rPr lang="en-US" sz="1900" dirty="0"/>
              <a:t>.</a:t>
            </a:r>
          </a:p>
          <a:p>
            <a:r>
              <a:rPr lang="en-US" sz="1900" b="1" dirty="0"/>
              <a:t>Oxide:</a:t>
            </a:r>
            <a:endParaRPr lang="en-US" sz="1900" dirty="0"/>
          </a:p>
          <a:p>
            <a:pPr lvl="1"/>
            <a:r>
              <a:rPr lang="en-US" sz="1900" dirty="0"/>
              <a:t>A very thin layer of </a:t>
            </a:r>
            <a:r>
              <a:rPr lang="en-US" sz="1900" b="1" dirty="0"/>
              <a:t>insulator</a:t>
            </a:r>
            <a:r>
              <a:rPr lang="en-US" sz="1900" dirty="0"/>
              <a:t> (usually silicon dioxide, </a:t>
            </a:r>
            <a:r>
              <a:rPr lang="en-US" sz="1900" dirty="0" err="1"/>
              <a:t>SiO</a:t>
            </a:r>
            <a:r>
              <a:rPr lang="en-US" sz="1900" dirty="0"/>
              <a:t>₂).</a:t>
            </a:r>
          </a:p>
          <a:p>
            <a:r>
              <a:rPr lang="en-US" sz="1900" b="1" dirty="0"/>
              <a:t>Semiconductor (Substrate):</a:t>
            </a:r>
            <a:endParaRPr lang="en-US" sz="1900" dirty="0"/>
          </a:p>
          <a:p>
            <a:pPr lvl="1"/>
            <a:r>
              <a:rPr lang="en-US" sz="1900" dirty="0"/>
              <a:t>Base material, usually silicon..</a:t>
            </a:r>
          </a:p>
          <a:p>
            <a:pPr lvl="1"/>
            <a:endParaRPr lang="en-US" sz="1900" dirty="0"/>
          </a:p>
          <a:p>
            <a:pPr marL="0" indent="0">
              <a:buNone/>
            </a:pPr>
            <a:endParaRPr lang="en-US" sz="1900" dirty="0"/>
          </a:p>
        </p:txBody>
      </p:sp>
      <p:pic>
        <p:nvPicPr>
          <p:cNvPr id="5" name="Picture 4" descr="A white text with purple text&#10;&#10;AI-generated content may be incorrect.">
            <a:extLst>
              <a:ext uri="{FF2B5EF4-FFF2-40B4-BE49-F238E27FC236}">
                <a16:creationId xmlns:a16="http://schemas.microsoft.com/office/drawing/2014/main" id="{AC1D73C4-17D5-A11D-7B37-4A0B54776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748" y="1316140"/>
            <a:ext cx="5334160" cy="422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72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6A4B5-913A-2D91-36FE-16EC3BB85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3200"/>
              <a:t>MOSFET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FA176CAB-5DDD-0895-5B10-B21880560B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40" y="1858840"/>
            <a:ext cx="4544762" cy="41280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MOSFET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heart of VLSI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Billions of MOSFETs exist inside a modern chip (processors, memory, etc.).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Acts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switch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amplifier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Foundation of digital logic (0 &amp; 1).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/>
              <a:t>What is MOSFET?</a:t>
            </a:r>
          </a:p>
          <a:p>
            <a:pPr marL="0" indent="0">
              <a:buNone/>
            </a:pPr>
            <a:r>
              <a:rPr lang="en-US" sz="1800" b="1" dirty="0"/>
              <a:t>MOSFET = Metal–Oxide–Semiconductor + Field Effect</a:t>
            </a:r>
            <a:endParaRPr lang="en-US" sz="1800" dirty="0"/>
          </a:p>
          <a:p>
            <a:r>
              <a:rPr lang="en-US" sz="1800" dirty="0"/>
              <a:t>It is a </a:t>
            </a:r>
            <a:r>
              <a:rPr lang="en-US" sz="1800" b="1" dirty="0"/>
              <a:t>3-terminal/4-terminal transistor</a:t>
            </a:r>
            <a:r>
              <a:rPr lang="en-US" sz="1800" dirty="0"/>
              <a:t>.</a:t>
            </a:r>
          </a:p>
          <a:p>
            <a:r>
              <a:rPr lang="en-US" sz="1800" dirty="0"/>
              <a:t>Current flows between </a:t>
            </a:r>
            <a:r>
              <a:rPr lang="en-US" sz="1800" b="1" dirty="0"/>
              <a:t>Source &amp; Drain</a:t>
            </a:r>
            <a:r>
              <a:rPr lang="en-US" sz="1800" dirty="0"/>
              <a:t>.</a:t>
            </a:r>
          </a:p>
          <a:p>
            <a:r>
              <a:rPr lang="en-US" sz="1800" dirty="0"/>
              <a:t>Controlled by </a:t>
            </a:r>
            <a:r>
              <a:rPr lang="en-US" sz="1800" b="1" dirty="0"/>
              <a:t>voltage applied at Gate</a:t>
            </a:r>
            <a:r>
              <a:rPr lang="en-US" sz="1800" dirty="0"/>
              <a:t> (via electric field).</a:t>
            </a:r>
          </a:p>
          <a:p>
            <a:pPr marL="0" indent="0">
              <a:buNone/>
            </a:pPr>
            <a:r>
              <a:rPr lang="en-US" sz="1800" b="1" dirty="0"/>
              <a:t>Think:</a:t>
            </a:r>
            <a:r>
              <a:rPr lang="en-US" sz="1800" dirty="0"/>
              <a:t> Like a water tap – Source = tank, Drain = pipe, Gate = tap handle.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Mosfet - Images et vidéos libres de droits | Adobe Stock">
            <a:extLst>
              <a:ext uri="{FF2B5EF4-FFF2-40B4-BE49-F238E27FC236}">
                <a16:creationId xmlns:a16="http://schemas.microsoft.com/office/drawing/2014/main" id="{DF581864-E75E-880A-89CC-5CEB6F0E0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82748" y="1756208"/>
            <a:ext cx="5334160" cy="334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8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EB412-E302-CB7C-9E23-D9696D95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MOSFET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239A5-A791-1140-604F-E10D749EF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313579" cy="4379372"/>
          </a:xfrm>
        </p:spPr>
        <p:txBody>
          <a:bodyPr/>
          <a:lstStyle/>
          <a:p>
            <a:r>
              <a:rPr lang="en-US" dirty="0"/>
              <a:t>Normally, </a:t>
            </a:r>
            <a:r>
              <a:rPr lang="en-US" b="1" dirty="0"/>
              <a:t>no current flows</a:t>
            </a:r>
            <a:r>
              <a:rPr lang="en-US" dirty="0"/>
              <a:t> between Source and Drain because the oxide is an insulator.</a:t>
            </a:r>
          </a:p>
          <a:p>
            <a:r>
              <a:rPr lang="en-US" dirty="0"/>
              <a:t>When we apply a voltage to the </a:t>
            </a:r>
            <a:r>
              <a:rPr lang="en-US" b="1" dirty="0"/>
              <a:t>Gate (</a:t>
            </a:r>
            <a:r>
              <a:rPr lang="en-US" b="1" dirty="0" err="1"/>
              <a:t>Vgs</a:t>
            </a:r>
            <a:r>
              <a:rPr lang="en-US" b="1" dirty="0"/>
              <a:t>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Electric field is created.</a:t>
            </a:r>
          </a:p>
          <a:p>
            <a:pPr lvl="1"/>
            <a:r>
              <a:rPr lang="en-US" dirty="0"/>
              <a:t>This field </a:t>
            </a:r>
            <a:r>
              <a:rPr lang="en-US" b="1" dirty="0"/>
              <a:t>attracts charge carriers</a:t>
            </a:r>
            <a:r>
              <a:rPr lang="en-US" dirty="0"/>
              <a:t> in the semiconductor.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channel</a:t>
            </a:r>
            <a:r>
              <a:rPr lang="en-US" dirty="0"/>
              <a:t> is formed between Source and Drain.</a:t>
            </a:r>
          </a:p>
          <a:p>
            <a:pPr lvl="1"/>
            <a:r>
              <a:rPr lang="en-US" dirty="0"/>
              <a:t>Now current can flow </a:t>
            </a:r>
          </a:p>
          <a:p>
            <a:r>
              <a:rPr lang="en-US" dirty="0"/>
              <a:t> Key point: </a:t>
            </a:r>
            <a:r>
              <a:rPr lang="en-US" b="1" dirty="0"/>
              <a:t>Gate voltage controls current flow.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FB929-0236-FCAB-5546-F48064915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957" y="1930534"/>
            <a:ext cx="3939703" cy="309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49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F33C52-6020-8358-78AC-FE245286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Modes of MOSFET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1BCF-65F7-3528-5A10-9EC6FB96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MOS can work in three modes depending on Gate voltage (</a:t>
            </a:r>
            <a:r>
              <a:rPr lang="en-US" sz="2000" dirty="0" err="1"/>
              <a:t>Vgs</a:t>
            </a:r>
            <a:r>
              <a:rPr lang="en-US" sz="2000" dirty="0"/>
              <a:t>) and Drain voltage (</a:t>
            </a:r>
            <a:r>
              <a:rPr lang="en-US" sz="2000" dirty="0" err="1"/>
              <a:t>Vds</a:t>
            </a:r>
            <a:r>
              <a:rPr lang="en-US" sz="2000" dirty="0"/>
              <a:t>).</a:t>
            </a:r>
          </a:p>
          <a:p>
            <a:pPr marL="0" indent="0">
              <a:buNone/>
            </a:pPr>
            <a:r>
              <a:rPr lang="en-US" sz="2000" b="1" dirty="0"/>
              <a:t>Cut-off (OFF mode):</a:t>
            </a:r>
            <a:endParaRPr lang="en-US" sz="2000" dirty="0"/>
          </a:p>
          <a:p>
            <a:pPr lvl="1"/>
            <a:r>
              <a:rPr lang="en-US" sz="2000" dirty="0"/>
              <a:t>If </a:t>
            </a:r>
            <a:r>
              <a:rPr lang="en-US" sz="2000" dirty="0" err="1"/>
              <a:t>Vgs</a:t>
            </a:r>
            <a:r>
              <a:rPr lang="en-US" sz="2000" dirty="0"/>
              <a:t>&lt;Vt (threshold voltage), no channel forms.</a:t>
            </a:r>
          </a:p>
          <a:p>
            <a:pPr lvl="1"/>
            <a:r>
              <a:rPr lang="en-US" sz="2000" dirty="0"/>
              <a:t>Transistor OFF → no current.</a:t>
            </a:r>
          </a:p>
          <a:p>
            <a:pPr marL="0" indent="0">
              <a:buNone/>
            </a:pPr>
            <a:r>
              <a:rPr lang="en-US" sz="2000" b="1" dirty="0"/>
              <a:t>Linear (or Triode mode):</a:t>
            </a:r>
            <a:endParaRPr lang="en-US" sz="2000" dirty="0"/>
          </a:p>
          <a:p>
            <a:pPr lvl="1"/>
            <a:r>
              <a:rPr lang="en-US" sz="2000" dirty="0"/>
              <a:t>If </a:t>
            </a:r>
            <a:r>
              <a:rPr lang="en-US" sz="2000" dirty="0" err="1"/>
              <a:t>Vgs</a:t>
            </a:r>
            <a:r>
              <a:rPr lang="en-US" sz="2000" dirty="0"/>
              <a:t>&gt;Vt and small </a:t>
            </a:r>
            <a:r>
              <a:rPr lang="en-US" sz="2000" dirty="0" err="1"/>
              <a:t>Vds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A channel forms → current flows like a resistor.</a:t>
            </a:r>
          </a:p>
          <a:p>
            <a:pPr marL="0" indent="0">
              <a:buNone/>
            </a:pPr>
            <a:r>
              <a:rPr lang="en-US" sz="2000" b="1" dirty="0"/>
              <a:t>Saturation mode:</a:t>
            </a:r>
            <a:endParaRPr lang="en-US" sz="2000" dirty="0"/>
          </a:p>
          <a:p>
            <a:pPr lvl="1"/>
            <a:r>
              <a:rPr lang="en-US" sz="2000" dirty="0"/>
              <a:t>If </a:t>
            </a:r>
            <a:r>
              <a:rPr lang="en-US" sz="2000" dirty="0" err="1"/>
              <a:t>Vgs</a:t>
            </a:r>
            <a:r>
              <a:rPr lang="en-US" sz="2000" dirty="0"/>
              <a:t>&gt;Vt and large </a:t>
            </a:r>
            <a:r>
              <a:rPr lang="en-US" sz="2000" dirty="0" err="1"/>
              <a:t>Vds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Channel pinches near Drain → current becomes almost constant.</a:t>
            </a:r>
          </a:p>
          <a:p>
            <a:pPr lvl="1"/>
            <a:r>
              <a:rPr lang="en-US" sz="2000" dirty="0"/>
              <a:t>MOS works like a controlled current source.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b="1" dirty="0"/>
              <a:t>Cut-off = OFF switch</a:t>
            </a:r>
            <a:r>
              <a:rPr lang="en-US" sz="2000" dirty="0"/>
              <a:t>, </a:t>
            </a:r>
            <a:r>
              <a:rPr lang="en-US" sz="2000" b="1" dirty="0"/>
              <a:t>Linear = Dimmer switch (variable resistor)</a:t>
            </a:r>
            <a:r>
              <a:rPr lang="en-US" sz="2000" dirty="0"/>
              <a:t>, </a:t>
            </a:r>
            <a:r>
              <a:rPr lang="en-US" sz="2000" b="1" dirty="0"/>
              <a:t>Saturation = Fully ON switch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92433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0" name="Rectangle 205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96FA7-78BF-4DF8-E53D-CB6C6CEB5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en-US" sz="4000"/>
              <a:t>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72F4A-04AF-2CB9-CD20-93E642409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Types of MOSFET</a:t>
            </a:r>
          </a:p>
          <a:p>
            <a:pPr marL="0" indent="0">
              <a:buNone/>
            </a:pPr>
            <a:r>
              <a:rPr lang="en-US" sz="2000" b="1" dirty="0"/>
              <a:t>NMOS:</a:t>
            </a:r>
            <a:endParaRPr lang="en-US" sz="2000" dirty="0"/>
          </a:p>
          <a:p>
            <a:pPr lvl="1"/>
            <a:r>
              <a:rPr lang="en-US" sz="2000" dirty="0"/>
              <a:t>Current flows via </a:t>
            </a:r>
            <a:r>
              <a:rPr lang="en-US" sz="2000" b="1" dirty="0"/>
              <a:t>electrons</a:t>
            </a:r>
            <a:r>
              <a:rPr lang="en-US" sz="2000" dirty="0"/>
              <a:t> (faster).</a:t>
            </a:r>
          </a:p>
          <a:p>
            <a:pPr lvl="1"/>
            <a:r>
              <a:rPr lang="en-US" sz="2000" dirty="0"/>
              <a:t>ON when Gate voltage is </a:t>
            </a:r>
            <a:r>
              <a:rPr lang="en-US" sz="2000" b="1" dirty="0"/>
              <a:t>positive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PMOS:</a:t>
            </a:r>
            <a:endParaRPr lang="en-US" sz="2000" dirty="0"/>
          </a:p>
          <a:p>
            <a:pPr lvl="1"/>
            <a:r>
              <a:rPr lang="en-US" sz="2000" dirty="0"/>
              <a:t>Current flows via </a:t>
            </a:r>
            <a:r>
              <a:rPr lang="en-US" sz="2000" b="1" dirty="0"/>
              <a:t>holes</a:t>
            </a:r>
            <a:r>
              <a:rPr lang="en-US" sz="2000" dirty="0"/>
              <a:t> (slower).</a:t>
            </a:r>
          </a:p>
          <a:p>
            <a:pPr lvl="1"/>
            <a:r>
              <a:rPr lang="en-US" sz="2000" dirty="0"/>
              <a:t>ON when Gate voltage is </a:t>
            </a:r>
            <a:r>
              <a:rPr lang="en-US" sz="2000" b="1" dirty="0"/>
              <a:t>negative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 Modern circuits use </a:t>
            </a:r>
            <a:r>
              <a:rPr lang="en-US" sz="2000" b="1" dirty="0"/>
              <a:t>CMOS = NMOS + PMOS</a:t>
            </a:r>
            <a:r>
              <a:rPr lang="en-US" sz="2000" dirty="0"/>
              <a:t> together.</a:t>
            </a:r>
          </a:p>
          <a:p>
            <a:endParaRPr lang="en-US" sz="2000" dirty="0"/>
          </a:p>
        </p:txBody>
      </p:sp>
      <p:pic>
        <p:nvPicPr>
          <p:cNvPr id="2050" name="Picture 2" descr="NMOS Transistor vs. PMOS Transistor">
            <a:extLst>
              <a:ext uri="{FF2B5EF4-FFF2-40B4-BE49-F238E27FC236}">
                <a16:creationId xmlns:a16="http://schemas.microsoft.com/office/drawing/2014/main" id="{D70B2192-8F4E-E520-19B0-A9833FDBA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45506" y="2057400"/>
            <a:ext cx="3765176" cy="263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2" name="Rectangle 206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66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968F-9028-DAE3-F023-0D5619F90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3200"/>
              <a:t>MOSFET I–V</a:t>
            </a:r>
          </a:p>
        </p:txBody>
      </p:sp>
      <p:cxnSp>
        <p:nvCxnSpPr>
          <p:cNvPr id="3079" name="Straight Connector 3078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5B090-C5E1-D5C4-07E2-500462553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092" y="2116800"/>
            <a:ext cx="4544762" cy="3602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What is I–V Characteristic?</a:t>
            </a:r>
          </a:p>
          <a:p>
            <a:pPr marL="0" indent="0">
              <a:buNone/>
            </a:pPr>
            <a:r>
              <a:rPr lang="en-US" sz="1900" dirty="0"/>
              <a:t>"I–V" means </a:t>
            </a:r>
            <a:r>
              <a:rPr lang="en-US" sz="1900" b="1" dirty="0"/>
              <a:t>relationship between current (I) and voltage (V)</a:t>
            </a:r>
            <a:r>
              <a:rPr lang="en-US" sz="1900" dirty="0"/>
              <a:t> in MOSFET.</a:t>
            </a:r>
          </a:p>
          <a:p>
            <a:pPr marL="0" indent="0">
              <a:buNone/>
            </a:pPr>
            <a:r>
              <a:rPr lang="en-US" sz="1900" dirty="0"/>
              <a:t>We usually study: </a:t>
            </a:r>
            <a:r>
              <a:rPr lang="en-US" sz="1900" b="1" dirty="0"/>
              <a:t>Drain current (Id)</a:t>
            </a:r>
            <a:r>
              <a:rPr lang="en-US" sz="1900" dirty="0"/>
              <a:t> vs </a:t>
            </a:r>
            <a:r>
              <a:rPr lang="en-US" sz="1900" b="1" dirty="0"/>
              <a:t>Drain-to-Source Voltage (</a:t>
            </a:r>
            <a:r>
              <a:rPr lang="en-US" sz="1900" b="1" dirty="0" err="1"/>
              <a:t>Vds</a:t>
            </a:r>
            <a:r>
              <a:rPr lang="en-US" sz="1900" b="1" dirty="0"/>
              <a:t>)</a:t>
            </a:r>
            <a:r>
              <a:rPr lang="en-US" sz="1900" dirty="0"/>
              <a:t> for different values of </a:t>
            </a:r>
            <a:r>
              <a:rPr lang="en-US" sz="1900" b="1" dirty="0"/>
              <a:t>Gate-to-Source Voltage (</a:t>
            </a:r>
            <a:r>
              <a:rPr lang="en-US" sz="1900" b="1" dirty="0" err="1"/>
              <a:t>Vgs</a:t>
            </a:r>
            <a:r>
              <a:rPr lang="en-US" sz="1900" b="1" dirty="0"/>
              <a:t>)</a:t>
            </a:r>
            <a:r>
              <a:rPr lang="en-US" sz="1900" dirty="0"/>
              <a:t>.</a:t>
            </a:r>
          </a:p>
          <a:p>
            <a:pPr marL="0" indent="0">
              <a:buNone/>
            </a:pPr>
            <a:r>
              <a:rPr lang="en-US" sz="1900" dirty="0"/>
              <a:t>Helps us understand </a:t>
            </a:r>
            <a:r>
              <a:rPr lang="en-US" sz="1900" b="1" dirty="0"/>
              <a:t>how MOSFET works as a switch or amplifier</a:t>
            </a:r>
            <a:r>
              <a:rPr lang="en-US" sz="1900" dirty="0"/>
              <a:t>.</a:t>
            </a:r>
          </a:p>
          <a:p>
            <a:pPr marL="0" indent="0">
              <a:buNone/>
            </a:pPr>
            <a:r>
              <a:rPr lang="en-US" sz="1900" dirty="0"/>
              <a:t>So, we will find how </a:t>
            </a:r>
            <a:r>
              <a:rPr lang="en-US" sz="1900" b="1" dirty="0"/>
              <a:t>Id</a:t>
            </a:r>
            <a:r>
              <a:rPr lang="en-US" sz="1900" dirty="0"/>
              <a:t> changes when we vary </a:t>
            </a:r>
            <a:r>
              <a:rPr lang="en-US" sz="1900" b="1" dirty="0" err="1"/>
              <a:t>Vgs</a:t>
            </a:r>
            <a:r>
              <a:rPr lang="en-US" sz="1900" dirty="0"/>
              <a:t> and </a:t>
            </a:r>
            <a:r>
              <a:rPr lang="en-US" sz="1900" b="1" dirty="0" err="1"/>
              <a:t>Vds</a:t>
            </a:r>
            <a:r>
              <a:rPr lang="en-US" sz="1900" dirty="0"/>
              <a:t>.</a:t>
            </a:r>
          </a:p>
          <a:p>
            <a:endParaRPr lang="en-US" sz="1900" dirty="0"/>
          </a:p>
        </p:txBody>
      </p:sp>
      <p:pic>
        <p:nvPicPr>
          <p:cNvPr id="3074" name="Picture 2" descr="I-V Characteristics of Power MOSFET – S Ravivarman">
            <a:extLst>
              <a:ext uri="{FF2B5EF4-FFF2-40B4-BE49-F238E27FC236}">
                <a16:creationId xmlns:a16="http://schemas.microsoft.com/office/drawing/2014/main" id="{C4569992-42F6-7BE6-01FB-28CF3A40A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168475"/>
            <a:ext cx="5334160" cy="365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550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1BD52-3ADA-670E-1F4F-A1A75E39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C5C88-7CE6-D41A-2179-86F5224C8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0545"/>
          </a:xfrm>
        </p:spPr>
        <p:txBody>
          <a:bodyPr>
            <a:normAutofit/>
          </a:bodyPr>
          <a:lstStyle/>
          <a:p>
            <a:r>
              <a:rPr lang="en-US" sz="2400" b="1" dirty="0"/>
              <a:t>Cutoff Region (OFF mode)</a:t>
            </a:r>
          </a:p>
          <a:p>
            <a:r>
              <a:rPr lang="en-US" sz="2400" dirty="0"/>
              <a:t>Condition: ​                   (Gate–Source voltage less than threshold voltage).</a:t>
            </a:r>
          </a:p>
          <a:p>
            <a:r>
              <a:rPr lang="en-US" sz="2400" dirty="0"/>
              <a:t>Meaning: Gate is too weak to form a channel → </a:t>
            </a:r>
            <a:r>
              <a:rPr lang="en-US" sz="2400" b="1" dirty="0"/>
              <a:t>no current flows</a:t>
            </a:r>
            <a:r>
              <a:rPr lang="en-US" sz="2400" dirty="0"/>
              <a:t>.</a:t>
            </a:r>
          </a:p>
          <a:p>
            <a:r>
              <a:rPr lang="en-US" sz="2400" dirty="0"/>
              <a:t>Current: ID≈0.</a:t>
            </a:r>
          </a:p>
          <a:p>
            <a:r>
              <a:rPr lang="en-US" sz="2400" b="1" dirty="0"/>
              <a:t>Linear / Triode Region (Resistive mode)</a:t>
            </a:r>
          </a:p>
          <a:p>
            <a:r>
              <a:rPr lang="en-US" sz="2400" dirty="0"/>
              <a:t>Condition: small </a:t>
            </a:r>
            <a:r>
              <a:rPr lang="en-US" sz="2400" dirty="0" err="1"/>
              <a:t>Vds</a:t>
            </a:r>
            <a:r>
              <a:rPr lang="en-US" sz="2400" dirty="0"/>
              <a:t>.</a:t>
            </a:r>
          </a:p>
          <a:p>
            <a:r>
              <a:rPr lang="en-US" sz="2400" dirty="0"/>
              <a:t>Meaning: Channel is formed and behaves like a </a:t>
            </a:r>
            <a:r>
              <a:rPr lang="en-US" sz="2400" b="1" dirty="0"/>
              <a:t>resistor</a:t>
            </a:r>
            <a:r>
              <a:rPr lang="en-US" sz="2400" dirty="0"/>
              <a:t>.</a:t>
            </a:r>
          </a:p>
          <a:p>
            <a:r>
              <a:rPr lang="en-US" sz="2400" dirty="0"/>
              <a:t>Current equation: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17ADB2-8FB7-D3D5-97C4-11C4248F6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537" y="2330405"/>
            <a:ext cx="1059156" cy="338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810186-C5E0-9047-0FCB-77CD49EE5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249" y="4085775"/>
            <a:ext cx="3947502" cy="426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01BE99-717B-AF35-7C52-3CBF378B0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377" y="5218889"/>
            <a:ext cx="5204911" cy="11049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DCBB0F-F00A-1983-CC1B-FE077C9A0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7393" y="3266554"/>
            <a:ext cx="3215919" cy="16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42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B32F7-0261-45D2-9996-AA00F85CC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4436D-14A1-0F3A-C421-13DEDC2DD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Saturation Region (Active mode)</a:t>
            </a:r>
          </a:p>
          <a:p>
            <a:r>
              <a:rPr lang="en-US" sz="2000" dirty="0"/>
              <a:t>Condition: large </a:t>
            </a:r>
            <a:r>
              <a:rPr lang="en-US" sz="2000" dirty="0" err="1"/>
              <a:t>Vds</a:t>
            </a:r>
            <a:r>
              <a:rPr lang="en-US" sz="2000" dirty="0"/>
              <a:t>.</a:t>
            </a:r>
          </a:p>
          <a:p>
            <a:r>
              <a:rPr lang="en-US" sz="2000" dirty="0"/>
              <a:t>Meaning: Channel is "pinched off" at drain side → current stops increasing much.</a:t>
            </a:r>
          </a:p>
          <a:p>
            <a:r>
              <a:rPr lang="en-US" sz="2000" dirty="0"/>
              <a:t>Current equation: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In this region, MOSFET acts like an </a:t>
            </a:r>
            <a:r>
              <a:rPr lang="en-US" sz="2000" b="1" dirty="0"/>
              <a:t>amplifier or switch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63748-0516-14E8-2EF7-09A59FE5D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649" y="2167142"/>
            <a:ext cx="2270957" cy="4419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DFB7E9-9B67-E06E-1D13-DA7A079CC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147" y="3947243"/>
            <a:ext cx="3589331" cy="8916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B3739A-693F-CB6C-8BBE-BDBA6D604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798" y="3429000"/>
            <a:ext cx="3215919" cy="16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83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C71DA5-4354-7AA0-C13C-01C595F9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Introduction to Scaling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97FAA9-7EA3-920B-4B63-54A6CEA514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VLSI = millions/billions of transistors in a chip.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 increase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speed, packing density, and performance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MOSFET size is reduced.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process is called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Scaling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Benefits of scaling: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Higher circuit speed (faster switching).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Lower power per gate.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More devices per unit area → higher integration.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BUT: Scaling introduces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new challenges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(leakage, short channel effects, velocity saturation).</a:t>
            </a:r>
          </a:p>
          <a:p>
            <a:pPr marL="0" indent="0">
              <a:buNone/>
            </a:pPr>
            <a:endParaRPr lang="en-US" sz="1700" b="1"/>
          </a:p>
          <a:p>
            <a:pPr marL="0" indent="0">
              <a:buNone/>
            </a:pPr>
            <a:r>
              <a:rPr lang="en-US" sz="1700" b="1"/>
              <a:t>Why Scaling is Important</a:t>
            </a:r>
          </a:p>
          <a:p>
            <a:pPr marL="0" indent="0">
              <a:buNone/>
            </a:pPr>
            <a:r>
              <a:rPr lang="en-US" sz="1700" b="1"/>
              <a:t>Smaller device → Shorter channel length.</a:t>
            </a:r>
            <a:endParaRPr lang="en-US" sz="1700"/>
          </a:p>
          <a:p>
            <a:pPr marL="0" indent="0">
              <a:buNone/>
            </a:pPr>
            <a:r>
              <a:rPr lang="en-US" sz="1700"/>
              <a:t>Shorter channel → Faster current response.</a:t>
            </a:r>
          </a:p>
          <a:p>
            <a:pPr marL="0" indent="0">
              <a:buNone/>
            </a:pPr>
            <a:r>
              <a:rPr lang="en-US" sz="1700"/>
              <a:t>Shorter interconnects → Reduced delay.</a:t>
            </a:r>
          </a:p>
          <a:p>
            <a:pPr marL="0" indent="0">
              <a:buNone/>
            </a:pPr>
            <a:r>
              <a:rPr lang="en-US" sz="1700"/>
              <a:t>Reduced device size → Lower power consumption (in ideal scaling).</a:t>
            </a:r>
          </a:p>
          <a:p>
            <a:pPr marL="0" indent="0">
              <a:buNone/>
            </a:pPr>
            <a:r>
              <a:rPr lang="en-US" sz="1700"/>
              <a:t>Essential for Moore’s Law: doubling transistors every ~2 years.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659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975EFA-54BD-9D2F-4ACF-224E832B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Types</a:t>
            </a: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70D9A-6E0E-408F-5CB2-4551FBA53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580" y="630936"/>
            <a:ext cx="8051164" cy="5626957"/>
          </a:xfrm>
          <a:noFill/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Types of Scaling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Constant-Field Scaling (Dennard Scaling):</a:t>
            </a:r>
            <a:endParaRPr lang="en-US" sz="1800" dirty="0">
              <a:solidFill>
                <a:schemeClr val="bg1"/>
              </a:solidFill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All dimensions (length, width, oxide thickness) reduced by factor </a:t>
            </a:r>
            <a:r>
              <a:rPr lang="en-US" sz="1800" b="1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Voltages also scaled by </a:t>
            </a:r>
            <a:r>
              <a:rPr lang="en-US" sz="1800" b="1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n-US" sz="1800" b="1" dirty="0">
                <a:solidFill>
                  <a:schemeClr val="bg1"/>
                </a:solidFill>
              </a:rPr>
              <a:t>Electric field remains constant.</a:t>
            </a:r>
            <a:endParaRPr lang="en-US" sz="1800" dirty="0">
              <a:solidFill>
                <a:schemeClr val="bg1"/>
              </a:solidFill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Pros: Reliable operation, lower power.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Cons: Requires lowering supply voltage, which is difficult in practice.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Constant-Voltage Scaling:</a:t>
            </a:r>
            <a:endParaRPr lang="en-US" sz="1800" dirty="0">
              <a:solidFill>
                <a:schemeClr val="bg1"/>
              </a:solidFill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Only physical dimensions are scaled down.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Voltages are kept the same.</a:t>
            </a:r>
          </a:p>
          <a:p>
            <a:pPr lvl="1"/>
            <a:r>
              <a:rPr lang="en-US" sz="1800" b="1" dirty="0">
                <a:solidFill>
                  <a:schemeClr val="bg1"/>
                </a:solidFill>
              </a:rPr>
              <a:t>Electric field increases</a:t>
            </a:r>
            <a:r>
              <a:rPr lang="en-US" sz="1800" dirty="0">
                <a:solidFill>
                  <a:schemeClr val="bg1"/>
                </a:solidFill>
              </a:rPr>
              <a:t> → higher speed but higher power density.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Cons: More hot carrier effects and device degradation.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Generalized Scaling:</a:t>
            </a:r>
            <a:endParaRPr lang="en-US" sz="1800" dirty="0">
              <a:solidFill>
                <a:schemeClr val="bg1"/>
              </a:solidFill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Dimensions scaled by </a:t>
            </a:r>
            <a:r>
              <a:rPr lang="en-US" sz="1800" b="1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, voltages scaled by </a:t>
            </a:r>
            <a:r>
              <a:rPr lang="en-US" sz="1800" b="1" dirty="0">
                <a:solidFill>
                  <a:schemeClr val="bg1"/>
                </a:solidFill>
              </a:rPr>
              <a:t>α (α &lt; k)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Electric field partly increases.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A compromise between speed and reliability.</a:t>
            </a:r>
          </a:p>
          <a:p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614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E721B-FAAE-73B0-4B8E-2CA4C06CE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Factor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BE174-EEA0-29CA-7A22-47205DAB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The Scaling Factor </a:t>
            </a:r>
            <a:r>
              <a:rPr lang="en-US" b="1" i="1" dirty="0"/>
              <a:t>k</a:t>
            </a:r>
            <a:endParaRPr lang="en-US" b="1" dirty="0"/>
          </a:p>
          <a:p>
            <a:r>
              <a:rPr lang="en-US" i="1" dirty="0"/>
              <a:t>k</a:t>
            </a:r>
            <a:r>
              <a:rPr lang="en-US" dirty="0"/>
              <a:t> is the </a:t>
            </a:r>
            <a:r>
              <a:rPr lang="en-US" b="1" dirty="0"/>
              <a:t>reduction factor</a:t>
            </a:r>
            <a:r>
              <a:rPr lang="en-US" dirty="0"/>
              <a:t> we use when shrinking a MOSFET.</a:t>
            </a:r>
          </a:p>
          <a:p>
            <a:r>
              <a:rPr lang="en-US" dirty="0"/>
              <a:t>If </a:t>
            </a:r>
            <a:r>
              <a:rPr lang="en-US" i="1" dirty="0"/>
              <a:t>k = 2</a:t>
            </a:r>
            <a:r>
              <a:rPr lang="en-US" dirty="0"/>
              <a:t>, it means the new device is </a:t>
            </a:r>
            <a:r>
              <a:rPr lang="en-US" b="1" dirty="0"/>
              <a:t>half the size</a:t>
            </a:r>
            <a:r>
              <a:rPr lang="en-US" dirty="0"/>
              <a:t> of the original.</a:t>
            </a:r>
          </a:p>
          <a:p>
            <a:r>
              <a:rPr lang="en-US" dirty="0"/>
              <a:t>In general:</a:t>
            </a:r>
          </a:p>
          <a:p>
            <a:endParaRPr lang="en-US" dirty="0"/>
          </a:p>
          <a:p>
            <a:r>
              <a:rPr lang="en-US" b="1" dirty="0"/>
              <a:t>Example (k = 2)</a:t>
            </a:r>
          </a:p>
          <a:p>
            <a:r>
              <a:rPr lang="en-US" dirty="0"/>
              <a:t>Channel length (L): Original = 1 µm → New = 0.5 µm</a:t>
            </a:r>
          </a:p>
          <a:p>
            <a:r>
              <a:rPr lang="en-US" dirty="0"/>
              <a:t>Channel width (W): Original = 1 µm → New = 0.5 µm</a:t>
            </a:r>
          </a:p>
          <a:p>
            <a:r>
              <a:rPr lang="en-US" dirty="0"/>
              <a:t>Oxide thickness (tox): Original = 10 nm → New = 5 nm</a:t>
            </a:r>
          </a:p>
          <a:p>
            <a:r>
              <a:rPr lang="en-US" dirty="0"/>
              <a:t>If it’s </a:t>
            </a:r>
            <a:r>
              <a:rPr lang="en-US" b="1" dirty="0"/>
              <a:t>constant-field scaling</a:t>
            </a:r>
            <a:r>
              <a:rPr lang="en-US" dirty="0"/>
              <a:t>, then even voltage scales:</a:t>
            </a:r>
          </a:p>
          <a:p>
            <a:r>
              <a:rPr lang="en-US" dirty="0"/>
              <a:t>Supply Voltage (</a:t>
            </a:r>
            <a:r>
              <a:rPr lang="en-US" dirty="0" err="1"/>
              <a:t>Vdd</a:t>
            </a:r>
            <a:r>
              <a:rPr lang="en-US" dirty="0"/>
              <a:t>): Original = 5 V → New = 2.5 V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6F49A-F452-A492-5BB2-B32ACF26E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219" y="3043762"/>
            <a:ext cx="4185080" cy="77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22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2E504-4922-2FE2-744B-3871D8CC0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Mobility Degradation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8AD01E-F245-C25E-A538-7BE0D38E2E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871668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5067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002EB-4F62-6B98-576F-D34AFF17F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/>
              <a:t>Subthreshold Current (Leakage Current)</a:t>
            </a:r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101EEE-AF61-BB8E-96BF-6F93E43FBF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59625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8167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CB6EC-8FCA-9E65-9633-4B55E6A8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b="1" dirty="0"/>
              <a:t>Threshold Voltage Variation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48BEB2-B7F1-0D9E-0EB3-569B574AC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74810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7833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3AF71-B9D0-8E88-59A5-87122FD30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Drain-Induced Barrier Lowering (DIBL)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1127A-3C98-134B-B428-9C42E453D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br>
              <a:rPr lang="en-US" sz="1800" dirty="0"/>
            </a:br>
            <a:r>
              <a:rPr lang="en-US" sz="1800" dirty="0"/>
              <a:t>Normally, the gate controls the barrier that stops current flow when the device is OFF.</a:t>
            </a:r>
            <a:br>
              <a:rPr lang="en-US" sz="1800" dirty="0"/>
            </a:br>
            <a:r>
              <a:rPr lang="en-US" sz="1800" dirty="0"/>
              <a:t>But in short-channel MOSFETs, a high drain voltage can lower this barrier.</a:t>
            </a:r>
          </a:p>
          <a:p>
            <a:pPr marL="0" indent="0">
              <a:buNone/>
            </a:pPr>
            <a:r>
              <a:rPr lang="en-US" sz="1800" b="1" dirty="0"/>
              <a:t>Result:</a:t>
            </a:r>
            <a:br>
              <a:rPr lang="en-US" sz="1800" dirty="0"/>
            </a:br>
            <a:r>
              <a:rPr lang="en-US" sz="1800" dirty="0"/>
              <a:t>Even if </a:t>
            </a:r>
            <a:r>
              <a:rPr lang="en-US" sz="1800" b="1" dirty="0" err="1"/>
              <a:t>Vgs</a:t>
            </a:r>
            <a:r>
              <a:rPr lang="en-US" sz="1800" b="1" dirty="0"/>
              <a:t> &lt; Vth</a:t>
            </a:r>
            <a:r>
              <a:rPr lang="en-US" sz="1800" dirty="0"/>
              <a:t>, current flows because the drain is helping carriers overcome the barrier.</a:t>
            </a:r>
          </a:p>
          <a:p>
            <a:pPr marL="0" indent="0">
              <a:buNone/>
            </a:pPr>
            <a:r>
              <a:rPr lang="en-US" sz="1800" b="1" dirty="0"/>
              <a:t>Effect:</a:t>
            </a:r>
            <a:endParaRPr lang="en-US" sz="1800" dirty="0"/>
          </a:p>
          <a:p>
            <a:pPr lvl="1"/>
            <a:r>
              <a:rPr lang="en-US" sz="1800" dirty="0"/>
              <a:t>Reduces threshold voltage.</a:t>
            </a:r>
          </a:p>
          <a:p>
            <a:pPr lvl="1"/>
            <a:r>
              <a:rPr lang="en-US" sz="1800" dirty="0"/>
              <a:t>Increases leakage current.</a:t>
            </a:r>
          </a:p>
          <a:p>
            <a:pPr marL="0" indent="0">
              <a:buNone/>
            </a:pPr>
            <a:r>
              <a:rPr lang="en-US" sz="1800" b="1" dirty="0"/>
              <a:t>Analogy:</a:t>
            </a:r>
            <a:br>
              <a:rPr lang="en-US" sz="1800" dirty="0"/>
            </a:br>
            <a:r>
              <a:rPr lang="en-US" sz="1800" dirty="0"/>
              <a:t>Think of a dam (gate) blocking water. If the water level (drain voltage) rises too high, it spills over even if the dam is closed.</a:t>
            </a:r>
          </a:p>
          <a:p>
            <a:endParaRPr lang="en-US" sz="1400" dirty="0"/>
          </a:p>
        </p:txBody>
      </p:sp>
      <p:pic>
        <p:nvPicPr>
          <p:cNvPr id="5" name="Picture 4" descr="A white electrical box with wires">
            <a:extLst>
              <a:ext uri="{FF2B5EF4-FFF2-40B4-BE49-F238E27FC236}">
                <a16:creationId xmlns:a16="http://schemas.microsoft.com/office/drawing/2014/main" id="{F734FF73-E389-C53F-8B26-2658B22025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27" r="31430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4484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2FC03-0FB8-6902-0B9A-A8047129B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b="1" dirty="0"/>
              <a:t>Drain Punch Through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38BAAC-BE54-3574-CADF-8D4C43981D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16722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1024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8953E74-D241-4DDF-8508-F0365EA13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3C901A-B2F4-4A3C-BCDD-7C8D587EC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371134"/>
          </a:xfrm>
          <a:custGeom>
            <a:avLst/>
            <a:gdLst>
              <a:gd name="connsiteX0" fmla="*/ 0 w 12192000"/>
              <a:gd name="connsiteY0" fmla="*/ 0 h 2515690"/>
              <a:gd name="connsiteX1" fmla="*/ 170442 w 12192000"/>
              <a:gd name="connsiteY1" fmla="*/ 96074 h 2515690"/>
              <a:gd name="connsiteX2" fmla="*/ 424739 w 12192000"/>
              <a:gd name="connsiteY2" fmla="*/ 224865 h 2515690"/>
              <a:gd name="connsiteX3" fmla="*/ 748273 w 12192000"/>
              <a:gd name="connsiteY3" fmla="*/ 373939 h 2515690"/>
              <a:gd name="connsiteX4" fmla="*/ 1037058 w 12192000"/>
              <a:gd name="connsiteY4" fmla="*/ 499994 h 2515690"/>
              <a:gd name="connsiteX5" fmla="*/ 1101312 w 12192000"/>
              <a:gd name="connsiteY5" fmla="*/ 428540 h 2515690"/>
              <a:gd name="connsiteX6" fmla="*/ 1367071 w 12192000"/>
              <a:gd name="connsiteY6" fmla="*/ 516118 h 2515690"/>
              <a:gd name="connsiteX7" fmla="*/ 2189943 w 12192000"/>
              <a:gd name="connsiteY7" fmla="*/ 794533 h 2515690"/>
              <a:gd name="connsiteX8" fmla="*/ 2390329 w 12192000"/>
              <a:gd name="connsiteY8" fmla="*/ 920897 h 2515690"/>
              <a:gd name="connsiteX9" fmla="*/ 2459570 w 12192000"/>
              <a:gd name="connsiteY9" fmla="*/ 983740 h 2515690"/>
              <a:gd name="connsiteX10" fmla="*/ 2503252 w 12192000"/>
              <a:gd name="connsiteY10" fmla="*/ 1000151 h 2515690"/>
              <a:gd name="connsiteX11" fmla="*/ 2503252 w 12192000"/>
              <a:gd name="connsiteY11" fmla="*/ 1008273 h 2515690"/>
              <a:gd name="connsiteX12" fmla="*/ 2511191 w 12192000"/>
              <a:gd name="connsiteY12" fmla="*/ 1009499 h 2515690"/>
              <a:gd name="connsiteX13" fmla="*/ 2565029 w 12192000"/>
              <a:gd name="connsiteY13" fmla="*/ 1015977 h 2515690"/>
              <a:gd name="connsiteX14" fmla="*/ 2593745 w 12192000"/>
              <a:gd name="connsiteY14" fmla="*/ 1019963 h 2515690"/>
              <a:gd name="connsiteX15" fmla="*/ 2591015 w 12192000"/>
              <a:gd name="connsiteY15" fmla="*/ 1019651 h 2515690"/>
              <a:gd name="connsiteX16" fmla="*/ 2590137 w 12192000"/>
              <a:gd name="connsiteY16" fmla="*/ 1019549 h 2515690"/>
              <a:gd name="connsiteX17" fmla="*/ 2589021 w 12192000"/>
              <a:gd name="connsiteY17" fmla="*/ 1019424 h 2515690"/>
              <a:gd name="connsiteX18" fmla="*/ 2591015 w 12192000"/>
              <a:gd name="connsiteY18" fmla="*/ 1019651 h 2515690"/>
              <a:gd name="connsiteX19" fmla="*/ 2602385 w 12192000"/>
              <a:gd name="connsiteY19" fmla="*/ 1020975 h 2515690"/>
              <a:gd name="connsiteX20" fmla="*/ 2614445 w 12192000"/>
              <a:gd name="connsiteY20" fmla="*/ 1022389 h 2515690"/>
              <a:gd name="connsiteX21" fmla="*/ 2614445 w 12192000"/>
              <a:gd name="connsiteY21" fmla="*/ 1020966 h 2515690"/>
              <a:gd name="connsiteX22" fmla="*/ 2676661 w 12192000"/>
              <a:gd name="connsiteY22" fmla="*/ 1029355 h 2515690"/>
              <a:gd name="connsiteX23" fmla="*/ 2788597 w 12192000"/>
              <a:gd name="connsiteY23" fmla="*/ 1048926 h 2515690"/>
              <a:gd name="connsiteX24" fmla="*/ 2812742 w 12192000"/>
              <a:gd name="connsiteY24" fmla="*/ 1057667 h 2515690"/>
              <a:gd name="connsiteX25" fmla="*/ 2970201 w 12192000"/>
              <a:gd name="connsiteY25" fmla="*/ 949091 h 2515690"/>
              <a:gd name="connsiteX26" fmla="*/ 3030610 w 12192000"/>
              <a:gd name="connsiteY26" fmla="*/ 1049340 h 2515690"/>
              <a:gd name="connsiteX27" fmla="*/ 3058913 w 12192000"/>
              <a:gd name="connsiteY27" fmla="*/ 1048085 h 2515690"/>
              <a:gd name="connsiteX28" fmla="*/ 3072697 w 12192000"/>
              <a:gd name="connsiteY28" fmla="*/ 1045316 h 2515690"/>
              <a:gd name="connsiteX29" fmla="*/ 3083305 w 12192000"/>
              <a:gd name="connsiteY29" fmla="*/ 1040550 h 2515690"/>
              <a:gd name="connsiteX30" fmla="*/ 3125603 w 12192000"/>
              <a:gd name="connsiteY30" fmla="*/ 1004583 h 2515690"/>
              <a:gd name="connsiteX31" fmla="*/ 3385106 w 12192000"/>
              <a:gd name="connsiteY31" fmla="*/ 1042233 h 2515690"/>
              <a:gd name="connsiteX32" fmla="*/ 3424945 w 12192000"/>
              <a:gd name="connsiteY32" fmla="*/ 1065268 h 2515690"/>
              <a:gd name="connsiteX33" fmla="*/ 3436948 w 12192000"/>
              <a:gd name="connsiteY33" fmla="*/ 1068018 h 2515690"/>
              <a:gd name="connsiteX34" fmla="*/ 3466714 w 12192000"/>
              <a:gd name="connsiteY34" fmla="*/ 1063419 h 2515690"/>
              <a:gd name="connsiteX35" fmla="*/ 3550909 w 12192000"/>
              <a:gd name="connsiteY35" fmla="*/ 1044511 h 2515690"/>
              <a:gd name="connsiteX36" fmla="*/ 3555900 w 12192000"/>
              <a:gd name="connsiteY36" fmla="*/ 1041996 h 2515690"/>
              <a:gd name="connsiteX37" fmla="*/ 3625978 w 12192000"/>
              <a:gd name="connsiteY37" fmla="*/ 1023459 h 2515690"/>
              <a:gd name="connsiteX38" fmla="*/ 3632465 w 12192000"/>
              <a:gd name="connsiteY38" fmla="*/ 1023522 h 2515690"/>
              <a:gd name="connsiteX39" fmla="*/ 3649063 w 12192000"/>
              <a:gd name="connsiteY39" fmla="*/ 1018726 h 2515690"/>
              <a:gd name="connsiteX40" fmla="*/ 3805954 w 12192000"/>
              <a:gd name="connsiteY40" fmla="*/ 917517 h 2515690"/>
              <a:gd name="connsiteX41" fmla="*/ 4020506 w 12192000"/>
              <a:gd name="connsiteY41" fmla="*/ 816231 h 2515690"/>
              <a:gd name="connsiteX42" fmla="*/ 4233682 w 12192000"/>
              <a:gd name="connsiteY42" fmla="*/ 799511 h 2515690"/>
              <a:gd name="connsiteX43" fmla="*/ 4306552 w 12192000"/>
              <a:gd name="connsiteY43" fmla="*/ 610207 h 2515690"/>
              <a:gd name="connsiteX44" fmla="*/ 4816604 w 12192000"/>
              <a:gd name="connsiteY44" fmla="*/ 773163 h 2515690"/>
              <a:gd name="connsiteX45" fmla="*/ 4916502 w 12192000"/>
              <a:gd name="connsiteY45" fmla="*/ 788104 h 2515690"/>
              <a:gd name="connsiteX46" fmla="*/ 5224415 w 12192000"/>
              <a:gd name="connsiteY46" fmla="*/ 674418 h 2515690"/>
              <a:gd name="connsiteX47" fmla="*/ 5274077 w 12192000"/>
              <a:gd name="connsiteY47" fmla="*/ 655978 h 2515690"/>
              <a:gd name="connsiteX48" fmla="*/ 5371217 w 12192000"/>
              <a:gd name="connsiteY48" fmla="*/ 614372 h 2515690"/>
              <a:gd name="connsiteX49" fmla="*/ 5364523 w 12192000"/>
              <a:gd name="connsiteY49" fmla="*/ 502501 h 2515690"/>
              <a:gd name="connsiteX50" fmla="*/ 5457871 w 12192000"/>
              <a:gd name="connsiteY50" fmla="*/ 558285 h 2515690"/>
              <a:gd name="connsiteX51" fmla="*/ 5750580 w 12192000"/>
              <a:gd name="connsiteY51" fmla="*/ 663503 h 2515690"/>
              <a:gd name="connsiteX52" fmla="*/ 5976618 w 12192000"/>
              <a:gd name="connsiteY52" fmla="*/ 582652 h 2515690"/>
              <a:gd name="connsiteX53" fmla="*/ 6009346 w 12192000"/>
              <a:gd name="connsiteY53" fmla="*/ 559470 h 2515690"/>
              <a:gd name="connsiteX54" fmla="*/ 6069735 w 12192000"/>
              <a:gd name="connsiteY54" fmla="*/ 587803 h 2515690"/>
              <a:gd name="connsiteX55" fmla="*/ 6270319 w 12192000"/>
              <a:gd name="connsiteY55" fmla="*/ 643982 h 2515690"/>
              <a:gd name="connsiteX56" fmla="*/ 6406781 w 12192000"/>
              <a:gd name="connsiteY56" fmla="*/ 672327 h 2515690"/>
              <a:gd name="connsiteX57" fmla="*/ 6469508 w 12192000"/>
              <a:gd name="connsiteY57" fmla="*/ 708574 h 2515690"/>
              <a:gd name="connsiteX58" fmla="*/ 6515869 w 12192000"/>
              <a:gd name="connsiteY58" fmla="*/ 715738 h 2515690"/>
              <a:gd name="connsiteX59" fmla="*/ 6725938 w 12192000"/>
              <a:gd name="connsiteY59" fmla="*/ 691128 h 2515690"/>
              <a:gd name="connsiteX60" fmla="*/ 6778240 w 12192000"/>
              <a:gd name="connsiteY60" fmla="*/ 678998 h 2515690"/>
              <a:gd name="connsiteX61" fmla="*/ 6806944 w 12192000"/>
              <a:gd name="connsiteY61" fmla="*/ 646178 h 2515690"/>
              <a:gd name="connsiteX62" fmla="*/ 6830632 w 12192000"/>
              <a:gd name="connsiteY62" fmla="*/ 633915 h 2515690"/>
              <a:gd name="connsiteX63" fmla="*/ 6858072 w 12192000"/>
              <a:gd name="connsiteY63" fmla="*/ 646178 h 2515690"/>
              <a:gd name="connsiteX64" fmla="*/ 6891322 w 12192000"/>
              <a:gd name="connsiteY64" fmla="*/ 678998 h 2515690"/>
              <a:gd name="connsiteX65" fmla="*/ 6951905 w 12192000"/>
              <a:gd name="connsiteY65" fmla="*/ 691128 h 2515690"/>
              <a:gd name="connsiteX66" fmla="*/ 7195246 w 12192000"/>
              <a:gd name="connsiteY66" fmla="*/ 715738 h 2515690"/>
              <a:gd name="connsiteX67" fmla="*/ 7248949 w 12192000"/>
              <a:gd name="connsiteY67" fmla="*/ 708574 h 2515690"/>
              <a:gd name="connsiteX68" fmla="*/ 7321609 w 12192000"/>
              <a:gd name="connsiteY68" fmla="*/ 672327 h 2515690"/>
              <a:gd name="connsiteX69" fmla="*/ 7479684 w 12192000"/>
              <a:gd name="connsiteY69" fmla="*/ 643982 h 2515690"/>
              <a:gd name="connsiteX70" fmla="*/ 7712035 w 12192000"/>
              <a:gd name="connsiteY70" fmla="*/ 587803 h 2515690"/>
              <a:gd name="connsiteX71" fmla="*/ 7781987 w 12192000"/>
              <a:gd name="connsiteY71" fmla="*/ 559470 h 2515690"/>
              <a:gd name="connsiteX72" fmla="*/ 7819900 w 12192000"/>
              <a:gd name="connsiteY72" fmla="*/ 582652 h 2515690"/>
              <a:gd name="connsiteX73" fmla="*/ 8081736 w 12192000"/>
              <a:gd name="connsiteY73" fmla="*/ 663503 h 2515690"/>
              <a:gd name="connsiteX74" fmla="*/ 8420801 w 12192000"/>
              <a:gd name="connsiteY74" fmla="*/ 558285 h 2515690"/>
              <a:gd name="connsiteX75" fmla="*/ 8528933 w 12192000"/>
              <a:gd name="connsiteY75" fmla="*/ 502501 h 2515690"/>
              <a:gd name="connsiteX76" fmla="*/ 8521178 w 12192000"/>
              <a:gd name="connsiteY76" fmla="*/ 614372 h 2515690"/>
              <a:gd name="connsiteX77" fmla="*/ 8633702 w 12192000"/>
              <a:gd name="connsiteY77" fmla="*/ 655978 h 2515690"/>
              <a:gd name="connsiteX78" fmla="*/ 8691231 w 12192000"/>
              <a:gd name="connsiteY78" fmla="*/ 674418 h 2515690"/>
              <a:gd name="connsiteX79" fmla="*/ 9047908 w 12192000"/>
              <a:gd name="connsiteY79" fmla="*/ 788104 h 2515690"/>
              <a:gd name="connsiteX80" fmla="*/ 9163628 w 12192000"/>
              <a:gd name="connsiteY80" fmla="*/ 773163 h 2515690"/>
              <a:gd name="connsiteX81" fmla="*/ 9754459 w 12192000"/>
              <a:gd name="connsiteY81" fmla="*/ 610207 h 2515690"/>
              <a:gd name="connsiteX82" fmla="*/ 9838868 w 12192000"/>
              <a:gd name="connsiteY82" fmla="*/ 799511 h 2515690"/>
              <a:gd name="connsiteX83" fmla="*/ 10085808 w 12192000"/>
              <a:gd name="connsiteY83" fmla="*/ 816231 h 2515690"/>
              <a:gd name="connsiteX84" fmla="*/ 10334338 w 12192000"/>
              <a:gd name="connsiteY84" fmla="*/ 917517 h 2515690"/>
              <a:gd name="connsiteX85" fmla="*/ 10516076 w 12192000"/>
              <a:gd name="connsiteY85" fmla="*/ 1018726 h 2515690"/>
              <a:gd name="connsiteX86" fmla="*/ 10535302 w 12192000"/>
              <a:gd name="connsiteY86" fmla="*/ 1023522 h 2515690"/>
              <a:gd name="connsiteX87" fmla="*/ 10542819 w 12192000"/>
              <a:gd name="connsiteY87" fmla="*/ 1023458 h 2515690"/>
              <a:gd name="connsiteX88" fmla="*/ 10623994 w 12192000"/>
              <a:gd name="connsiteY88" fmla="*/ 1041996 h 2515690"/>
              <a:gd name="connsiteX89" fmla="*/ 10629774 w 12192000"/>
              <a:gd name="connsiteY89" fmla="*/ 1044511 h 2515690"/>
              <a:gd name="connsiteX90" fmla="*/ 10727305 w 12192000"/>
              <a:gd name="connsiteY90" fmla="*/ 1063419 h 2515690"/>
              <a:gd name="connsiteX91" fmla="*/ 10761785 w 12192000"/>
              <a:gd name="connsiteY91" fmla="*/ 1068017 h 2515690"/>
              <a:gd name="connsiteX92" fmla="*/ 10775688 w 12192000"/>
              <a:gd name="connsiteY92" fmla="*/ 1065268 h 2515690"/>
              <a:gd name="connsiteX93" fmla="*/ 10821837 w 12192000"/>
              <a:gd name="connsiteY93" fmla="*/ 1042232 h 2515690"/>
              <a:gd name="connsiteX94" fmla="*/ 11122438 w 12192000"/>
              <a:gd name="connsiteY94" fmla="*/ 1004583 h 2515690"/>
              <a:gd name="connsiteX95" fmla="*/ 11171433 w 12192000"/>
              <a:gd name="connsiteY95" fmla="*/ 1040550 h 2515690"/>
              <a:gd name="connsiteX96" fmla="*/ 11183724 w 12192000"/>
              <a:gd name="connsiteY96" fmla="*/ 1045316 h 2515690"/>
              <a:gd name="connsiteX97" fmla="*/ 11199690 w 12192000"/>
              <a:gd name="connsiteY97" fmla="*/ 1048085 h 2515690"/>
              <a:gd name="connsiteX98" fmla="*/ 11232475 w 12192000"/>
              <a:gd name="connsiteY98" fmla="*/ 1049340 h 2515690"/>
              <a:gd name="connsiteX99" fmla="*/ 11302451 w 12192000"/>
              <a:gd name="connsiteY99" fmla="*/ 949091 h 2515690"/>
              <a:gd name="connsiteX100" fmla="*/ 11484849 w 12192000"/>
              <a:gd name="connsiteY100" fmla="*/ 1057667 h 2515690"/>
              <a:gd name="connsiteX101" fmla="*/ 11512818 w 12192000"/>
              <a:gd name="connsiteY101" fmla="*/ 1048926 h 2515690"/>
              <a:gd name="connsiteX102" fmla="*/ 11642481 w 12192000"/>
              <a:gd name="connsiteY102" fmla="*/ 1029355 h 2515690"/>
              <a:gd name="connsiteX103" fmla="*/ 11714551 w 12192000"/>
              <a:gd name="connsiteY103" fmla="*/ 1020966 h 2515690"/>
              <a:gd name="connsiteX104" fmla="*/ 11714551 w 12192000"/>
              <a:gd name="connsiteY104" fmla="*/ 1022389 h 2515690"/>
              <a:gd name="connsiteX105" fmla="*/ 11728519 w 12192000"/>
              <a:gd name="connsiteY105" fmla="*/ 1020975 h 2515690"/>
              <a:gd name="connsiteX106" fmla="*/ 11741691 w 12192000"/>
              <a:gd name="connsiteY106" fmla="*/ 1019651 h 2515690"/>
              <a:gd name="connsiteX107" fmla="*/ 11743999 w 12192000"/>
              <a:gd name="connsiteY107" fmla="*/ 1019424 h 2515690"/>
              <a:gd name="connsiteX108" fmla="*/ 11742709 w 12192000"/>
              <a:gd name="connsiteY108" fmla="*/ 1019549 h 2515690"/>
              <a:gd name="connsiteX109" fmla="*/ 11741691 w 12192000"/>
              <a:gd name="connsiteY109" fmla="*/ 1019651 h 2515690"/>
              <a:gd name="connsiteX110" fmla="*/ 11738529 w 12192000"/>
              <a:gd name="connsiteY110" fmla="*/ 1019963 h 2515690"/>
              <a:gd name="connsiteX111" fmla="*/ 11771791 w 12192000"/>
              <a:gd name="connsiteY111" fmla="*/ 1015977 h 2515690"/>
              <a:gd name="connsiteX112" fmla="*/ 11834157 w 12192000"/>
              <a:gd name="connsiteY112" fmla="*/ 1009499 h 2515690"/>
              <a:gd name="connsiteX113" fmla="*/ 11843354 w 12192000"/>
              <a:gd name="connsiteY113" fmla="*/ 1008273 h 2515690"/>
              <a:gd name="connsiteX114" fmla="*/ 11843354 w 12192000"/>
              <a:gd name="connsiteY114" fmla="*/ 1000151 h 2515690"/>
              <a:gd name="connsiteX115" fmla="*/ 11893955 w 12192000"/>
              <a:gd name="connsiteY115" fmla="*/ 983740 h 2515690"/>
              <a:gd name="connsiteX116" fmla="*/ 11974160 w 12192000"/>
              <a:gd name="connsiteY116" fmla="*/ 920897 h 2515690"/>
              <a:gd name="connsiteX117" fmla="*/ 12143531 w 12192000"/>
              <a:gd name="connsiteY117" fmla="*/ 823664 h 2515690"/>
              <a:gd name="connsiteX118" fmla="*/ 12192000 w 12192000"/>
              <a:gd name="connsiteY118" fmla="*/ 801163 h 2515690"/>
              <a:gd name="connsiteX119" fmla="*/ 12192000 w 12192000"/>
              <a:gd name="connsiteY119" fmla="*/ 2515690 h 2515690"/>
              <a:gd name="connsiteX120" fmla="*/ 0 w 12192000"/>
              <a:gd name="connsiteY120" fmla="*/ 2515690 h 25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2192000" h="251569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2B7077-A955-40D6-7522-3BB051674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>
            <a:normAutofit/>
          </a:bodyPr>
          <a:lstStyle/>
          <a:p>
            <a:r>
              <a:rPr lang="en-US" b="1" dirty="0"/>
              <a:t>Hot Carrier Effect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A1B9EC-0B19-5717-E4F0-5047346316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71658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4257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B4304-5B29-698D-1B10-8AB1963E1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/>
              <a:t>Surface States and Interface Trapped Charge</a:t>
            </a:r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41329E-CDC6-3335-AD4B-F48DD0CDF4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051107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4823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FBA5C-7430-BC3A-512A-AD32A7B73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Fabrication Process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04D7-F82B-0C05-567C-EEE0D7FE1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Introduction </a:t>
            </a:r>
          </a:p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sz="2000" dirty="0"/>
              <a:t>Fabrication process in VLSI/IC design means </a:t>
            </a:r>
            <a:r>
              <a:rPr lang="en-US" sz="2000" b="1" dirty="0"/>
              <a:t>making integrated circuits (ICs)</a:t>
            </a:r>
            <a:r>
              <a:rPr lang="en-US" sz="2000" dirty="0"/>
              <a:t> on a silicon wafer.</a:t>
            </a:r>
            <a:br>
              <a:rPr lang="en-US" sz="2000" dirty="0"/>
            </a:br>
            <a:r>
              <a:rPr lang="en-US" sz="2000" dirty="0"/>
              <a:t>It involves a sequence of chemical, mechanical, and thermal processes like </a:t>
            </a:r>
            <a:r>
              <a:rPr lang="en-US" sz="2000" b="1" dirty="0"/>
              <a:t>oxidation, lithography, etching, deposition, and doping.</a:t>
            </a:r>
            <a:endParaRPr lang="en-US" sz="2000" dirty="0"/>
          </a:p>
          <a:p>
            <a:r>
              <a:rPr lang="en-US" sz="2000" dirty="0"/>
              <a:t>The goal is to create </a:t>
            </a:r>
            <a:r>
              <a:rPr lang="en-US" sz="2000" b="1" dirty="0"/>
              <a:t>MOS transistors</a:t>
            </a:r>
            <a:r>
              <a:rPr lang="en-US" sz="2000" dirty="0"/>
              <a:t> (and interconnections) that can work as logic gates, memory cells, or analog components.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8938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D4B3F-3E37-F6B1-A8C3-353CD95BD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100" b="1">
                <a:solidFill>
                  <a:srgbClr val="FFFFFF"/>
                </a:solidFill>
              </a:rPr>
              <a:t>Photolithography</a:t>
            </a:r>
            <a:endParaRPr lang="en-US" sz="3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0146D-53BC-8A66-0E9F-F9711B881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Definition:</a:t>
            </a:r>
            <a:br>
              <a:rPr lang="en-US" sz="2000" dirty="0"/>
            </a:br>
            <a:r>
              <a:rPr lang="en-US" sz="2000" dirty="0"/>
              <a:t>A process used to </a:t>
            </a:r>
            <a:r>
              <a:rPr lang="en-US" sz="2000" b="1" dirty="0"/>
              <a:t>transfer circuit patterns</a:t>
            </a:r>
            <a:r>
              <a:rPr lang="en-US" sz="2000" dirty="0"/>
              <a:t> (like gate, source, drain regions) onto the silicon wafer using light.</a:t>
            </a:r>
          </a:p>
          <a:p>
            <a:pPr marL="0" indent="0">
              <a:buNone/>
            </a:pPr>
            <a:r>
              <a:rPr lang="en-US" sz="2000" b="1" dirty="0"/>
              <a:t>Steps:</a:t>
            </a:r>
            <a:endParaRPr lang="en-US" sz="2000" dirty="0"/>
          </a:p>
          <a:p>
            <a:pPr lvl="1"/>
            <a:r>
              <a:rPr lang="en-US" sz="2000" b="1" dirty="0"/>
              <a:t>Coating:</a:t>
            </a:r>
            <a:r>
              <a:rPr lang="en-US" sz="2000" dirty="0"/>
              <a:t> Apply photoresist (a light-sensitive chemical) on the wafer.</a:t>
            </a:r>
          </a:p>
          <a:p>
            <a:pPr lvl="1"/>
            <a:r>
              <a:rPr lang="en-US" sz="2000" b="1" dirty="0"/>
              <a:t>Masking:</a:t>
            </a:r>
            <a:r>
              <a:rPr lang="en-US" sz="2000" dirty="0"/>
              <a:t> Place a mask (like a stencil with the desired pattern) over the wafer.</a:t>
            </a:r>
          </a:p>
          <a:p>
            <a:pPr lvl="1"/>
            <a:r>
              <a:rPr lang="en-US" sz="2000" b="1" dirty="0"/>
              <a:t>Exposure:</a:t>
            </a:r>
            <a:r>
              <a:rPr lang="en-US" sz="2000" dirty="0"/>
              <a:t> Shine UV light through the mask.</a:t>
            </a:r>
          </a:p>
          <a:p>
            <a:pPr lvl="1"/>
            <a:r>
              <a:rPr lang="en-US" sz="2000" b="1" dirty="0"/>
              <a:t>Developing:</a:t>
            </a:r>
            <a:r>
              <a:rPr lang="en-US" sz="2000" dirty="0"/>
              <a:t> Exposed/unexposed parts of photoresist are dissolved, leaving the pattern on wafer.</a:t>
            </a:r>
          </a:p>
          <a:p>
            <a:pPr lvl="1"/>
            <a:r>
              <a:rPr lang="en-US" sz="2000" b="1" dirty="0"/>
              <a:t>Etching:</a:t>
            </a:r>
            <a:r>
              <a:rPr lang="en-US" sz="2000" dirty="0"/>
              <a:t> Remove unwanted silicon or oxide according to the pattern.</a:t>
            </a:r>
          </a:p>
          <a:p>
            <a:pPr marL="0" indent="0">
              <a:buNone/>
            </a:pPr>
            <a:r>
              <a:rPr lang="en-US" sz="2000" b="1" dirty="0"/>
              <a:t>Analogy:</a:t>
            </a:r>
            <a:r>
              <a:rPr lang="en-US" sz="2000" dirty="0"/>
              <a:t> Like printing a design on T-shirt using a stencil and light.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07491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4B9C2-91A2-E9CA-1E2D-D7DDFD60D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Fabrication Process 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2D41FF-3BB5-71D1-E312-6DF8F492BA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0714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4258C-5A5D-497B-60CD-6D443D85B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Gate Material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72EB7-BDD5-4AB8-D0A3-A432A8B00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/>
              <a:t>Earlier Technology:</a:t>
            </a:r>
            <a:r>
              <a:rPr lang="en-US"/>
              <a:t> Metal gates (Aluminum).</a:t>
            </a:r>
          </a:p>
          <a:p>
            <a:pPr marL="0" indent="0">
              <a:buNone/>
            </a:pPr>
            <a:r>
              <a:rPr lang="en-US" b="1"/>
              <a:t>Modern Technology:</a:t>
            </a:r>
            <a:r>
              <a:rPr lang="en-US"/>
              <a:t> Polysilicon gates → later replaced by High-k dielectric + Metal gate (for nanometer technologies).</a:t>
            </a:r>
          </a:p>
          <a:p>
            <a:pPr marL="0" indent="0">
              <a:buNone/>
            </a:pPr>
            <a:r>
              <a:rPr lang="en-US" b="1"/>
              <a:t>Why polysilicon used?</a:t>
            </a:r>
            <a:endParaRPr lang="en-US"/>
          </a:p>
          <a:p>
            <a:pPr lvl="1"/>
            <a:r>
              <a:rPr lang="en-US" dirty="0"/>
              <a:t>Can withstand high temperatures.</a:t>
            </a:r>
          </a:p>
          <a:p>
            <a:pPr lvl="1"/>
            <a:r>
              <a:rPr lang="en-US" dirty="0"/>
              <a:t>Works well with </a:t>
            </a:r>
            <a:r>
              <a:rPr lang="en-US" b="1" dirty="0"/>
              <a:t>self-aligned gate technology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Provides better control of channel.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45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rry blue and green background&#10;&#10;AI-generated content may be incorrect.">
            <a:extLst>
              <a:ext uri="{FF2B5EF4-FFF2-40B4-BE49-F238E27FC236}">
                <a16:creationId xmlns:a16="http://schemas.microsoft.com/office/drawing/2014/main" id="{8FF17B0A-0684-6EA1-17CE-F283E58876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291D2-C3E3-9648-EF0E-08D08CE9D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Parasitic Capacitances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004A8D-598F-6AF5-A38A-C64AEE291B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229995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458047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n open bathroom door">
            <a:extLst>
              <a:ext uri="{FF2B5EF4-FFF2-40B4-BE49-F238E27FC236}">
                <a16:creationId xmlns:a16="http://schemas.microsoft.com/office/drawing/2014/main" id="{F49386AF-274A-5971-04E7-8C804A01708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134" b="828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50959E-F3A0-D587-F5E5-6F5354DC1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Self-Aligned Silicon Gate Technology</a:t>
            </a:r>
            <a:br>
              <a:rPr lang="en-US" b="1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7D8EB-C89A-6F32-04DF-AF54E841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Technique where the gate itself is used as a mask to align source and drain regions.</a:t>
            </a:r>
          </a:p>
          <a:p>
            <a:pPr marL="0" indent="0">
              <a:buNone/>
            </a:pPr>
            <a:r>
              <a:rPr lang="en-US" sz="2400" b="1" dirty="0"/>
              <a:t>How it works:</a:t>
            </a:r>
            <a:endParaRPr lang="en-US" sz="2400" dirty="0"/>
          </a:p>
          <a:p>
            <a:pPr lvl="1"/>
            <a:r>
              <a:rPr lang="en-US" dirty="0"/>
              <a:t>Deposit polysilicon gate.</a:t>
            </a:r>
          </a:p>
          <a:p>
            <a:pPr lvl="1"/>
            <a:r>
              <a:rPr lang="en-US" dirty="0"/>
              <a:t>Use the gate as a mask to implant source and drain.</a:t>
            </a:r>
          </a:p>
          <a:p>
            <a:pPr lvl="1"/>
            <a:r>
              <a:rPr lang="en-US" dirty="0"/>
              <a:t>Source and drain automatically align with gate edges → no misalignment problem.</a:t>
            </a:r>
          </a:p>
          <a:p>
            <a:pPr marL="0" indent="0"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pPr lvl="1"/>
            <a:r>
              <a:rPr lang="en-US" dirty="0"/>
              <a:t>Smaller devices (scaling possible).</a:t>
            </a:r>
          </a:p>
          <a:p>
            <a:pPr lvl="1"/>
            <a:r>
              <a:rPr lang="en-US" dirty="0"/>
              <a:t>Better performance.</a:t>
            </a:r>
          </a:p>
          <a:p>
            <a:pPr lvl="1"/>
            <a:r>
              <a:rPr lang="en-US" dirty="0"/>
              <a:t>Reduced parasitic capacitance.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9802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C3D0-C0E1-3D5B-6A73-78272507B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994"/>
            <a:ext cx="3687491" cy="2056896"/>
          </a:xfrm>
        </p:spPr>
        <p:txBody>
          <a:bodyPr anchor="t">
            <a:normAutofit/>
          </a:bodyPr>
          <a:lstStyle/>
          <a:p>
            <a:r>
              <a:rPr lang="en-US" sz="3200" b="1"/>
              <a:t>Channel Stopper</a:t>
            </a:r>
            <a:endParaRPr lang="en-US" sz="3200"/>
          </a:p>
        </p:txBody>
      </p:sp>
      <p:pic>
        <p:nvPicPr>
          <p:cNvPr id="1026" name="Picture 2" descr="Highly doped (p+) channel-stop layer increases VT of the parasitic FET... |  Download Scientific Diagram">
            <a:extLst>
              <a:ext uri="{FF2B5EF4-FFF2-40B4-BE49-F238E27FC236}">
                <a16:creationId xmlns:a16="http://schemas.microsoft.com/office/drawing/2014/main" id="{18D6B9C4-F3F4-2860-286D-60E272BCD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26876" y="2329035"/>
            <a:ext cx="3537165" cy="222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E4A41B9E-A0C8-F78B-E5B6-A0D02D881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F27C9029-9BF9-D125-90D6-AB03931B0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3CF84619-412D-A0C9-3DC9-47C3A42B9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E5F205-9A1D-4EFB-AF4A-6CE5D80DA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73316"/>
              </p:ext>
            </p:extLst>
          </p:nvPr>
        </p:nvGraphicFramePr>
        <p:xfrm>
          <a:off x="327958" y="1309632"/>
          <a:ext cx="7512536" cy="4877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461152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E3919-0015-273A-74B4-D816E6A9F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 b="1"/>
              <a:t>Polysilicon Deposition</a:t>
            </a:r>
            <a:br>
              <a:rPr lang="en-US" sz="4000" b="1"/>
            </a:b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DDCA64-6CA6-720F-7A63-C5EEED6EE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1984069"/>
              </p:ext>
            </p:extLst>
          </p:nvPr>
        </p:nvGraphicFramePr>
        <p:xfrm>
          <a:off x="4402678" y="2409830"/>
          <a:ext cx="6949595" cy="3990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2" name="Picture 4" descr="MOSFET Diffusion transistor Polycrystalline silicon NMOS logic, conductive  conductor, angle, text png | PNGEgg">
            <a:extLst>
              <a:ext uri="{FF2B5EF4-FFF2-40B4-BE49-F238E27FC236}">
                <a16:creationId xmlns:a16="http://schemas.microsoft.com/office/drawing/2014/main" id="{7186FA0D-9DCF-A8A7-E17E-B9058859F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2409830"/>
            <a:ext cx="3526377" cy="355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0522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89A320C9-9735-4D13-8279-C1C67484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7126"/>
            <a:ext cx="11167447" cy="2018806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0846F1-E76F-DDA0-C19C-6C933AE6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b="1"/>
              <a:t>Oxide Growth</a:t>
            </a:r>
            <a:br>
              <a:rPr lang="en-US" sz="3700" b="1"/>
            </a:br>
            <a:endParaRPr lang="en-US" sz="37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05CF3FE1-1E8A-8991-A4AC-8E3E7E8C03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5698625"/>
              </p:ext>
            </p:extLst>
          </p:nvPr>
        </p:nvGraphicFramePr>
        <p:xfrm>
          <a:off x="1115568" y="2269730"/>
          <a:ext cx="10168128" cy="3993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8302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45E7D-F70C-53E1-ACE9-8E9AACFFF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 dirty="0"/>
              <a:t>Active Mask or Isolation Mask (Thin-ox Mask)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74608D-0D1A-50D5-29D6-C931F44AE8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833014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9925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718276" y="729523"/>
            <a:ext cx="6858000" cy="5398953"/>
          </a:xfrm>
          <a:prstGeom prst="rect">
            <a:avLst/>
          </a:prstGeom>
          <a:ln>
            <a:noFill/>
          </a:ln>
          <a:effectLst>
            <a:outerShdw blurRad="419100" dist="1524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0875F-9517-51C4-8861-7F10D2FF9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85366"/>
            <a:ext cx="4069055" cy="2072853"/>
          </a:xfrm>
        </p:spPr>
        <p:txBody>
          <a:bodyPr anchor="t">
            <a:normAutofit/>
          </a:bodyPr>
          <a:lstStyle/>
          <a:p>
            <a:r>
              <a:rPr lang="en-US" sz="4000"/>
              <a:t>General Aspects of CMOS Technology</a:t>
            </a:r>
          </a:p>
        </p:txBody>
      </p:sp>
      <p:pic>
        <p:nvPicPr>
          <p:cNvPr id="4098" name="Picture 2" descr="CMOS Fabrication Process | vlsi4freshers">
            <a:extLst>
              <a:ext uri="{FF2B5EF4-FFF2-40B4-BE49-F238E27FC236}">
                <a16:creationId xmlns:a16="http://schemas.microsoft.com/office/drawing/2014/main" id="{A10DFEBA-4B9F-24DA-4779-3C6889678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1337" y="3959572"/>
            <a:ext cx="4867612" cy="155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6B8CD-2F9C-E685-8B12-593EAB3BF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7642" y="762002"/>
            <a:ext cx="6477106" cy="5310632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/>
              <a:t>Why polysilicon preferred over aluminum as gate material?</a:t>
            </a:r>
          </a:p>
          <a:p>
            <a:pPr marL="0" indent="0">
              <a:buNone/>
            </a:pPr>
            <a:r>
              <a:rPr lang="en-US" sz="1600" b="1" dirty="0"/>
              <a:t>Earlier Technology</a:t>
            </a:r>
          </a:p>
          <a:p>
            <a:pPr marL="0" indent="0">
              <a:buNone/>
            </a:pPr>
            <a:r>
              <a:rPr lang="en-US" sz="1600" dirty="0"/>
              <a:t>In early MOSFETs (1960s–70s), </a:t>
            </a:r>
            <a:r>
              <a:rPr lang="en-US" sz="1600" b="1" dirty="0"/>
              <a:t>aluminum (Al)</a:t>
            </a:r>
            <a:r>
              <a:rPr lang="en-US" sz="1600" dirty="0"/>
              <a:t> was used as gate material.</a:t>
            </a:r>
          </a:p>
          <a:p>
            <a:pPr marL="0" indent="0">
              <a:buNone/>
            </a:pPr>
            <a:r>
              <a:rPr lang="en-US" sz="1600" dirty="0"/>
              <a:t>But aluminum had </a:t>
            </a:r>
            <a:r>
              <a:rPr lang="en-US" sz="1600" b="1" dirty="0"/>
              <a:t>serious limitations</a:t>
            </a:r>
            <a:r>
              <a:rPr lang="en-US" sz="1600" dirty="0"/>
              <a:t>:</a:t>
            </a:r>
          </a:p>
          <a:p>
            <a:pPr lvl="1"/>
            <a:r>
              <a:rPr lang="en-US" sz="1600" b="1" dirty="0"/>
              <a:t>High-temperature problem</a:t>
            </a:r>
            <a:r>
              <a:rPr lang="en-US" sz="1600" dirty="0"/>
              <a:t> → Aluminum melts at ~660°C, but fabrication requires &gt;1000°C (for diffusion/oxidation).</a:t>
            </a:r>
          </a:p>
          <a:p>
            <a:pPr lvl="1"/>
            <a:r>
              <a:rPr lang="en-US" sz="1600" b="1" dirty="0"/>
              <a:t>Not compatible</a:t>
            </a:r>
            <a:r>
              <a:rPr lang="en-US" sz="1600" dirty="0"/>
              <a:t> with self-aligned gate technology → Aluminum gate cannot act as a mask during source/drain implantation.</a:t>
            </a:r>
          </a:p>
          <a:p>
            <a:pPr lvl="1"/>
            <a:r>
              <a:rPr lang="en-US" sz="1600" b="1" dirty="0"/>
              <a:t>Work function mismatch</a:t>
            </a:r>
            <a:r>
              <a:rPr lang="en-US" sz="1600" dirty="0"/>
              <a:t> → Threshold voltage (Vth) control was poor.</a:t>
            </a:r>
          </a:p>
          <a:p>
            <a:pPr marL="0" indent="0">
              <a:buNone/>
            </a:pPr>
            <a:r>
              <a:rPr lang="en-US" sz="1600" b="1" dirty="0"/>
              <a:t>Polysilicon (Polycrystalline Silicon) Advantages</a:t>
            </a:r>
          </a:p>
          <a:p>
            <a:pPr marL="0" indent="0">
              <a:buNone/>
            </a:pPr>
            <a:r>
              <a:rPr lang="en-US" sz="1600" b="1" dirty="0"/>
              <a:t>High-temperature stability</a:t>
            </a:r>
            <a:r>
              <a:rPr lang="en-US" sz="1600" dirty="0"/>
              <a:t> → Can withstand &gt;1000°C (needed for thermal oxidation and ion implantation).</a:t>
            </a:r>
          </a:p>
          <a:p>
            <a:pPr marL="0" indent="0">
              <a:buNone/>
            </a:pPr>
            <a:r>
              <a:rPr lang="en-US" sz="1600" b="1" dirty="0"/>
              <a:t>Self-alignment possible</a:t>
            </a:r>
            <a:r>
              <a:rPr lang="en-US" sz="1600" dirty="0"/>
              <a:t> → Polysilicon gate can act as a mask → ensures source/drain regions align perfectly with the gate.</a:t>
            </a:r>
          </a:p>
          <a:p>
            <a:pPr marL="0" indent="0">
              <a:buNone/>
            </a:pPr>
            <a:r>
              <a:rPr lang="en-US" sz="1600" b="1" dirty="0"/>
              <a:t>Work function tuning</a:t>
            </a:r>
            <a:r>
              <a:rPr lang="en-US" sz="1600" dirty="0"/>
              <a:t> → By doping polysilicon (n+ or p+), threshold voltage can be adjusted.</a:t>
            </a:r>
          </a:p>
          <a:p>
            <a:pPr marL="0" indent="0">
              <a:buNone/>
            </a:pPr>
            <a:r>
              <a:rPr lang="en-US" sz="1600" b="1" dirty="0"/>
              <a:t>Compatibility</a:t>
            </a:r>
            <a:r>
              <a:rPr lang="en-US" sz="1600" dirty="0"/>
              <a:t> → Works well with silicon dioxide gate dielectric.</a:t>
            </a:r>
          </a:p>
          <a:p>
            <a:pPr marL="0" indent="0">
              <a:buNone/>
            </a:pPr>
            <a:r>
              <a:rPr lang="en-US" sz="1600" b="1" dirty="0"/>
              <a:t>Scalability</a:t>
            </a:r>
            <a:r>
              <a:rPr lang="en-US" sz="1600" dirty="0"/>
              <a:t> → Suitable for VLSI miniaturization.</a:t>
            </a:r>
          </a:p>
          <a:p>
            <a:pPr marL="0" indent="0">
              <a:buNone/>
            </a:pPr>
            <a:r>
              <a:rPr lang="en-US" sz="1600" b="1" dirty="0"/>
              <a:t>Conclusion:</a:t>
            </a:r>
            <a:r>
              <a:rPr lang="en-US" sz="1600" dirty="0"/>
              <a:t> Polysilicon replaced aluminum because it enables </a:t>
            </a:r>
            <a:r>
              <a:rPr lang="en-US" sz="1600" b="1" dirty="0"/>
              <a:t>self-aligned MOSFETs</a:t>
            </a:r>
            <a:r>
              <a:rPr lang="en-US" sz="1600" dirty="0"/>
              <a:t>, supports </a:t>
            </a:r>
            <a:r>
              <a:rPr lang="en-US" sz="1600" b="1" dirty="0"/>
              <a:t>high-temperature processes</a:t>
            </a:r>
            <a:r>
              <a:rPr lang="en-US" sz="1600" dirty="0"/>
              <a:t>, and provides </a:t>
            </a:r>
            <a:r>
              <a:rPr lang="en-US" sz="1600" b="1" dirty="0"/>
              <a:t>better Vth control</a:t>
            </a:r>
            <a:r>
              <a:rPr lang="en-US" sz="1600" dirty="0"/>
              <a:t>.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39324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D3C907-3087-DA7C-3C95-0C818F0A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Channel Stopper Implant</a:t>
            </a:r>
            <a:br>
              <a:rPr lang="en-US" sz="4000" b="1" dirty="0">
                <a:solidFill>
                  <a:srgbClr val="FFFFFF"/>
                </a:solidFill>
              </a:rPr>
            </a:b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7E15D-3CDD-603C-E0C5-C6E903C00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 b="1" dirty="0"/>
              <a:t>Problem</a:t>
            </a:r>
          </a:p>
          <a:p>
            <a:pPr marL="0" indent="0">
              <a:buNone/>
            </a:pPr>
            <a:r>
              <a:rPr lang="en-US" sz="1900" dirty="0"/>
              <a:t>In MOSFETs, especially in </a:t>
            </a:r>
            <a:r>
              <a:rPr lang="en-US" sz="1900" b="1" dirty="0"/>
              <a:t>short channel devices</a:t>
            </a:r>
            <a:r>
              <a:rPr lang="en-US" sz="1900" dirty="0"/>
              <a:t>, an </a:t>
            </a:r>
            <a:r>
              <a:rPr lang="en-US" sz="1900" b="1" dirty="0"/>
              <a:t>unwanted parasitic channel</a:t>
            </a:r>
            <a:r>
              <a:rPr lang="en-US" sz="1900" dirty="0"/>
              <a:t> can form outside the intended channel region (under the field oxide).</a:t>
            </a:r>
          </a:p>
          <a:p>
            <a:pPr marL="0" indent="0">
              <a:buNone/>
            </a:pPr>
            <a:r>
              <a:rPr lang="en-US" sz="1900" dirty="0"/>
              <a:t>This parasitic conduction causes </a:t>
            </a:r>
            <a:r>
              <a:rPr lang="en-US" sz="1900" b="1" dirty="0"/>
              <a:t>leakage currents</a:t>
            </a:r>
            <a:r>
              <a:rPr lang="en-US" sz="1900" dirty="0"/>
              <a:t>.</a:t>
            </a:r>
          </a:p>
          <a:p>
            <a:pPr marL="0" indent="0">
              <a:buNone/>
            </a:pPr>
            <a:r>
              <a:rPr lang="en-US" sz="1900" b="1" dirty="0"/>
              <a:t>Solution → Channel Stopper Implant</a:t>
            </a:r>
          </a:p>
          <a:p>
            <a:pPr marL="0" indent="0">
              <a:buNone/>
            </a:pPr>
            <a:r>
              <a:rPr lang="en-US" sz="1900" b="1" dirty="0"/>
              <a:t>Definition:</a:t>
            </a:r>
            <a:r>
              <a:rPr lang="en-US" sz="1900" dirty="0"/>
              <a:t> A heavily doped p+ or n+ region (depending on substrate type) placed under the field oxide region.</a:t>
            </a:r>
          </a:p>
          <a:p>
            <a:pPr marL="0" indent="0">
              <a:buNone/>
            </a:pPr>
            <a:r>
              <a:rPr lang="en-US" sz="1900" b="1" dirty="0"/>
              <a:t>Purpose:</a:t>
            </a:r>
            <a:r>
              <a:rPr lang="en-US" sz="1900" dirty="0"/>
              <a:t> Prevents inversion layer formation in isolation regions.</a:t>
            </a:r>
          </a:p>
          <a:p>
            <a:pPr marL="0" indent="0">
              <a:buNone/>
            </a:pPr>
            <a:r>
              <a:rPr lang="en-US" sz="1900" b="1" dirty="0"/>
              <a:t>Function</a:t>
            </a:r>
          </a:p>
          <a:p>
            <a:pPr marL="0" indent="0">
              <a:buNone/>
            </a:pPr>
            <a:r>
              <a:rPr lang="en-US" sz="1900" dirty="0"/>
              <a:t>Stops carriers from flowing outside the transistor channel.</a:t>
            </a:r>
          </a:p>
          <a:p>
            <a:pPr marL="0" indent="0">
              <a:buNone/>
            </a:pPr>
            <a:r>
              <a:rPr lang="en-US" sz="1900" dirty="0"/>
              <a:t>Prevents </a:t>
            </a:r>
            <a:r>
              <a:rPr lang="en-US" sz="1900" b="1" dirty="0"/>
              <a:t>punch-through leakage</a:t>
            </a:r>
            <a:r>
              <a:rPr lang="en-US" sz="1900" dirty="0"/>
              <a:t> and parasitic conduction.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2869568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0F9FA-C662-EADC-BD7F-B40BC38E3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Local Oxidation of Silicon (LOCOS)</a:t>
            </a:r>
            <a:br>
              <a:rPr lang="en-US" sz="4000" b="1" dirty="0">
                <a:solidFill>
                  <a:srgbClr val="FFFFFF"/>
                </a:solidFill>
              </a:rPr>
            </a:b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B2A6A-6363-EB65-BC98-173D46360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Definition</a:t>
            </a:r>
          </a:p>
          <a:p>
            <a:pPr marL="0" indent="0">
              <a:buNone/>
            </a:pPr>
            <a:r>
              <a:rPr lang="en-US" sz="1400" b="1" dirty="0"/>
              <a:t>LOCOS</a:t>
            </a:r>
            <a:r>
              <a:rPr lang="en-US" sz="1400" dirty="0"/>
              <a:t> = A process used to create </a:t>
            </a:r>
            <a:r>
              <a:rPr lang="en-US" sz="1400" b="1" dirty="0"/>
              <a:t>thick field oxide</a:t>
            </a:r>
            <a:r>
              <a:rPr lang="en-US" sz="1400" dirty="0"/>
              <a:t> on a silicon wafer for device isolation. Field oxide separates </a:t>
            </a:r>
            <a:r>
              <a:rPr lang="en-US" sz="1400" b="1" dirty="0"/>
              <a:t>active device regions</a:t>
            </a:r>
            <a:r>
              <a:rPr lang="en-US" sz="1400" dirty="0"/>
              <a:t> (where MOSFETs are built) from each other.</a:t>
            </a:r>
          </a:p>
          <a:p>
            <a:pPr marL="0" indent="0">
              <a:buNone/>
            </a:pPr>
            <a:r>
              <a:rPr lang="en-US" sz="1400" b="1" dirty="0"/>
              <a:t>Process Steps</a:t>
            </a:r>
          </a:p>
          <a:p>
            <a:pPr marL="0" indent="0">
              <a:buNone/>
            </a:pPr>
            <a:r>
              <a:rPr lang="en-US" sz="1400" b="1" dirty="0"/>
              <a:t>Pad oxide</a:t>
            </a:r>
            <a:r>
              <a:rPr lang="en-US" sz="1400" dirty="0"/>
              <a:t> grown on wafer (thin oxide layer to protect silicon).</a:t>
            </a:r>
          </a:p>
          <a:p>
            <a:pPr marL="0" indent="0">
              <a:buNone/>
            </a:pPr>
            <a:r>
              <a:rPr lang="en-US" sz="1400" b="1" dirty="0"/>
              <a:t>Silicon nitride (</a:t>
            </a:r>
            <a:r>
              <a:rPr lang="en-US" sz="1400" b="1" dirty="0" err="1"/>
              <a:t>Si₃N</a:t>
            </a:r>
            <a:r>
              <a:rPr lang="en-US" sz="1400" b="1" dirty="0"/>
              <a:t>₄)</a:t>
            </a:r>
            <a:r>
              <a:rPr lang="en-US" sz="1400" dirty="0"/>
              <a:t> deposited → acts as oxidation mask (prevents oxide growth in active areas).</a:t>
            </a:r>
          </a:p>
          <a:p>
            <a:pPr marL="0" indent="0">
              <a:buNone/>
            </a:pPr>
            <a:r>
              <a:rPr lang="en-US" sz="1400" b="1" dirty="0"/>
              <a:t>Photolithography</a:t>
            </a:r>
            <a:r>
              <a:rPr lang="en-US" sz="1400" dirty="0"/>
              <a:t> used to open areas where field oxide is required.</a:t>
            </a:r>
          </a:p>
          <a:p>
            <a:pPr marL="0" indent="0">
              <a:buNone/>
            </a:pPr>
            <a:r>
              <a:rPr lang="en-US" sz="1400" b="1" dirty="0"/>
              <a:t>Thermal oxidation</a:t>
            </a:r>
            <a:r>
              <a:rPr lang="en-US" sz="1400" dirty="0"/>
              <a:t> performed → thick </a:t>
            </a:r>
            <a:r>
              <a:rPr lang="en-US" sz="1400" dirty="0" err="1"/>
              <a:t>SiO</a:t>
            </a:r>
            <a:r>
              <a:rPr lang="en-US" sz="1400" dirty="0"/>
              <a:t>₂ grows in exposed regions (field regions). After oxidation, nitride removed → leaving thin oxide (active areas) and thick oxide (isolation).</a:t>
            </a:r>
          </a:p>
          <a:p>
            <a:pPr marL="0" indent="0">
              <a:buNone/>
            </a:pPr>
            <a:r>
              <a:rPr lang="en-US" sz="1400" b="1" dirty="0"/>
              <a:t>Advantages</a:t>
            </a:r>
          </a:p>
          <a:p>
            <a:r>
              <a:rPr lang="en-US" sz="1400" dirty="0"/>
              <a:t>Simple, reliable, widely used in early CMOS.</a:t>
            </a:r>
          </a:p>
          <a:p>
            <a:pPr marL="0" indent="0">
              <a:buNone/>
            </a:pPr>
            <a:r>
              <a:rPr lang="en-US" sz="1400" b="1" dirty="0"/>
              <a:t>Disadvantage</a:t>
            </a:r>
          </a:p>
          <a:p>
            <a:r>
              <a:rPr lang="en-US" sz="1400" b="1" dirty="0"/>
              <a:t>Bird’s Beak Effect:</a:t>
            </a:r>
            <a:r>
              <a:rPr lang="en-US" sz="1400" dirty="0"/>
              <a:t> During oxidation, oxide grows laterally under the nitride mask, reducing active area → wastes chip space and limits scaling.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06992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1403</TotalTime>
  <Words>3436</Words>
  <Application>Microsoft Office PowerPoint</Application>
  <PresentationFormat>Widescreen</PresentationFormat>
  <Paragraphs>346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Office Theme</vt:lpstr>
      <vt:lpstr>VLSI</vt:lpstr>
      <vt:lpstr>Motivation of the Course </vt:lpstr>
      <vt:lpstr>VLSI</vt:lpstr>
      <vt:lpstr>VLSI Advantage</vt:lpstr>
      <vt:lpstr>Electronics</vt:lpstr>
      <vt:lpstr>Design Abstraction Levels</vt:lpstr>
      <vt:lpstr>Delay and Interconnect Issues</vt:lpstr>
      <vt:lpstr>MOS Fundamentals</vt:lpstr>
      <vt:lpstr>Structure of MOS</vt:lpstr>
      <vt:lpstr>MOSFET</vt:lpstr>
      <vt:lpstr>How Does MOSFET Work</vt:lpstr>
      <vt:lpstr>Modes of MOSFET Operation</vt:lpstr>
      <vt:lpstr>Types</vt:lpstr>
      <vt:lpstr>MOSFET I–V</vt:lpstr>
      <vt:lpstr>Equations</vt:lpstr>
      <vt:lpstr>Equations</vt:lpstr>
      <vt:lpstr>Introduction to Scaling</vt:lpstr>
      <vt:lpstr>Types</vt:lpstr>
      <vt:lpstr>Factor</vt:lpstr>
      <vt:lpstr>Mobility Degradation</vt:lpstr>
      <vt:lpstr>Subthreshold Current (Leakage Current)</vt:lpstr>
      <vt:lpstr>Threshold Voltage Variation</vt:lpstr>
      <vt:lpstr>Drain-Induced Barrier Lowering (DIBL)</vt:lpstr>
      <vt:lpstr>Drain Punch Through</vt:lpstr>
      <vt:lpstr>Hot Carrier Effect</vt:lpstr>
      <vt:lpstr>Surface States and Interface Trapped Charge</vt:lpstr>
      <vt:lpstr>Fabrication Process</vt:lpstr>
      <vt:lpstr>Photolithography</vt:lpstr>
      <vt:lpstr>Fabrication Process </vt:lpstr>
      <vt:lpstr>Gate Material</vt:lpstr>
      <vt:lpstr>Parasitic Capacitances</vt:lpstr>
      <vt:lpstr>Self-Aligned Silicon Gate Technology </vt:lpstr>
      <vt:lpstr>Channel Stopper</vt:lpstr>
      <vt:lpstr>Polysilicon Deposition </vt:lpstr>
      <vt:lpstr>Oxide Growth </vt:lpstr>
      <vt:lpstr>Active Mask or Isolation Mask (Thin-ox Mask) </vt:lpstr>
      <vt:lpstr>General Aspects of CMOS Technology</vt:lpstr>
      <vt:lpstr>Channel Stopper Implant </vt:lpstr>
      <vt:lpstr>Local Oxidation of Silicon (LOCOS)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MUBASSHAR-UL-ISHRAQ TAMIM</dc:creator>
  <cp:lastModifiedBy>MUBASSHAR-UL-ISHRAQ TAMIM</cp:lastModifiedBy>
  <cp:revision>17</cp:revision>
  <dcterms:created xsi:type="dcterms:W3CDTF">2025-09-01T14:31:30Z</dcterms:created>
  <dcterms:modified xsi:type="dcterms:W3CDTF">2025-10-19T17:26:06Z</dcterms:modified>
</cp:coreProperties>
</file>